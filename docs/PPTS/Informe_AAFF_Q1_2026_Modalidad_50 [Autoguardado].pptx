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829"/>
    <a:srgbClr val="B78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12" autoAdjust="0"/>
    <p:restoredTop sz="94645"/>
  </p:normalViewPr>
  <p:slideViewPr>
    <p:cSldViewPr snapToGrid="0" snapToObjects="1">
      <p:cViewPr varScale="1">
        <p:scale>
          <a:sx n="78" d="100"/>
          <a:sy n="78" d="100"/>
        </p:scale>
        <p:origin x="11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708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9905695" y="548640"/>
            <a:ext cx="1828800" cy="0"/>
          </a:xfrm>
          <a:prstGeom prst="line">
            <a:avLst/>
          </a:prstGeom>
          <a:ln w="1016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741103" y="548640"/>
            <a:ext cx="1828800" cy="0"/>
          </a:xfrm>
          <a:prstGeom prst="line">
            <a:avLst/>
          </a:prstGeom>
          <a:ln w="1016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76511" y="548640"/>
            <a:ext cx="1828800" cy="0"/>
          </a:xfrm>
          <a:prstGeom prst="line">
            <a:avLst/>
          </a:prstGeom>
          <a:ln w="1016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22984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Informe Trimestral AAFF</a:t>
            </a:r>
          </a:p>
          <a:p>
            <a:pPr algn="l">
              <a:lnSpc>
                <a:spcPct val="105000"/>
              </a:lnSpc>
            </a:pPr>
            <a:r>
              <a:rPr sz="4600" b="1" i="1">
                <a:solidFill>
                  <a:srgbClr val="D9B86E"/>
                </a:solidFill>
                <a:latin typeface="Georgia"/>
              </a:rPr>
              <a:t>Primer Trimestre 2026</a:t>
            </a:r>
          </a:p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F5F0E6"/>
                </a:solidFill>
                <a:latin typeface="Calibri"/>
              </a:rPr>
              <a:t>Modalidad 50% · Red de 10 oficinas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5669280"/>
            <a:ext cx="5486400" cy="0"/>
          </a:xfrm>
          <a:prstGeom prst="line">
            <a:avLst/>
          </a:prstGeom>
          <a:ln w="1524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D1710554-2403-7EAA-43F9-2FC9C4895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45" y="1384606"/>
            <a:ext cx="4040993" cy="1460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Resumen ejecutivo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Visión consolidada del programa AAFF Modalidad 50% — primer trimestre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2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Despa</a:t>
            </a:r>
            <a:r>
              <a:rPr lang="es-ES" sz="1100" dirty="0">
                <a:solidFill>
                  <a:srgbClr val="6B7280"/>
                </a:solidFill>
                <a:latin typeface="Calibri"/>
              </a:rPr>
              <a:t>chos </a:t>
            </a:r>
            <a:r>
              <a:rPr sz="1100" b="0" i="0" dirty="0">
                <a:solidFill>
                  <a:srgbClr val="6B7280"/>
                </a:solidFill>
                <a:latin typeface="Calibri"/>
              </a:rPr>
              <a:t>AAFF </a:t>
            </a:r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firmados al 50%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160020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60020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182880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dirty="0">
                <a:solidFill>
                  <a:srgbClr val="0E1A2B"/>
                </a:solidFill>
                <a:latin typeface="Georgia"/>
              </a:rPr>
              <a:t>36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46888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Comunicaciones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160020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60020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82880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dirty="0">
                <a:solidFill>
                  <a:srgbClr val="0E1A2B"/>
                </a:solidFill>
                <a:latin typeface="Georgia"/>
              </a:rPr>
              <a:t>3.804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Comunidades en cartera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61120" y="160020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60020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82880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i="0" dirty="0">
                <a:solidFill>
                  <a:srgbClr val="0E1A2B"/>
                </a:solidFill>
                <a:latin typeface="Georgia"/>
              </a:rPr>
              <a:t>79.007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0" y="246888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Vecinos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01752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01752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4612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i="0" dirty="0">
                <a:solidFill>
                  <a:srgbClr val="0E1A2B"/>
                </a:solidFill>
                <a:latin typeface="Georgia"/>
              </a:rPr>
              <a:t>28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Captaciones Q1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91840" y="301752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91840" y="301752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0" y="324612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0E1A2B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88620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dirty="0">
                <a:solidFill>
                  <a:srgbClr val="6B7280"/>
                </a:solidFill>
                <a:latin typeface="Calibri"/>
              </a:rPr>
              <a:t>Cierres Q1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26480" y="301752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301752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24612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i="0" dirty="0">
                <a:solidFill>
                  <a:srgbClr val="0E1A2B"/>
                </a:solidFill>
                <a:latin typeface="Georgia"/>
              </a:rPr>
              <a:t>44.850 €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09360" y="388620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Honorarios brutos Q1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961120" y="3017520"/>
            <a:ext cx="2697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61120" y="301752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0" y="3246120"/>
            <a:ext cx="2331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dirty="0">
                <a:solidFill>
                  <a:srgbClr val="0E1A2B"/>
                </a:solidFill>
                <a:latin typeface="Georgia"/>
              </a:rPr>
              <a:t>30</a:t>
            </a:r>
            <a:r>
              <a:rPr lang="es-ES" sz="2800" b="1" i="0" dirty="0">
                <a:solidFill>
                  <a:srgbClr val="0E1A2B"/>
                </a:solidFill>
                <a:latin typeface="Georgia"/>
              </a:rPr>
              <a:t>.205 €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44000" y="388620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Honorarios LAE Q1</a:t>
            </a:r>
            <a:r>
              <a:rPr sz="1100" b="0" i="0" dirty="0">
                <a:solidFill>
                  <a:srgbClr val="6B7280"/>
                </a:solidFill>
                <a:latin typeface="Calibri"/>
              </a:rPr>
              <a:t> </a:t>
            </a:r>
            <a:endParaRPr lang="es-ES"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526280"/>
            <a:ext cx="11247120" cy="1874519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4526280"/>
            <a:ext cx="109728" cy="1874519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76268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1A2B"/>
                </a:solidFill>
                <a:latin typeface="Calibri"/>
              </a:rPr>
              <a:t>HALLAZGOS CLAVE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128444"/>
            <a:ext cx="10789920" cy="787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dirty="0">
                <a:solidFill>
                  <a:srgbClr val="B68D40"/>
                </a:solidFill>
                <a:latin typeface="Calibri"/>
              </a:rPr>
              <a:t>·  </a:t>
            </a:r>
            <a:r>
              <a:rPr sz="1300" b="1" i="0" dirty="0">
                <a:solidFill>
                  <a:srgbClr val="1A1F2E"/>
                </a:solidFill>
                <a:latin typeface="Calibri"/>
              </a:rPr>
              <a:t>Red </a:t>
            </a:r>
            <a:r>
              <a:rPr sz="1300" b="1" i="0" dirty="0" err="1">
                <a:solidFill>
                  <a:srgbClr val="1A1F2E"/>
                </a:solidFill>
                <a:latin typeface="Calibri"/>
              </a:rPr>
              <a:t>duplicada</a:t>
            </a:r>
            <a:r>
              <a:rPr sz="1300" b="1" i="0" dirty="0">
                <a:solidFill>
                  <a:srgbClr val="1A1F2E"/>
                </a:solidFill>
                <a:latin typeface="Calibri"/>
              </a:rPr>
              <a:t> vs 2025: 55 AAFF </a:t>
            </a:r>
            <a:r>
              <a:rPr lang="es-ES" sz="1300" dirty="0">
                <a:solidFill>
                  <a:srgbClr val="1A1F2E"/>
                </a:solidFill>
                <a:latin typeface="Calibri"/>
              </a:rPr>
              <a:t>despachos firmados</a:t>
            </a:r>
            <a:r>
              <a:rPr sz="1300" dirty="0">
                <a:solidFill>
                  <a:srgbClr val="1A1F2E"/>
                </a:solidFill>
                <a:latin typeface="Calibri"/>
              </a:rPr>
              <a:t>  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(25 AAFF</a:t>
            </a:r>
            <a:r>
              <a:rPr lang="es-ES" sz="1300" b="0" i="0" dirty="0">
                <a:solidFill>
                  <a:srgbClr val="1A1F2E"/>
                </a:solidFill>
                <a:latin typeface="Calibri"/>
              </a:rPr>
              <a:t> en 2025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). Mayor </a:t>
            </a:r>
            <a:r>
              <a:rPr sz="1300" b="0" i="0" dirty="0" err="1">
                <a:solidFill>
                  <a:srgbClr val="1A1F2E"/>
                </a:solidFill>
                <a:latin typeface="Calibri"/>
              </a:rPr>
              <a:t>capilaridad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F2E"/>
                </a:solidFill>
                <a:latin typeface="Calibri"/>
              </a:rPr>
              <a:t>consolidada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Q1.</a:t>
            </a:r>
          </a:p>
          <a:p>
            <a:pPr algn="l">
              <a:lnSpc>
                <a:spcPct val="125000"/>
              </a:lnSpc>
            </a:pPr>
            <a:r>
              <a:rPr sz="1400" b="1" i="0" dirty="0">
                <a:solidFill>
                  <a:srgbClr val="B68D40"/>
                </a:solidFill>
                <a:latin typeface="Calibri"/>
              </a:rPr>
              <a:t>· </a:t>
            </a:r>
            <a:r>
              <a:rPr sz="1300" b="1" i="0" dirty="0">
                <a:solidFill>
                  <a:srgbClr val="1A1F2E"/>
                </a:solidFill>
                <a:latin typeface="Calibri"/>
              </a:rPr>
              <a:t>Q1 </a:t>
            </a:r>
            <a:r>
              <a:rPr sz="1300" b="1" i="0" dirty="0" err="1">
                <a:solidFill>
                  <a:srgbClr val="1A1F2E"/>
                </a:solidFill>
                <a:latin typeface="Calibri"/>
              </a:rPr>
              <a:t>alcanza</a:t>
            </a:r>
            <a:r>
              <a:rPr sz="1300" b="1" i="0" dirty="0">
                <a:solidFill>
                  <a:srgbClr val="1A1F2E"/>
                </a:solidFill>
                <a:latin typeface="Calibri"/>
              </a:rPr>
              <a:t> 544.059 €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lang="es-ES" sz="1300" b="0" i="0" dirty="0">
                <a:solidFill>
                  <a:srgbClr val="1A1F2E"/>
                </a:solidFill>
                <a:latin typeface="Calibri"/>
              </a:rPr>
              <a:t>en honorarios brutos captaciones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— </a:t>
            </a:r>
            <a:r>
              <a:rPr sz="1300" b="0" i="0" dirty="0" err="1">
                <a:solidFill>
                  <a:srgbClr val="1A1F2E"/>
                </a:solidFill>
                <a:latin typeface="Calibri"/>
              </a:rPr>
              <a:t>supera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un 51% los </a:t>
            </a:r>
            <a:r>
              <a:rPr sz="1300" b="0" i="0" dirty="0" err="1">
                <a:solidFill>
                  <a:srgbClr val="1A1F2E"/>
                </a:solidFill>
                <a:latin typeface="Calibri"/>
              </a:rPr>
              <a:t>honorarios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lang="es-ES" sz="1300" dirty="0">
                <a:solidFill>
                  <a:srgbClr val="1A1F2E"/>
                </a:solidFill>
                <a:latin typeface="Calibri"/>
              </a:rPr>
              <a:t>brutos 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de  2025 (359.170 €).</a:t>
            </a:r>
          </a:p>
          <a:p>
            <a:pPr>
              <a:lnSpc>
                <a:spcPct val="125000"/>
              </a:lnSpc>
            </a:pPr>
            <a:r>
              <a:rPr sz="1400" b="1" i="0" dirty="0">
                <a:solidFill>
                  <a:srgbClr val="B68D40"/>
                </a:solidFill>
                <a:latin typeface="Calibri"/>
              </a:rPr>
              <a:t>·  </a:t>
            </a:r>
            <a:r>
              <a:rPr sz="1300" b="1" i="0" dirty="0">
                <a:solidFill>
                  <a:srgbClr val="C73E3A"/>
                </a:solidFill>
                <a:latin typeface="Calibri"/>
              </a:rPr>
              <a:t>71% de los AAFF (39 de 55) </a:t>
            </a:r>
            <a:r>
              <a:rPr lang="es-ES" sz="1300" b="1" i="0" dirty="0">
                <a:solidFill>
                  <a:srgbClr val="C73E3A"/>
                </a:solidFill>
                <a:latin typeface="Calibri"/>
              </a:rPr>
              <a:t>en proceso de activación</a:t>
            </a:r>
            <a:r>
              <a:rPr sz="1300" b="0" i="0" dirty="0">
                <a:solidFill>
                  <a:srgbClr val="1A1F2E"/>
                </a:solidFill>
                <a:latin typeface="Calibri"/>
              </a:rPr>
              <a:t>: </a:t>
            </a:r>
            <a:r>
              <a:rPr lang="es-ES" sz="1300" b="0" i="0" dirty="0">
                <a:solidFill>
                  <a:srgbClr val="1A1F2E"/>
                </a:solidFill>
                <a:latin typeface="Calibri"/>
              </a:rPr>
              <a:t>Debemos tener en cuenta muchos de ellos están recién reclutados.</a:t>
            </a:r>
            <a:endParaRPr sz="1300" b="0" i="0" dirty="0">
              <a:solidFill>
                <a:srgbClr val="1A1F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Alcance del programa AAFF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 err="1">
                <a:solidFill>
                  <a:srgbClr val="6B7280"/>
                </a:solidFill>
                <a:latin typeface="Calibri"/>
              </a:rPr>
              <a:t>Capilaridad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de la red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Q1 2026 —55 </a:t>
            </a:r>
            <a:r>
              <a:rPr lang="es-ES" sz="1300" b="0" i="1" dirty="0">
                <a:solidFill>
                  <a:srgbClr val="6B7280"/>
                </a:solidFill>
                <a:latin typeface="Calibri"/>
              </a:rPr>
              <a:t>despachos de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administradores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lang="es-ES" sz="1300" b="0" i="1" dirty="0">
                <a:solidFill>
                  <a:srgbClr val="6B7280"/>
                </a:solidFill>
                <a:latin typeface="Calibri"/>
              </a:rPr>
              <a:t>firmados</a:t>
            </a:r>
            <a:endParaRPr sz="13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3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8" y="1429921"/>
            <a:ext cx="5486400" cy="1554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631089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68D40"/>
                </a:solidFill>
                <a:latin typeface="Calibri"/>
              </a:rPr>
              <a:t>COMUNIDADES EN CARTERA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32841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3.804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659507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F5F0E6"/>
                </a:solidFill>
                <a:latin typeface="Calibri"/>
              </a:rPr>
              <a:t>2.825 </a:t>
            </a:r>
            <a:r>
              <a:rPr sz="1100" b="0" i="1" dirty="0" err="1">
                <a:solidFill>
                  <a:srgbClr val="F5F0E6"/>
                </a:solidFill>
                <a:latin typeface="Calibri"/>
              </a:rPr>
              <a:t>compartidas</a:t>
            </a:r>
            <a:r>
              <a:rPr sz="1100" b="0" i="1" dirty="0">
                <a:solidFill>
                  <a:srgbClr val="F5F0E6"/>
                </a:solidFill>
                <a:latin typeface="Calibri"/>
              </a:rPr>
              <a:t> (74.3%) +117% vs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29921"/>
            <a:ext cx="5486400" cy="155448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631089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0E1A2B"/>
                </a:solidFill>
                <a:latin typeface="Calibri"/>
              </a:rPr>
              <a:t>VECINOS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32841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E1A2B"/>
                </a:solidFill>
                <a:latin typeface="Georgia"/>
              </a:rPr>
              <a:t>79.007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9507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0E1A2B"/>
                </a:solidFill>
                <a:latin typeface="Calibri"/>
              </a:rPr>
              <a:t>60.086 </a:t>
            </a:r>
            <a:r>
              <a:rPr sz="1100" b="0" i="1" dirty="0" err="1">
                <a:solidFill>
                  <a:srgbClr val="0E1A2B"/>
                </a:solidFill>
                <a:latin typeface="Calibri"/>
              </a:rPr>
              <a:t>compartidos</a:t>
            </a:r>
            <a:r>
              <a:rPr sz="1100" b="0" i="1" dirty="0">
                <a:solidFill>
                  <a:srgbClr val="0E1A2B"/>
                </a:solidFill>
                <a:latin typeface="Calibri"/>
              </a:rPr>
              <a:t> (76.1%)</a:t>
            </a:r>
            <a:r>
              <a:rPr lang="es-ES" sz="1100" b="0" i="1" dirty="0">
                <a:solidFill>
                  <a:srgbClr val="0E1A2B"/>
                </a:solidFill>
                <a:latin typeface="Calibri"/>
              </a:rPr>
              <a:t> +75,25% vs 2025</a:t>
            </a:r>
            <a:endParaRPr sz="1100" b="0" i="1" dirty="0">
              <a:solidFill>
                <a:srgbClr val="0E1A2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768" y="3075841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1A2B"/>
                </a:solidFill>
                <a:latin typeface="Calibri"/>
              </a:rPr>
              <a:t>DISTRIBUCIÓN POR OFICINA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3386737"/>
            <a:ext cx="11274552" cy="0"/>
          </a:xfrm>
          <a:prstGeom prst="line">
            <a:avLst/>
          </a:prstGeom>
          <a:ln w="1524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345988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Oficina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3459889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AAFF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45988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Comunidades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45988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Compartidas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345988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Vecinos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45988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Vec. Compart.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345988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% Compart.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" y="3734209"/>
            <a:ext cx="98298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375249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Alicante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3752497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375249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75249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375249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7.590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375249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7.157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75249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B68D40"/>
                </a:solidFill>
                <a:latin typeface="Calibri"/>
              </a:rPr>
              <a:t>94.3%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3953665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Barcelona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8568" y="3953665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5808" y="395366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395366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395366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395366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395366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" y="4136545"/>
            <a:ext cx="98298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" y="4154833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Castellón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8568" y="4154833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35808" y="415483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415483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008" y="415483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8.620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0608" y="415483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22208" y="415483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" y="4356001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Jaén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58568" y="4356001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35808" y="435600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156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07408" y="435600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9008" y="435600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4.500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0608" y="435600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3.750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22208" y="435600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83.3%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" y="4538881"/>
            <a:ext cx="98298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" y="455716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Madrid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58568" y="4557169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5808" y="455716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358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7408" y="455716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278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79008" y="455716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7.643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50608" y="455716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6.043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8" y="455716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79.1%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8" y="475833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Málaga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58568" y="4758337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5808" y="475833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637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07408" y="475833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463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9008" y="475833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19.059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0608" y="475833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12.051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22208" y="4758337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63.2%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" y="4941217"/>
            <a:ext cx="98298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9768" y="4959505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Marbella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58568" y="4983145"/>
            <a:ext cx="7772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0" dirty="0">
                <a:solidFill>
                  <a:srgbClr val="1A1F2E"/>
                </a:solidFill>
                <a:latin typeface="Calibri"/>
              </a:rPr>
              <a:t>6</a:t>
            </a:r>
            <a:endParaRPr sz="1000" b="0" i="0" dirty="0">
              <a:solidFill>
                <a:srgbClr val="1A1F2E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035808" y="495950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284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7408" y="495950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284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79008" y="495950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10.536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0608" y="495950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10.536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22208" y="495950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100.0%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" y="5160673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San Sebastián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58568" y="5160673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35808" y="516067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240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7408" y="516067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212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79008" y="516067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50608" y="516067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516067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8" y="5343553"/>
            <a:ext cx="98298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8" y="5361841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Sevilla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58568" y="5361841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35808" y="536184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07408" y="536184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79008" y="536184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1.820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50608" y="536184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1.820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22208" y="536184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100.0%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9768" y="556300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Valencia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58568" y="5563009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35808" y="556300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1.154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07408" y="556300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1.076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79008" y="556300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19.239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50608" y="556300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F2E"/>
                </a:solidFill>
                <a:latin typeface="Calibri"/>
              </a:rPr>
              <a:t>18.729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22208" y="556300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B68D40"/>
                </a:solidFill>
                <a:latin typeface="Calibri"/>
              </a:rPr>
              <a:t>97.3%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9768" y="5764177"/>
            <a:ext cx="9829800" cy="292608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29768" y="5764177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 RED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58568" y="5764177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B68D40"/>
                </a:solidFill>
                <a:latin typeface="Calibri"/>
              </a:rPr>
              <a:t>55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5808" y="576417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3.804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07408" y="576417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2.825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79008" y="576417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79.007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50608" y="576417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60.086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22208" y="5764177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B68D40"/>
                </a:solidFill>
                <a:latin typeface="Calibri"/>
              </a:rPr>
              <a:t>76.1%</a:t>
            </a:r>
          </a:p>
        </p:txBody>
      </p:sp>
      <p:sp>
        <p:nvSpPr>
          <p:cNvPr id="111" name="TextBox 68">
            <a:extLst>
              <a:ext uri="{FF2B5EF4-FFF2-40B4-BE49-F238E27FC236}">
                <a16:creationId xmlns:a16="http://schemas.microsoft.com/office/drawing/2014/main" id="{419F6F66-E894-7609-5C59-AA524496CAEE}"/>
              </a:ext>
            </a:extLst>
          </p:cNvPr>
          <p:cNvSpPr txBox="1"/>
          <p:nvPr/>
        </p:nvSpPr>
        <p:spPr>
          <a:xfrm>
            <a:off x="443484" y="6212587"/>
            <a:ext cx="11247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000" b="0" i="1" dirty="0">
                <a:solidFill>
                  <a:srgbClr val="6B7280"/>
                </a:solidFill>
                <a:latin typeface="Calibri"/>
              </a:rPr>
              <a:t>Tenemos oficinas en proceso de activación con AAFF, aún no tenemos el dato exacto de las comunidades/vecinos que nos comparten</a:t>
            </a:r>
            <a:r>
              <a:rPr lang="es-ES" sz="1000" i="1" dirty="0">
                <a:solidFill>
                  <a:srgbClr val="6B7280"/>
                </a:solidFill>
                <a:latin typeface="Calibri"/>
              </a:rPr>
              <a:t> (Barcelona, Castellón, San Sebastián)</a:t>
            </a:r>
            <a:endParaRPr sz="1000" b="0" i="1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0E1A2B"/>
                </a:solidFill>
                <a:latin typeface="Georgia"/>
              </a:rPr>
              <a:t>Captaciones</a:t>
            </a:r>
            <a:r>
              <a:rPr sz="2800" b="1" i="0" dirty="0">
                <a:solidFill>
                  <a:srgbClr val="0E1A2B"/>
                </a:solidFill>
                <a:latin typeface="Georgia"/>
              </a:rPr>
              <a:t>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6B7280"/>
                </a:solidFill>
                <a:latin typeface="Calibri"/>
              </a:rPr>
              <a:t>28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captaciones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el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trimestre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· 544.059 €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honorarios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lang="es-ES" sz="1300" i="1" dirty="0">
                <a:solidFill>
                  <a:srgbClr val="6B7280"/>
                </a:solidFill>
                <a:latin typeface="Calibri"/>
              </a:rPr>
              <a:t>brutos</a:t>
            </a:r>
            <a:endParaRPr sz="13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4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303520" cy="219456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68D40"/>
                </a:solidFill>
                <a:latin typeface="Calibri"/>
              </a:rPr>
              <a:t>TOTAL CAPTACIONES 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  <a:latin typeface="Georgia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572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F5F0E6"/>
                </a:solidFill>
                <a:latin typeface="Calibri"/>
              </a:rPr>
              <a:t>544.059 € de </a:t>
            </a:r>
            <a:r>
              <a:rPr sz="1300" b="0" i="1" dirty="0" err="1">
                <a:solidFill>
                  <a:srgbClr val="F5F0E6"/>
                </a:solidFill>
                <a:latin typeface="Calibri"/>
              </a:rPr>
              <a:t>honorarios</a:t>
            </a:r>
            <a:r>
              <a:rPr sz="1300" b="0" i="1" dirty="0">
                <a:solidFill>
                  <a:srgbClr val="F5F0E6"/>
                </a:solidFill>
                <a:latin typeface="Calibri"/>
              </a:rPr>
              <a:t> </a:t>
            </a:r>
            <a:r>
              <a:rPr lang="es-ES" sz="1300" b="0" i="1" dirty="0">
                <a:solidFill>
                  <a:srgbClr val="F5F0E6"/>
                </a:solidFill>
                <a:latin typeface="Calibri"/>
              </a:rPr>
              <a:t>brutos</a:t>
            </a:r>
            <a:endParaRPr sz="1300" b="0" i="1" dirty="0">
              <a:solidFill>
                <a:srgbClr val="F5F0E6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169164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691640"/>
            <a:ext cx="56692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120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0E1A2B"/>
                </a:solidFill>
                <a:latin typeface="Calibri"/>
              </a:rPr>
              <a:t>DESGLOSE POR </a:t>
            </a:r>
            <a:r>
              <a:rPr lang="es-ES" sz="1200" b="1" i="0" dirty="0">
                <a:solidFill>
                  <a:srgbClr val="0E1A2B"/>
                </a:solidFill>
                <a:latin typeface="Calibri"/>
              </a:rPr>
              <a:t>HONORARIOS</a:t>
            </a:r>
            <a:r>
              <a:rPr sz="1200" b="1" i="0" dirty="0">
                <a:solidFill>
                  <a:srgbClr val="0E1A2B"/>
                </a:solidFill>
                <a:latin typeface="Calibri"/>
              </a:rPr>
              <a:t> </a:t>
            </a:r>
            <a:r>
              <a:rPr lang="es-ES" sz="1200" b="1" dirty="0">
                <a:solidFill>
                  <a:srgbClr val="0E1A2B"/>
                </a:solidFill>
                <a:latin typeface="Calibri"/>
              </a:rPr>
              <a:t>BRUTOS EN TIPO </a:t>
            </a:r>
            <a:r>
              <a:rPr sz="1200" b="1" i="0" dirty="0">
                <a:solidFill>
                  <a:srgbClr val="0E1A2B"/>
                </a:solidFill>
                <a:latin typeface="Calibri"/>
              </a:rPr>
              <a:t>DE CAPTACIÓN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Exclusiva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2103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375.900 € - 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11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captaciones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120640" cy="256032"/>
          </a:xfrm>
          <a:prstGeom prst="rect">
            <a:avLst/>
          </a:prstGeom>
          <a:solidFill>
            <a:srgbClr val="D7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3474720" cy="265176"/>
          </a:xfrm>
          <a:prstGeom prst="rect">
            <a:avLst/>
          </a:prstGeom>
          <a:solidFill>
            <a:srgbClr val="0D1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2861257"/>
            <a:ext cx="51206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  <a:latin typeface="Calibri"/>
              </a:rPr>
              <a:t>6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9,</a:t>
            </a:r>
            <a:r>
              <a:rPr lang="es-ES" sz="1000" b="1" i="0" dirty="0">
                <a:solidFill>
                  <a:schemeClr val="bg1"/>
                </a:solidFill>
                <a:latin typeface="Calibri"/>
              </a:rPr>
              <a:t>09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No exclusiva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00400"/>
            <a:ext cx="21031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168.159 € - 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7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captaciones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9360" y="3520440"/>
            <a:ext cx="5120640" cy="256032"/>
          </a:xfrm>
          <a:prstGeom prst="rect">
            <a:avLst/>
          </a:prstGeom>
          <a:solidFill>
            <a:srgbClr val="D7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520440"/>
            <a:ext cx="1719518" cy="256032"/>
          </a:xfrm>
          <a:prstGeom prst="rect">
            <a:avLst/>
          </a:prstGeom>
          <a:solidFill>
            <a:srgbClr val="0D1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3604066"/>
            <a:ext cx="51206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000" b="1" dirty="0">
                <a:latin typeface="Calibri"/>
              </a:rPr>
              <a:t>30</a:t>
            </a:r>
            <a:r>
              <a:rPr sz="1000" b="1" i="0" dirty="0">
                <a:latin typeface="Calibri"/>
              </a:rPr>
              <a:t>,</a:t>
            </a:r>
            <a:r>
              <a:rPr lang="es-ES" sz="1000" b="1" i="0" dirty="0">
                <a:latin typeface="Calibri"/>
              </a:rPr>
              <a:t>91</a:t>
            </a:r>
            <a:r>
              <a:rPr sz="1000" b="1" i="0" dirty="0">
                <a:latin typeface="Calibri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69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1A2B"/>
                </a:solidFill>
                <a:latin typeface="Calibri"/>
              </a:rPr>
              <a:t>CAPTACIONES POR OFICINA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4370832"/>
            <a:ext cx="11274552" cy="0"/>
          </a:xfrm>
          <a:prstGeom prst="line">
            <a:avLst/>
          </a:prstGeom>
          <a:ln w="1524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462272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Alicante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4507992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4507992"/>
            <a:ext cx="6675120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0" y="4462272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11 capt.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462272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79.110 €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654296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Barcelona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4700016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0" y="4654296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0 capt.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654296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0 €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Castellón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4892040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011680" y="4892040"/>
            <a:ext cx="1213658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0" y="4846320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2 capt.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846320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12.450 €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038344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Jaén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5084064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011680" y="5084064"/>
            <a:ext cx="1213658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78240" y="5038344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2 capt.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038344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25.400 €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230368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Madrid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5276088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78240" y="5230368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0 capt.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230368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0 €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422392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Málaga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5468112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011680" y="5468112"/>
            <a:ext cx="3640974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78240" y="5422392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6 capt.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5422392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280.200 €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14416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Marbella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5660136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011680" y="5660136"/>
            <a:ext cx="3034145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78240" y="5614416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5 capt.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5614416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136.499 €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806440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San Sebastián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5852160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78240" y="5806440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0 capt.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806440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0 €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998464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Sevilla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6044184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011680" y="6044184"/>
            <a:ext cx="606829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78240" y="5998464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1 capt.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5998464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1.100 €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190488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0E1A2B"/>
                </a:solidFill>
                <a:latin typeface="Calibri"/>
              </a:rPr>
              <a:t>Valencia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11680" y="6236208"/>
            <a:ext cx="6675120" cy="10972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011680" y="6236208"/>
            <a:ext cx="606829" cy="10972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778240" y="6190488"/>
            <a:ext cx="9144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F2E"/>
                </a:solidFill>
                <a:latin typeface="Calibri"/>
              </a:rPr>
              <a:t>1 capt.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6190488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9.300 €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Operaciones cerradas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6B7280"/>
                </a:solidFill>
                <a:latin typeface="Calibri"/>
              </a:rPr>
              <a:t>5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cierres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lang="es-ES" sz="1300" b="0" i="1" dirty="0">
                <a:solidFill>
                  <a:srgbClr val="6B7280"/>
                </a:solidFill>
                <a:latin typeface="Calibri"/>
              </a:rPr>
              <a:t> AAFF modalidad 50-50 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· 44.850 € HB ·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contribución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al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objetivo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Q1 LAE de 473.750 €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5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657600" cy="219456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HONORARIOS BRUTOS 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44.850 €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5F0E6"/>
                </a:solidFill>
                <a:latin typeface="Calibri"/>
              </a:rPr>
              <a:t>Generados con AAFF colaboradores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691640"/>
            <a:ext cx="3657600" cy="219456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1A2B"/>
                </a:solidFill>
                <a:latin typeface="Calibri"/>
              </a:rPr>
              <a:t>HONORARIOS LAE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31089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4200" b="1" dirty="0">
                <a:solidFill>
                  <a:srgbClr val="0E1A2B"/>
                </a:solidFill>
                <a:latin typeface="Georgia"/>
              </a:rPr>
              <a:t>30</a:t>
            </a:r>
            <a:r>
              <a:rPr sz="4200" b="1" i="0" dirty="0">
                <a:solidFill>
                  <a:srgbClr val="0E1A2B"/>
                </a:solidFill>
                <a:latin typeface="Georgia"/>
              </a:rPr>
              <a:t>.</a:t>
            </a:r>
            <a:r>
              <a:rPr lang="es-ES" sz="4200" b="1" i="0" dirty="0">
                <a:solidFill>
                  <a:srgbClr val="0E1A2B"/>
                </a:solidFill>
                <a:latin typeface="Georgia"/>
              </a:rPr>
              <a:t>205</a:t>
            </a:r>
            <a:r>
              <a:rPr sz="4200" b="1" i="0" dirty="0">
                <a:solidFill>
                  <a:srgbClr val="0E1A2B"/>
                </a:solidFill>
                <a:latin typeface="Georgia"/>
              </a:rPr>
              <a:t>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83280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1" dirty="0">
                <a:solidFill>
                  <a:srgbClr val="0E1A2B"/>
                </a:solidFill>
                <a:latin typeface="Calibri"/>
              </a:rPr>
              <a:t>28.855 honorarios LAE + 1.350 salarios consultor </a:t>
            </a:r>
            <a:r>
              <a:rPr lang="es-ES" sz="1100" i="1" dirty="0">
                <a:solidFill>
                  <a:srgbClr val="0E1A2B"/>
                </a:solidFill>
                <a:latin typeface="Calibri"/>
              </a:rPr>
              <a:t>(67%)</a:t>
            </a:r>
            <a:endParaRPr lang="es-ES" sz="1100" b="0" i="1" dirty="0">
              <a:solidFill>
                <a:srgbClr val="0E1A2B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46720" y="1691640"/>
            <a:ext cx="3657600" cy="219456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1A2B"/>
                </a:solidFill>
                <a:latin typeface="Calibri"/>
              </a:rPr>
              <a:t>HONORARIOS AAFF 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31089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>
                <a:solidFill>
                  <a:srgbClr val="0E1A2B"/>
                </a:solidFill>
                <a:latin typeface="Georgia"/>
              </a:rPr>
              <a:t>1</a:t>
            </a:r>
            <a:r>
              <a:rPr lang="es-ES" sz="4200" b="1" dirty="0">
                <a:solidFill>
                  <a:srgbClr val="0E1A2B"/>
                </a:solidFill>
                <a:latin typeface="Georgia"/>
              </a:rPr>
              <a:t>4</a:t>
            </a:r>
            <a:r>
              <a:rPr sz="4200" b="1" i="0" dirty="0">
                <a:solidFill>
                  <a:srgbClr val="0E1A2B"/>
                </a:solidFill>
                <a:latin typeface="Georgia"/>
              </a:rPr>
              <a:t>.</a:t>
            </a:r>
            <a:r>
              <a:rPr lang="es-ES" sz="4200" b="1" i="0" dirty="0">
                <a:solidFill>
                  <a:srgbClr val="0E1A2B"/>
                </a:solidFill>
                <a:latin typeface="Georgia"/>
              </a:rPr>
              <a:t>64</a:t>
            </a:r>
            <a:r>
              <a:rPr sz="4200" b="1" i="0" dirty="0">
                <a:solidFill>
                  <a:srgbClr val="0E1A2B"/>
                </a:solidFill>
                <a:latin typeface="Georgia"/>
              </a:rPr>
              <a:t>5 €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31089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1" dirty="0">
                <a:solidFill>
                  <a:srgbClr val="6B7280"/>
                </a:solidFill>
                <a:latin typeface="Calibri"/>
              </a:rPr>
              <a:t>15.995€ comisión AAFF – 1.350€ salario</a:t>
            </a:r>
            <a:r>
              <a:rPr lang="es-ES" sz="1100" i="1" dirty="0">
                <a:solidFill>
                  <a:srgbClr val="6B7280"/>
                </a:solidFill>
                <a:latin typeface="Calibri"/>
              </a:rPr>
              <a:t>s</a:t>
            </a:r>
            <a:r>
              <a:rPr lang="es-ES" sz="1100" b="0" i="1" dirty="0">
                <a:solidFill>
                  <a:srgbClr val="6B7280"/>
                </a:solidFill>
                <a:latin typeface="Calibri"/>
              </a:rPr>
              <a:t> consultores</a:t>
            </a:r>
          </a:p>
          <a:p>
            <a:pPr algn="l"/>
            <a:r>
              <a:rPr sz="1100" b="0" i="1" dirty="0">
                <a:solidFill>
                  <a:srgbClr val="6B7280"/>
                </a:solidFill>
                <a:latin typeface="Calibri"/>
              </a:rPr>
              <a:t>(</a:t>
            </a:r>
            <a:r>
              <a:rPr lang="es-ES" sz="1100" i="1" dirty="0">
                <a:solidFill>
                  <a:srgbClr val="6B7280"/>
                </a:solidFill>
                <a:latin typeface="Calibri"/>
              </a:rPr>
              <a:t>33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1A2B"/>
                </a:solidFill>
                <a:latin typeface="Calibri"/>
              </a:rPr>
              <a:t>CUMPLIMIENTO DEL OBJETIVO Q1 LAE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379976"/>
            <a:ext cx="11274552" cy="0"/>
          </a:xfrm>
          <a:prstGeom prst="line">
            <a:avLst/>
          </a:prstGeom>
          <a:ln w="1524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452628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Objetivo Q1 LAE Grupo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572000"/>
            <a:ext cx="6400800" cy="27432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0" y="4572000"/>
            <a:ext cx="6400800" cy="274320"/>
          </a:xfrm>
          <a:prstGeom prst="rect">
            <a:avLst/>
          </a:prstGeom>
          <a:solidFill>
            <a:srgbClr val="B7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49840" y="452628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0E1A2B"/>
                </a:solidFill>
                <a:latin typeface="Calibri"/>
              </a:rPr>
              <a:t>473.750 €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45145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Calibri"/>
              </a:rPr>
              <a:t>Aporte</a:t>
            </a:r>
            <a:r>
              <a:rPr sz="1100" b="0" i="0" dirty="0">
                <a:solidFill>
                  <a:srgbClr val="6B7280"/>
                </a:solidFill>
                <a:latin typeface="Calibri"/>
              </a:rPr>
              <a:t> AAFF al </a:t>
            </a:r>
            <a:r>
              <a:rPr sz="1100" b="0" i="0" dirty="0" err="1">
                <a:solidFill>
                  <a:srgbClr val="6B7280"/>
                </a:solidFill>
                <a:latin typeface="Calibri"/>
              </a:rPr>
              <a:t>objetivo</a:t>
            </a:r>
            <a:r>
              <a:rPr sz="1100" b="0" i="0" dirty="0">
                <a:solidFill>
                  <a:srgbClr val="6B7280"/>
                </a:solidFill>
                <a:latin typeface="Calibri"/>
              </a:rPr>
              <a:t> (H</a:t>
            </a:r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.</a:t>
            </a:r>
            <a:r>
              <a:rPr sz="1100" b="0" i="0" dirty="0">
                <a:solidFill>
                  <a:srgbClr val="6B7280"/>
                </a:solidFill>
                <a:latin typeface="Calibri"/>
              </a:rPr>
              <a:t>LAE)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029200"/>
            <a:ext cx="6400800" cy="27432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0" y="5029200"/>
            <a:ext cx="389857" cy="27432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5045145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ES" sz="1100" b="1" dirty="0">
                <a:solidFill>
                  <a:srgbClr val="B68D40"/>
                </a:solidFill>
                <a:latin typeface="Calibri"/>
              </a:rPr>
              <a:t>30</a:t>
            </a:r>
            <a:r>
              <a:rPr sz="1100" b="1" i="0" dirty="0">
                <a:solidFill>
                  <a:srgbClr val="B68D40"/>
                </a:solidFill>
                <a:latin typeface="Calibri"/>
              </a:rPr>
              <a:t>.</a:t>
            </a:r>
            <a:r>
              <a:rPr lang="es-ES" sz="1100" b="1" i="0" dirty="0">
                <a:solidFill>
                  <a:srgbClr val="B68D40"/>
                </a:solidFill>
                <a:latin typeface="Calibri"/>
              </a:rPr>
              <a:t>205</a:t>
            </a:r>
            <a:r>
              <a:rPr sz="1100" b="1" i="0" dirty="0">
                <a:solidFill>
                  <a:srgbClr val="B68D40"/>
                </a:solidFill>
                <a:latin typeface="Calibri"/>
              </a:rPr>
              <a:t> € (6.</a:t>
            </a:r>
            <a:r>
              <a:rPr lang="es-ES" sz="1100" b="1" dirty="0">
                <a:solidFill>
                  <a:srgbClr val="B68D40"/>
                </a:solidFill>
                <a:latin typeface="Calibri"/>
              </a:rPr>
              <a:t>4</a:t>
            </a:r>
            <a:r>
              <a:rPr sz="1100" b="1" i="0" dirty="0">
                <a:solidFill>
                  <a:srgbClr val="B68D40"/>
                </a:solidFill>
                <a:latin typeface="Calibri"/>
              </a:rPr>
              <a:t>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532120"/>
            <a:ext cx="109728" cy="868680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C73E3A"/>
                </a:solidFill>
                <a:latin typeface="Calibri"/>
              </a:rPr>
              <a:t> </a:t>
            </a:r>
            <a:r>
              <a:rPr lang="es-ES" sz="1100" b="1" i="0" dirty="0">
                <a:solidFill>
                  <a:srgbClr val="C73E3A"/>
                </a:solidFill>
                <a:latin typeface="Calibri"/>
              </a:rPr>
              <a:t>APORTACIÓN AAFF 50-50</a:t>
            </a:r>
            <a:endParaRPr sz="1100" b="1" i="0" dirty="0">
              <a:solidFill>
                <a:srgbClr val="C73E3A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5943600"/>
            <a:ext cx="109728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1A1F2E"/>
                </a:solidFill>
                <a:latin typeface="Calibri"/>
              </a:rPr>
              <a:t>El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aporte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AAFF a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Honorarios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LAE Q1 (</a:t>
            </a:r>
            <a:r>
              <a:rPr lang="es-ES" sz="1100" i="1" dirty="0">
                <a:solidFill>
                  <a:srgbClr val="1A1F2E"/>
                </a:solidFill>
                <a:latin typeface="Calibri"/>
              </a:rPr>
              <a:t>30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.</a:t>
            </a:r>
            <a:r>
              <a:rPr lang="es-ES" sz="1100" b="0" i="1" dirty="0">
                <a:solidFill>
                  <a:srgbClr val="1A1F2E"/>
                </a:solidFill>
                <a:latin typeface="Calibri"/>
              </a:rPr>
              <a:t>205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€)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representa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solo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6,</a:t>
            </a:r>
            <a:r>
              <a:rPr lang="es-ES" sz="1100" b="0" i="1" dirty="0">
                <a:solidFill>
                  <a:srgbClr val="1A1F2E"/>
                </a:solidFill>
                <a:latin typeface="Calibri"/>
              </a:rPr>
              <a:t>4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% del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objetivo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trimestral del Grupo.</a:t>
            </a:r>
            <a:endParaRPr lang="es-ES" sz="1100" b="0" i="1" dirty="0">
              <a:solidFill>
                <a:srgbClr val="1A1F2E"/>
              </a:solidFill>
              <a:latin typeface="Calibri"/>
            </a:endParaRPr>
          </a:p>
          <a:p>
            <a:pPr algn="l"/>
            <a:r>
              <a:rPr sz="1100" b="0" i="1" dirty="0" err="1">
                <a:solidFill>
                  <a:srgbClr val="1A1F2E"/>
                </a:solidFill>
                <a:latin typeface="Calibri"/>
              </a:rPr>
              <a:t>Aunque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AAFF es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una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palanca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complementaria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al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residencial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ritmo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actual de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cierres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compromete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la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velocidad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de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tracción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 del </a:t>
            </a:r>
            <a:r>
              <a:rPr sz="1100" b="0" i="1" dirty="0" err="1">
                <a:solidFill>
                  <a:srgbClr val="1A1F2E"/>
                </a:solidFill>
                <a:latin typeface="Calibri"/>
              </a:rPr>
              <a:t>programa</a:t>
            </a:r>
            <a:r>
              <a:rPr sz="1100" b="0" i="1" dirty="0">
                <a:solidFill>
                  <a:srgbClr val="1A1F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Embudo de conversión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De la cartera AAFF a la operación cerrada — visión consolidada de la 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6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760402"/>
            <a:ext cx="7315200" cy="730605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999409"/>
            <a:ext cx="7315200" cy="20005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Comunidades AAFF: 3.804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619938"/>
            <a:ext cx="6364224" cy="730605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870097"/>
            <a:ext cx="6364224" cy="20005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es-ES" sz="1300" b="1" i="0" dirty="0">
                <a:solidFill>
                  <a:srgbClr val="FFFFFF"/>
                </a:solidFill>
                <a:latin typeface="Calibri"/>
              </a:rPr>
              <a:t>Número de impactos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: 39.097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8176" y="3479474"/>
            <a:ext cx="5413248" cy="730605"/>
          </a:xfrm>
          <a:prstGeom prst="rect">
            <a:avLst/>
          </a:prstGeom>
          <a:solidFill>
            <a:srgbClr val="D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08176" y="3479474"/>
            <a:ext cx="5413248" cy="36100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0E1A2B"/>
                </a:solidFill>
                <a:latin typeface="Calibri"/>
              </a:rPr>
              <a:t>Vecinos con interés expresado: 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840480"/>
            <a:ext cx="5413248" cy="343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0E1A2B"/>
                </a:solidFill>
                <a:latin typeface="Calibri"/>
              </a:rPr>
              <a:t>0.161% s/impactos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83664" y="4339010"/>
            <a:ext cx="4462272" cy="730605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83664" y="4339010"/>
            <a:ext cx="4462272" cy="36100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Captaciones materializadas: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4700016"/>
            <a:ext cx="4462272" cy="343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44.4% s/interés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9152" y="5198546"/>
            <a:ext cx="3511296" cy="730605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59152" y="5198546"/>
            <a:ext cx="3511296" cy="36100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Operaciones cerradas: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5559552"/>
            <a:ext cx="3511296" cy="343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17.9% s/captaciones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1691640"/>
            <a:ext cx="3794760" cy="429768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1691640"/>
            <a:ext cx="73152" cy="429768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79" y="2448675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0E1A2B"/>
                </a:solidFill>
                <a:latin typeface="Calibri"/>
              </a:rPr>
              <a:t>RATIOS CLAVE Q1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76514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B68D40"/>
                </a:solidFill>
                <a:latin typeface="Georgia"/>
              </a:rPr>
              <a:t>8.970 €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3222346"/>
            <a:ext cx="3337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6B7280"/>
                </a:solidFill>
                <a:latin typeface="Calibri"/>
              </a:rPr>
              <a:t>Honorario</a:t>
            </a:r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s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medio</a:t>
            </a:r>
            <a:r>
              <a:rPr lang="es-ES" sz="1000" dirty="0">
                <a:solidFill>
                  <a:srgbClr val="6B7280"/>
                </a:solidFill>
                <a:latin typeface="Calibri"/>
              </a:rPr>
              <a:t>s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cierre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3879" y="352409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B68D40"/>
                </a:solidFill>
                <a:latin typeface="Georgia"/>
              </a:rPr>
              <a:t>19.430 €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981298"/>
            <a:ext cx="3337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6B7280"/>
                </a:solidFill>
                <a:latin typeface="Calibri"/>
              </a:rPr>
              <a:t>Honorario</a:t>
            </a:r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s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medio</a:t>
            </a:r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s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captación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83879" y="4283050"/>
            <a:ext cx="3337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800" b="1" i="0" dirty="0">
                <a:solidFill>
                  <a:srgbClr val="B68D40"/>
                </a:solidFill>
                <a:latin typeface="Georgia"/>
              </a:rPr>
              <a:t>34.172 €</a:t>
            </a:r>
            <a:endParaRPr sz="1800" b="1" i="0" dirty="0">
              <a:solidFill>
                <a:srgbClr val="B68D40"/>
              </a:solidFill>
              <a:latin typeface="Georgi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3879" y="4740250"/>
            <a:ext cx="3337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000" b="0" i="0" dirty="0">
                <a:solidFill>
                  <a:srgbClr val="6B7280"/>
                </a:solidFill>
                <a:latin typeface="Calibri"/>
              </a:rPr>
              <a:t>Honorarios medios por captación en exclusiva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35D117D5-BEA3-1CC0-CA15-73204367F0FE}"/>
              </a:ext>
            </a:extLst>
          </p:cNvPr>
          <p:cNvSpPr txBox="1"/>
          <p:nvPr/>
        </p:nvSpPr>
        <p:spPr>
          <a:xfrm>
            <a:off x="8183879" y="5102351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B68D40"/>
                </a:solidFill>
                <a:latin typeface="Georgia"/>
              </a:rPr>
              <a:t>1.086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B959BA32-4227-F59D-386D-F1D706473D5D}"/>
              </a:ext>
            </a:extLst>
          </p:cNvPr>
          <p:cNvSpPr txBox="1"/>
          <p:nvPr/>
        </p:nvSpPr>
        <p:spPr>
          <a:xfrm>
            <a:off x="8183879" y="5559551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Impactos por mensaje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D182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Comparativa por oficinas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Desempeño consolidado de la red en modalidad 50% — primer trimestre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7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09700" y="1501048"/>
            <a:ext cx="9372599" cy="384048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09700" y="150104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Oficina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1300" y="150104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AAFF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4220" y="150104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Capt.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7140" y="150104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Excl.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0060" y="150104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Cierres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0140" y="15010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Honor. Capt.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460" y="150104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Honor. Brutos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340" y="1616128"/>
            <a:ext cx="1234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B78D40"/>
                </a:solidFill>
                <a:latin typeface="Calibri"/>
              </a:rPr>
              <a:t>Honor. LAE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780" y="1616128"/>
            <a:ext cx="1234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B78D40"/>
                </a:solidFill>
                <a:latin typeface="Calibri"/>
              </a:rPr>
              <a:t>Honor. AAFF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9700" y="1885096"/>
            <a:ext cx="9372599" cy="25603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2852" y="1903384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Alicante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1300" y="190338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4220" y="190338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7140" y="190338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0060" y="1903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0140" y="1903384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79.110 €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460" y="1903384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 dirty="0">
                <a:solidFill>
                  <a:srgbClr val="0E1A2B"/>
                </a:solidFill>
                <a:latin typeface="Calibri"/>
              </a:rPr>
              <a:t>11.400 €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3340" y="1940015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7.290 €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7780" y="1940015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4.110 €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2852" y="2159416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Barcelona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1300" y="215941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4220" y="215941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7140" y="215941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0060" y="215941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0140" y="2159416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0 €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7460" y="2159416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3340" y="2196047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7780" y="2196047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9700" y="2397160"/>
            <a:ext cx="9372599" cy="25603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82852" y="2415448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Castellón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1300" y="241544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84220" y="241544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7140" y="241544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0060" y="241544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0140" y="2415448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12.450 €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7460" y="2415448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3340" y="2452079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7780" y="2452079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2852" y="2671480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Jaén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81300" y="267148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84220" y="267148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7140" y="267148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0060" y="267148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0140" y="2671480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25.400 €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7460" y="2671480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73340" y="2708111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07780" y="2708111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09700" y="2909224"/>
            <a:ext cx="9372599" cy="25603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482852" y="2927512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Madrid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81300" y="292751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84220" y="292751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87140" y="292751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0060" y="29275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0140" y="2927512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0 €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47460" y="2927512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73340" y="2964143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7780" y="2964143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82852" y="3183544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Málaga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1300" y="318354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84220" y="318354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87140" y="318354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0060" y="318354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30140" y="3183544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280.200 €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47460" y="3183544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1.400 €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73340" y="3220175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985 €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07780" y="3220175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415 €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9700" y="3421288"/>
            <a:ext cx="9372599" cy="25603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482852" y="3439576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Marbella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81300" y="343957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84220" y="343957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87140" y="343957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0060" y="343957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0140" y="3439576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136.499 €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47460" y="3439576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14.000 €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73340" y="3476207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ES" sz="950" b="0" i="0" dirty="0">
                <a:solidFill>
                  <a:srgbClr val="0D1829"/>
                </a:solidFill>
                <a:latin typeface="Calibri"/>
              </a:rPr>
              <a:t>9.300 €</a:t>
            </a:r>
            <a:endParaRPr sz="950" b="0" i="0" dirty="0">
              <a:solidFill>
                <a:srgbClr val="0D1829"/>
              </a:solidFill>
              <a:latin typeface="Calibr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907780" y="3476207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ES" sz="950" dirty="0">
                <a:solidFill>
                  <a:srgbClr val="0D1829"/>
                </a:solidFill>
                <a:latin typeface="Calibri"/>
              </a:rPr>
              <a:t>4.700</a:t>
            </a:r>
            <a:r>
              <a:rPr sz="950" b="0" i="0" dirty="0">
                <a:solidFill>
                  <a:srgbClr val="0D1829"/>
                </a:solidFill>
                <a:latin typeface="Calibri"/>
              </a:rPr>
              <a:t> 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82852" y="3695608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San Sebastián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81300" y="369560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84220" y="369560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87140" y="369560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90060" y="369560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0140" y="3695608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0 €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47460" y="3695608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73340" y="3732239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07780" y="3732239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409700" y="3933352"/>
            <a:ext cx="9372599" cy="25603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482852" y="3951640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Sevilla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81300" y="395164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84220" y="395164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87140" y="395164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90060" y="39516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30140" y="3951640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1.100 €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47460" y="3951640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73340" y="3988271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07780" y="3988271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0D1829"/>
                </a:solidFill>
                <a:latin typeface="Calibri"/>
              </a:rPr>
              <a:t>0 €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82852" y="4207672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E1A2B"/>
                </a:solidFill>
                <a:latin typeface="Calibri"/>
              </a:rPr>
              <a:t>Valencia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81300" y="4207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84220" y="4207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787140" y="4207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90060" y="42076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30140" y="4207672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A1F2E"/>
                </a:solidFill>
                <a:latin typeface="Calibri"/>
              </a:rPr>
              <a:t>9.300 €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47460" y="4207672"/>
            <a:ext cx="1252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0E1A2B"/>
                </a:solidFill>
                <a:latin typeface="Calibri"/>
              </a:rPr>
              <a:t>18.050 €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73340" y="4244303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 dirty="0">
                <a:solidFill>
                  <a:srgbClr val="0D1829"/>
                </a:solidFill>
                <a:latin typeface="Calibri"/>
              </a:rPr>
              <a:t>1</a:t>
            </a:r>
            <a:r>
              <a:rPr lang="es-ES" sz="950" b="0" i="0" dirty="0">
                <a:solidFill>
                  <a:srgbClr val="0D1829"/>
                </a:solidFill>
                <a:latin typeface="Calibri"/>
              </a:rPr>
              <a:t>2</a:t>
            </a:r>
            <a:r>
              <a:rPr sz="950" b="0" i="0" dirty="0">
                <a:solidFill>
                  <a:srgbClr val="0D1829"/>
                </a:solidFill>
                <a:latin typeface="Calibri"/>
              </a:rPr>
              <a:t>.</a:t>
            </a:r>
            <a:r>
              <a:rPr lang="es-ES" sz="950" b="0" i="0" dirty="0">
                <a:solidFill>
                  <a:srgbClr val="0D1829"/>
                </a:solidFill>
                <a:latin typeface="Calibri"/>
              </a:rPr>
              <a:t>6</a:t>
            </a:r>
            <a:r>
              <a:rPr sz="950" b="0" i="0" dirty="0">
                <a:solidFill>
                  <a:srgbClr val="0D1829"/>
                </a:solidFill>
                <a:latin typeface="Calibri"/>
              </a:rPr>
              <a:t>30 €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07780" y="4244303"/>
            <a:ext cx="116128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ES" sz="950" dirty="0">
                <a:solidFill>
                  <a:srgbClr val="0D1829"/>
                </a:solidFill>
                <a:latin typeface="Calibri"/>
              </a:rPr>
              <a:t>5.4</a:t>
            </a:r>
            <a:r>
              <a:rPr sz="950" b="0" i="0" dirty="0">
                <a:solidFill>
                  <a:srgbClr val="0D1829"/>
                </a:solidFill>
                <a:latin typeface="Calibri"/>
              </a:rPr>
              <a:t>20 €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09700" y="4445416"/>
            <a:ext cx="9372599" cy="329184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482852" y="4481992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81300" y="448199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55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84220" y="448199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28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87140" y="448199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11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90060" y="44819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30140" y="4481992"/>
            <a:ext cx="13441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Calibri"/>
              </a:rPr>
              <a:t>544.059 €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47460" y="4481992"/>
            <a:ext cx="1252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 dirty="0">
                <a:solidFill>
                  <a:srgbClr val="B68D40"/>
                </a:solidFill>
                <a:latin typeface="Calibri"/>
              </a:rPr>
              <a:t>44.850 €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73340" y="4533064"/>
            <a:ext cx="116128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ES" sz="1000" dirty="0">
                <a:solidFill>
                  <a:srgbClr val="B68D40"/>
                </a:solidFill>
                <a:latin typeface="Calibri"/>
              </a:rPr>
              <a:t>30.205</a:t>
            </a:r>
            <a:r>
              <a:rPr sz="1000" dirty="0">
                <a:solidFill>
                  <a:srgbClr val="B68D40"/>
                </a:solidFill>
                <a:latin typeface="Calibri"/>
              </a:rPr>
              <a:t> €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07780" y="4533064"/>
            <a:ext cx="116128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 dirty="0">
                <a:solidFill>
                  <a:srgbClr val="B78D40"/>
                </a:solidFill>
                <a:latin typeface="Calibri"/>
              </a:rPr>
              <a:t>1</a:t>
            </a:r>
            <a:r>
              <a:rPr lang="es-ES" sz="1000" dirty="0">
                <a:solidFill>
                  <a:srgbClr val="B78D40"/>
                </a:solidFill>
                <a:latin typeface="Calibri"/>
              </a:rPr>
              <a:t>4.64</a:t>
            </a:r>
            <a:r>
              <a:rPr sz="1000" i="0" dirty="0">
                <a:solidFill>
                  <a:srgbClr val="B78D40"/>
                </a:solidFill>
                <a:latin typeface="Calibri"/>
              </a:rPr>
              <a:t>5 €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7200" y="5093208"/>
            <a:ext cx="11247120" cy="105156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457200" y="5093208"/>
            <a:ext cx="109728" cy="105156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7240" y="51663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1A2B"/>
                </a:solidFill>
                <a:latin typeface="Calibri"/>
              </a:rPr>
              <a:t>LECTURA EJECUTIVA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240" y="5458968"/>
            <a:ext cx="10789920" cy="59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D1829"/>
                </a:solidFill>
                <a:latin typeface="Calibri"/>
              </a:rPr>
              <a:t>Marbella, Valencia y Alicante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concentran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97,1% de los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honorarios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brutos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AAFF (5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cierres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del Q1).</a:t>
            </a:r>
          </a:p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D1829"/>
                </a:solidFill>
                <a:latin typeface="Calibri"/>
              </a:rPr>
              <a:t>Málaga </a:t>
            </a:r>
            <a:r>
              <a:rPr sz="1100" b="1" i="0" dirty="0" err="1">
                <a:solidFill>
                  <a:srgbClr val="0D1829"/>
                </a:solidFill>
                <a:latin typeface="Calibri"/>
              </a:rPr>
              <a:t>lidera</a:t>
            </a:r>
            <a:r>
              <a:rPr sz="1100" b="1" i="0" dirty="0">
                <a:solidFill>
                  <a:srgbClr val="0D1829"/>
                </a:solidFill>
                <a:latin typeface="Calibri"/>
              </a:rPr>
              <a:t> </a:t>
            </a:r>
            <a:r>
              <a:rPr lang="es-ES" sz="1100" b="1" i="0" dirty="0">
                <a:solidFill>
                  <a:srgbClr val="0D1829"/>
                </a:solidFill>
                <a:latin typeface="Calibri"/>
              </a:rPr>
              <a:t>los honorarios brutos en captaciones </a:t>
            </a:r>
            <a:r>
              <a:rPr sz="1100" b="1" i="0" dirty="0">
                <a:solidFill>
                  <a:srgbClr val="0D1829"/>
                </a:solidFill>
                <a:latin typeface="Calibri"/>
              </a:rPr>
              <a:t>(280.200 €) </a:t>
            </a:r>
            <a:r>
              <a:rPr sz="1100" b="1" i="0" dirty="0" err="1">
                <a:solidFill>
                  <a:srgbClr val="0D1829"/>
                </a:solidFill>
                <a:latin typeface="Calibri"/>
              </a:rPr>
              <a:t>pero</a:t>
            </a:r>
            <a:r>
              <a:rPr sz="1100" b="1" i="0" dirty="0">
                <a:solidFill>
                  <a:srgbClr val="0D1829"/>
                </a:solidFill>
                <a:latin typeface="Calibri"/>
              </a:rPr>
              <a:t> </a:t>
            </a:r>
            <a:r>
              <a:rPr lang="es-ES" sz="1100" b="1" dirty="0">
                <a:solidFill>
                  <a:srgbClr val="0D1829"/>
                </a:solidFill>
                <a:latin typeface="Calibri"/>
              </a:rPr>
              <a:t>solo un</a:t>
            </a:r>
            <a:r>
              <a:rPr sz="1100" b="1" i="0" dirty="0">
                <a:solidFill>
                  <a:srgbClr val="0D1829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0D1829"/>
                </a:solidFill>
                <a:latin typeface="Calibri"/>
              </a:rPr>
              <a:t>cierre</a:t>
            </a:r>
            <a:r>
              <a:rPr sz="1100" b="1" i="0" dirty="0">
                <a:solidFill>
                  <a:srgbClr val="0D1829"/>
                </a:solidFill>
                <a:latin typeface="Calibri"/>
              </a:rPr>
              <a:t> de 1.400 €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</a:t>
            </a:r>
            <a:endParaRPr lang="es-ES" sz="1100" b="0" i="0" dirty="0">
              <a:solidFill>
                <a:srgbClr val="0D1829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D1829"/>
                </a:solidFill>
                <a:latin typeface="Calibri"/>
              </a:rPr>
              <a:t>Barcelona, Castellón, Madrid, San Sebastián y Sevilla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sin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cierres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 Q1 (5 </a:t>
            </a:r>
            <a:r>
              <a:rPr sz="1100" b="0" i="0" dirty="0" err="1">
                <a:solidFill>
                  <a:srgbClr val="0D1829"/>
                </a:solidFill>
                <a:latin typeface="Calibri"/>
              </a:rPr>
              <a:t>oficinas</a:t>
            </a:r>
            <a:r>
              <a:rPr sz="1100" b="0" i="0" dirty="0">
                <a:solidFill>
                  <a:srgbClr val="0D1829"/>
                </a:solidFill>
                <a:latin typeface="Calibri"/>
              </a:rPr>
              <a:t>, 25 AAFF).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0E1A2B"/>
                </a:solidFill>
                <a:latin typeface="Georgia"/>
              </a:rPr>
              <a:t>Contribución</a:t>
            </a:r>
            <a:r>
              <a:rPr sz="2800" b="1" i="0" dirty="0">
                <a:solidFill>
                  <a:srgbClr val="0E1A2B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0E1A2B"/>
                </a:solidFill>
                <a:latin typeface="Georgia"/>
              </a:rPr>
              <a:t>por</a:t>
            </a:r>
            <a:r>
              <a:rPr sz="2800" b="1" i="0" dirty="0">
                <a:solidFill>
                  <a:srgbClr val="0E1A2B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0E1A2B"/>
                </a:solidFill>
                <a:latin typeface="Georgia"/>
              </a:rPr>
              <a:t>oficin</a:t>
            </a:r>
            <a:r>
              <a:rPr lang="es-ES" sz="2800" b="1" i="0" dirty="0">
                <a:solidFill>
                  <a:srgbClr val="0E1A2B"/>
                </a:solidFill>
                <a:latin typeface="Georgia"/>
              </a:rPr>
              <a:t>a</a:t>
            </a:r>
            <a:endParaRPr sz="2800" b="1" i="0" dirty="0">
              <a:solidFill>
                <a:srgbClr val="0E1A2B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 err="1">
                <a:solidFill>
                  <a:srgbClr val="6B7280"/>
                </a:solidFill>
                <a:latin typeface="Calibri"/>
              </a:rPr>
              <a:t>Honorarios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brutos</a:t>
            </a:r>
            <a:endParaRPr sz="13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8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109728" cy="64008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1810512"/>
            <a:ext cx="384048" cy="384048"/>
          </a:xfrm>
          <a:prstGeom prst="ellipse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E1A2B"/>
                </a:solidFill>
                <a:latin typeface="Calibri"/>
              </a:rPr>
              <a:t>1º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7465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A2B"/>
                </a:solidFill>
                <a:latin typeface="Calibri"/>
              </a:rPr>
              <a:t>VALENCIA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03911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2 cierres · 1 capt · 14 AAFF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920240"/>
            <a:ext cx="6217920" cy="20116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1920240"/>
            <a:ext cx="6217920" cy="201168"/>
          </a:xfrm>
          <a:prstGeom prst="rect">
            <a:avLst/>
          </a:prstGeom>
          <a:solidFill>
            <a:srgbClr val="B7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9522" y="174650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E1A2B"/>
                </a:solidFill>
                <a:latin typeface="Calibri"/>
              </a:rPr>
              <a:t>18.050 €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9522" y="2057400"/>
            <a:ext cx="16916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 dirty="0">
                <a:solidFill>
                  <a:srgbClr val="6B7280"/>
                </a:solidFill>
                <a:latin typeface="Calibri"/>
              </a:rPr>
              <a:t>40.</a:t>
            </a:r>
            <a:r>
              <a:rPr lang="es-ES" sz="950" b="0" i="1" dirty="0">
                <a:solidFill>
                  <a:srgbClr val="6B7280"/>
                </a:solidFill>
                <a:latin typeface="Calibri"/>
              </a:rPr>
              <a:t>3</a:t>
            </a:r>
            <a:r>
              <a:rPr sz="950" b="0" i="1" dirty="0">
                <a:solidFill>
                  <a:srgbClr val="6B7280"/>
                </a:solidFill>
                <a:latin typeface="Calibri"/>
              </a:rPr>
              <a:t>% del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04872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404872"/>
            <a:ext cx="109728" cy="6400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2523744"/>
            <a:ext cx="384048" cy="384048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2523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4597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A2B"/>
                </a:solidFill>
                <a:latin typeface="Calibri"/>
              </a:rPr>
              <a:t>MARBELLA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75234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1 cierres · 5 capt · 6 AAFF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633472"/>
            <a:ext cx="6217920" cy="20116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2633472"/>
            <a:ext cx="4822763" cy="20116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59522" y="24597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E1A2B"/>
                </a:solidFill>
                <a:latin typeface="Calibri"/>
              </a:rPr>
              <a:t>14.000 €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9522" y="277063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Calibri"/>
              </a:rPr>
              <a:t>31.2% del 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18104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18104"/>
            <a:ext cx="109728" cy="6400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77240" y="3236976"/>
            <a:ext cx="384048" cy="384048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32369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1729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A2B"/>
                </a:solidFill>
                <a:latin typeface="Calibri"/>
              </a:rPr>
              <a:t>ALICANTE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46557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1 cierres · 11 capt · 5 AAFF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3346704"/>
            <a:ext cx="6217920" cy="20116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0" y="3346704"/>
            <a:ext cx="3927107" cy="20116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59522" y="31729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E1A2B"/>
                </a:solidFill>
                <a:latin typeface="Calibri"/>
              </a:rPr>
              <a:t>11.400 €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9522" y="348386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Calibri"/>
              </a:rPr>
              <a:t>25.4% del total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31336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3831336"/>
            <a:ext cx="109728" cy="6400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77240" y="3950208"/>
            <a:ext cx="384048" cy="384048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39502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3886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A2B"/>
                </a:solidFill>
                <a:latin typeface="Calibri"/>
              </a:rPr>
              <a:t>MÁLAGA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1788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1 cierres · 6 capt · 7 AAFF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059936"/>
            <a:ext cx="6217920" cy="20116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657600" y="4059936"/>
            <a:ext cx="482276" cy="20116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59522" y="38862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E1A2B"/>
                </a:solidFill>
                <a:latin typeface="Calibri"/>
              </a:rPr>
              <a:t>1.400 €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9522" y="41970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Calibri"/>
              </a:rPr>
              <a:t>3.1% del total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544568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4544568"/>
            <a:ext cx="109728" cy="6400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77240" y="4663440"/>
            <a:ext cx="384048" cy="384048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" y="4663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45994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A2B"/>
                </a:solidFill>
                <a:latin typeface="Calibri"/>
              </a:rPr>
              <a:t>BARCELONA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48920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0 cierres · 0 capt · 3 AAFF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4773168"/>
            <a:ext cx="6217920" cy="20116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459522" y="459943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59522" y="491032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Calibri"/>
              </a:rPr>
              <a:t>0.0% del total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7200" y="5257800"/>
            <a:ext cx="109728" cy="6400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77240" y="5376672"/>
            <a:ext cx="384048" cy="384048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7240" y="5376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53126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A2B"/>
                </a:solidFill>
                <a:latin typeface="Calibri"/>
              </a:rPr>
              <a:t>CASTELLÓN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" y="56052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0 cierres · 2 capt · 5 AAFF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486400"/>
            <a:ext cx="6217920" cy="201168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59522" y="53126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E1A2B"/>
                </a:solidFill>
                <a:latin typeface="Calibri"/>
              </a:rPr>
              <a:t>0 €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59522" y="562356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Calibri"/>
              </a:rPr>
              <a:t>0.0% del 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Top AAFF colaboradores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Administradores con mayor aportación al programa — modalidad 50%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9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1247120" cy="384048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691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AAFF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157" y="169164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B68D40"/>
                </a:solidFill>
                <a:latin typeface="Calibri"/>
              </a:rPr>
              <a:t>Administración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Oficina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69164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Capt.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69164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Cierres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9164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B68D40"/>
                </a:solidFill>
                <a:latin typeface="Calibri"/>
              </a:rPr>
              <a:t>Honor. Brutos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75688"/>
            <a:ext cx="11247120" cy="36576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8640" y="2130552"/>
            <a:ext cx="274320" cy="274320"/>
          </a:xfrm>
          <a:prstGeom prst="ellipse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E1A2B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11226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Mónica Rodriguez-MR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11226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MR (Marbella)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1226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Marbella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1226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1226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2123" y="211226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B68D40"/>
                </a:solidFill>
                <a:latin typeface="Calibri"/>
              </a:rPr>
              <a:t>14.000 €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496312"/>
            <a:ext cx="274320" cy="274320"/>
          </a:xfrm>
          <a:prstGeom prst="ellipse">
            <a:avLst/>
          </a:prstGeom>
          <a:solidFill>
            <a:srgbClr val="D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24963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47802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Evaristo Mendoza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47802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EVARTE ADM. Y ABOGACÍA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47802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Alicante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4780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780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2123" y="247802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B68D40"/>
                </a:solidFill>
                <a:latin typeface="Calibri"/>
              </a:rPr>
              <a:t>11.400 €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07208"/>
            <a:ext cx="11247120" cy="36576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" y="2862072"/>
            <a:ext cx="274320" cy="274320"/>
          </a:xfrm>
          <a:prstGeom prst="ellipse">
            <a:avLst/>
          </a:prstGeom>
          <a:solidFill>
            <a:srgbClr val="D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2862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84378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Eva Mª Izquierdo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28437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MASSA IURIS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84378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Valencia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284378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84378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2123" y="284378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B68D40"/>
                </a:solidFill>
                <a:latin typeface="Calibri"/>
              </a:rPr>
              <a:t>9.300 €</a:t>
            </a:r>
          </a:p>
        </p:txBody>
      </p:sp>
      <p:sp>
        <p:nvSpPr>
          <p:cNvPr id="45" name="Oval 44"/>
          <p:cNvSpPr/>
          <p:nvPr/>
        </p:nvSpPr>
        <p:spPr>
          <a:xfrm>
            <a:off x="548640" y="3227832"/>
            <a:ext cx="274320" cy="274320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2278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20954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Vanina Cernotto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320954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BIENESTAR ABOGADOS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20954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Valencia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320954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20954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2123" y="320954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B68D40"/>
                </a:solidFill>
                <a:latin typeface="Calibri"/>
              </a:rPr>
              <a:t>8.750 €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38728"/>
            <a:ext cx="11247120" cy="36576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48640" y="3593592"/>
            <a:ext cx="274320" cy="274320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35935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357530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Salvador Moncci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357530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ESCUDERO ADMINISTRACIONES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57530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Málaga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57530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57530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D6A4F"/>
                </a:solidFill>
                <a:latin typeface="Calibr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72123" y="357530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B68D40"/>
                </a:solidFill>
                <a:latin typeface="Calibri"/>
              </a:rPr>
              <a:t>1.400 €</a:t>
            </a:r>
          </a:p>
        </p:txBody>
      </p:sp>
      <p:sp>
        <p:nvSpPr>
          <p:cNvPr id="62" name="Oval 61"/>
          <p:cNvSpPr/>
          <p:nvPr/>
        </p:nvSpPr>
        <p:spPr>
          <a:xfrm>
            <a:off x="548640" y="3959352"/>
            <a:ext cx="274320" cy="274320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39593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394106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Jaime Olcina Brotons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394106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FINCAS DOMUS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394106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Alicante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94106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394106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72123" y="394106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6B7280"/>
                </a:solidFill>
                <a:latin typeface="Calibri"/>
              </a:rPr>
              <a:t>0 €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270248"/>
            <a:ext cx="11247120" cy="36576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4325112"/>
            <a:ext cx="274320" cy="274320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" y="4325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430682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Mª Isabel Triviño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430682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ADFINCAS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430682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Alicante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4306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430682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72123" y="430682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6B7280"/>
                </a:solidFill>
                <a:latin typeface="Calibri"/>
              </a:rPr>
              <a:t>0 €</a:t>
            </a:r>
          </a:p>
        </p:txBody>
      </p:sp>
      <p:sp>
        <p:nvSpPr>
          <p:cNvPr id="79" name="Oval 78"/>
          <p:cNvSpPr/>
          <p:nvPr/>
        </p:nvSpPr>
        <p:spPr>
          <a:xfrm>
            <a:off x="548640" y="4690872"/>
            <a:ext cx="274320" cy="274320"/>
          </a:xfrm>
          <a:prstGeom prst="ellipse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48640" y="46908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467258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1A2B"/>
                </a:solidFill>
                <a:latin typeface="Calibri"/>
              </a:rPr>
              <a:t>Manuel Gaitán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46725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GEFINSOL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467258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Málaga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67258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3920" y="4672584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72123" y="467258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 i="0">
                <a:solidFill>
                  <a:srgbClr val="6B7280"/>
                </a:solidFill>
                <a:latin typeface="Calibri"/>
              </a:rPr>
              <a:t>0 €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31520" y="51206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ACTIVIDAD VS LATENCIA EN LA RED AAFF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5440680"/>
            <a:ext cx="1069848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FFFFFF"/>
                </a:solidFill>
                <a:latin typeface="Calibri"/>
              </a:rPr>
              <a:t>Solo 16 de los 55 AAFF (29%)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registraron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Q1. </a:t>
            </a:r>
            <a:endParaRPr lang="es-ES" sz="1100" b="0" i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100" b="0" i="1" dirty="0">
                <a:solidFill>
                  <a:srgbClr val="FFFFFF"/>
                </a:solidFill>
                <a:latin typeface="Calibri"/>
              </a:rPr>
              <a:t>39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administradores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no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han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generado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ni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captación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ni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un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mensaje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ni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un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impacto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trimestre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.</a:t>
            </a:r>
            <a:endParaRPr lang="es-ES" sz="1100" b="0" i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100" b="0" i="1" dirty="0">
                <a:solidFill>
                  <a:srgbClr val="FFFFFF"/>
                </a:solidFill>
                <a:latin typeface="Calibri"/>
              </a:rPr>
              <a:t>La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capilaridad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existe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; la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activación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es lo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FFFFFF"/>
                </a:solidFill>
                <a:latin typeface="Calibri"/>
              </a:rPr>
              <a:t>falta</a:t>
            </a:r>
            <a:r>
              <a:rPr sz="1100" b="0" i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E1A2B"/>
                </a:solidFill>
                <a:latin typeface="Georgia"/>
              </a:rPr>
              <a:t>Activación: comunicación a vecinos 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36 mensajes ejecutados · 39.097 impactos generados sobre la base AAFF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10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A2B"/>
                </a:solidFill>
                <a:latin typeface="Georgia"/>
              </a:rPr>
              <a:t>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Mensajes enviados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916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69164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A2B"/>
                </a:solidFill>
                <a:latin typeface="Georgia"/>
              </a:rPr>
              <a:t>39.097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6032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Calibri"/>
              </a:rPr>
              <a:t>Impactos</a:t>
            </a:r>
            <a:endParaRPr sz="11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16916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69164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A2B"/>
                </a:solidFill>
                <a:latin typeface="Georgia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2331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Calibri"/>
              </a:rPr>
              <a:t>Vecinos</a:t>
            </a:r>
            <a:r>
              <a:rPr lang="es-ES" sz="1100" b="0" i="0" dirty="0">
                <a:solidFill>
                  <a:srgbClr val="6B7280"/>
                </a:solidFill>
                <a:latin typeface="Calibri"/>
              </a:rPr>
              <a:t> con interés</a:t>
            </a:r>
            <a:r>
              <a:rPr sz="1100" b="0" i="0" dirty="0">
                <a:solidFill>
                  <a:srgbClr val="6B7280"/>
                </a:solidFill>
                <a:latin typeface="Calibri"/>
              </a:rPr>
              <a:t> </a:t>
            </a:r>
            <a:endParaRPr sz="1100" b="0" i="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61120" y="16916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691640"/>
            <a:ext cx="2697480" cy="73152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A2B"/>
                </a:solidFill>
                <a:latin typeface="Georgia"/>
              </a:rPr>
              <a:t>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Vecinos con rechazo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0896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1A2B"/>
                </a:solidFill>
                <a:latin typeface="Calibri"/>
              </a:rPr>
              <a:t>ACTIVIDAD COMUNICATIVA POR OFICINA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3419856"/>
            <a:ext cx="11274552" cy="0"/>
          </a:xfrm>
          <a:prstGeom prst="line">
            <a:avLst/>
          </a:prstGeom>
          <a:ln w="15240">
            <a:solidFill>
              <a:srgbClr val="B6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88820" y="36255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Oficina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1860" y="362559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Mensajes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1980" y="36255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Impactos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36255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Imp/Msj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5100" y="36255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Interés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8060" y="36255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Rechazo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680" y="36255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% Interés s/Imp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63994" y="3918204"/>
            <a:ext cx="91440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88820" y="39364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Alicante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1860" y="393649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1980" y="393649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2.918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0700" y="39364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584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100" y="39364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8060" y="3936492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73E3A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8680" y="393649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B68D40"/>
                </a:solidFill>
                <a:latin typeface="Calibri"/>
              </a:rPr>
              <a:t>0.31%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88820" y="41376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Barcelona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1860" y="413766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1980" y="413766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0700" y="41376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5100" y="413766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8060" y="413766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28680" y="41376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63994" y="4320540"/>
            <a:ext cx="91440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8820" y="433882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Castellón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51860" y="433882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11980" y="43388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00700" y="43388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5100" y="43388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38060" y="43388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28680" y="433882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88820" y="453999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Jaén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1860" y="45399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1980" y="453999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300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00700" y="453999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300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5100" y="45399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38060" y="45399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8680" y="453999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B68D40"/>
                </a:solidFill>
                <a:latin typeface="Calibri"/>
              </a:rPr>
              <a:t>1.67%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63994" y="4722876"/>
            <a:ext cx="91440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988820" y="474116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Madrid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51860" y="474116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11980" y="474116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4.000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0700" y="47411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1.333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15100" y="47411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38060" y="474116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73E3A"/>
                </a:solidFill>
                <a:latin typeface="Calibri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28680" y="474116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B68D40"/>
                </a:solidFill>
                <a:latin typeface="Calibri"/>
              </a:rPr>
              <a:t>0.07%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88820" y="494233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Málaga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51860" y="494233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11980" y="49423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16.828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00700" y="49423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1.530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15100" y="494233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8060" y="4942332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73E3A"/>
                </a:solidFill>
                <a:latin typeface="Calibri"/>
              </a:rPr>
              <a:t>48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28680" y="49423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B68D40"/>
                </a:solidFill>
                <a:latin typeface="Calibri"/>
              </a:rPr>
              <a:t>0.21%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63994" y="5125212"/>
            <a:ext cx="91440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988820" y="51435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Marbella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51860" y="514350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11980" y="51435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1.355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00700" y="514350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452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15100" y="51435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38060" y="514350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73E3A"/>
                </a:solidFill>
                <a:latin typeface="Calibri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28680" y="514350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B68D40"/>
                </a:solidFill>
                <a:latin typeface="Calibri"/>
              </a:rPr>
              <a:t>0.30%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88820" y="534466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San Sebastián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51860" y="534466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11980" y="53446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00700" y="534466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15100" y="534466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38060" y="534466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28680" y="53446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63994" y="5527548"/>
            <a:ext cx="9144000" cy="210312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988820" y="554583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Sevilla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51860" y="55458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11980" y="554583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00700" y="55458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15100" y="554583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38060" y="55458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28680" y="554583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88820" y="574700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Valencia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51860" y="574700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11980" y="574700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E1A2B"/>
                </a:solidFill>
                <a:latin typeface="Calibri"/>
              </a:rPr>
              <a:t>13.696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00700" y="57470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1.054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15100" y="574700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D6A4F"/>
                </a:solidFill>
                <a:latin typeface="Calibri"/>
              </a:rPr>
              <a:t>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38060" y="574700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73E3A"/>
                </a:solidFill>
                <a:latin typeface="Calibri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28680" y="574700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B68D40"/>
                </a:solidFill>
                <a:latin typeface="Calibri"/>
              </a:rPr>
              <a:t>0.05%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263994" y="5948172"/>
            <a:ext cx="9144000" cy="292608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988820" y="594817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51860" y="5948172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dirty="0">
                <a:solidFill>
                  <a:srgbClr val="B68D40"/>
                </a:solidFill>
                <a:latin typeface="Calibri"/>
              </a:rPr>
              <a:t>36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11980" y="594817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B68D40"/>
                </a:solidFill>
                <a:latin typeface="Calibri"/>
              </a:rPr>
              <a:t>39.097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00700" y="6013684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050" b="1" i="0" dirty="0">
                <a:solidFill>
                  <a:srgbClr val="FFFFFF"/>
                </a:solidFill>
                <a:latin typeface="Calibri"/>
              </a:rPr>
              <a:t>Media </a:t>
            </a:r>
            <a:r>
              <a:rPr sz="1050" b="1" i="0" dirty="0">
                <a:solidFill>
                  <a:srgbClr val="FFFFFF"/>
                </a:solidFill>
                <a:latin typeface="Calibri"/>
              </a:rPr>
              <a:t>1.086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515100" y="59481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B68D40"/>
                </a:solidFill>
                <a:latin typeface="Calibri"/>
              </a:rPr>
              <a:t>63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38060" y="594817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B68D40"/>
                </a:solidFill>
                <a:latin typeface="Calibri"/>
              </a:rPr>
              <a:t>60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28680" y="6013684"/>
            <a:ext cx="15544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050" b="1" i="0" dirty="0">
                <a:solidFill>
                  <a:srgbClr val="B68D40"/>
                </a:solidFill>
                <a:latin typeface="Calibri"/>
              </a:rPr>
              <a:t>Media </a:t>
            </a:r>
            <a:r>
              <a:rPr sz="1050" b="1" i="0" dirty="0">
                <a:solidFill>
                  <a:srgbClr val="B68D40"/>
                </a:solidFill>
                <a:latin typeface="Calibri"/>
              </a:rPr>
              <a:t>0.16%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68D40"/>
                </a:solidFill>
                <a:latin typeface="Calibri"/>
              </a:rPr>
              <a:t>LAE HOMES PREMIUM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5F0E6"/>
                </a:solidFill>
                <a:latin typeface="Calibri"/>
              </a:rPr>
              <a:t>Informe AAFF Q1 2026 · Modalidad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i="0" dirty="0">
                <a:solidFill>
                  <a:srgbClr val="0E1A2B"/>
                </a:solidFill>
                <a:latin typeface="Georgia"/>
              </a:rPr>
              <a:t>Lectura </a:t>
            </a:r>
            <a:r>
              <a:rPr sz="2800" b="1" i="0" dirty="0">
                <a:solidFill>
                  <a:srgbClr val="0E1A2B"/>
                </a:solidFill>
                <a:latin typeface="Georgia"/>
              </a:rPr>
              <a:t>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300" b="0" i="1" dirty="0">
                <a:solidFill>
                  <a:srgbClr val="6B7280"/>
                </a:solidFill>
                <a:latin typeface="Calibri"/>
              </a:rPr>
              <a:t>Programa 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AAFF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Modalidad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50%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el</a:t>
            </a:r>
            <a:r>
              <a:rPr sz="1300" b="0" i="1" dirty="0">
                <a:solidFill>
                  <a:srgbClr val="6B7280"/>
                </a:solidFill>
                <a:latin typeface="Calibri"/>
              </a:rPr>
              <a:t> primer </a:t>
            </a:r>
            <a:r>
              <a:rPr sz="1300" b="0" i="1" dirty="0" err="1">
                <a:solidFill>
                  <a:srgbClr val="6B7280"/>
                </a:solidFill>
                <a:latin typeface="Calibri"/>
              </a:rPr>
              <a:t>trimestre</a:t>
            </a:r>
            <a:endParaRPr sz="13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F5F0E6"/>
                </a:solidFill>
                <a:latin typeface="Calibri"/>
              </a:rPr>
              <a:t>Dirección General · LAE HOMES Premium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633302"/>
            <a:ext cx="5303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 dirty="0">
                <a:solidFill>
                  <a:srgbClr val="B68D40"/>
                </a:solidFill>
                <a:latin typeface="Calibri"/>
              </a:rPr>
              <a:t>11 / 1</a:t>
            </a:r>
            <a:r>
              <a:rPr lang="es-ES" sz="900" b="0" i="0" dirty="0">
                <a:solidFill>
                  <a:srgbClr val="B68D40"/>
                </a:solidFill>
                <a:latin typeface="Calibri"/>
              </a:rPr>
              <a:t>1</a:t>
            </a:r>
            <a:endParaRPr sz="900" b="0" i="0" dirty="0">
              <a:solidFill>
                <a:srgbClr val="B68D4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901949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01949"/>
            <a:ext cx="13716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011677"/>
            <a:ext cx="146304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088731"/>
            <a:ext cx="146304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FORTALEZA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993389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A2B"/>
                </a:solidFill>
                <a:latin typeface="Calibri"/>
              </a:rPr>
              <a:t>Expansión territorial materializada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313429"/>
            <a:ext cx="914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10 oficinas operativas tras el cierre de Santander, 55 AAFF integrados. La huella comercial ha crecido de 1.755 a 3.804 comunidades (+117%) en un año.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62069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862069"/>
            <a:ext cx="13716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971797"/>
            <a:ext cx="146304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48851"/>
            <a:ext cx="146304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FORTALEZA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53509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400" b="1" i="0" dirty="0">
                <a:solidFill>
                  <a:srgbClr val="0E1A2B"/>
                </a:solidFill>
                <a:latin typeface="Calibri"/>
              </a:rPr>
              <a:t>Honorarios captaciones </a:t>
            </a:r>
            <a:endParaRPr sz="1400" b="1" i="0" dirty="0">
              <a:solidFill>
                <a:srgbClr val="0E1A2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31720" y="3273549"/>
            <a:ext cx="914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1A1F2E"/>
                </a:solidFill>
                <a:latin typeface="Calibri"/>
              </a:rPr>
              <a:t>544.059 €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honorarios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lang="es-ES" sz="1050" b="0" i="0" dirty="0">
                <a:solidFill>
                  <a:srgbClr val="1A1F2E"/>
                </a:solidFill>
                <a:latin typeface="Calibri"/>
              </a:rPr>
              <a:t>brutos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generados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solo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Q1 —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supera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un 51% </a:t>
            </a:r>
            <a:r>
              <a:rPr lang="es-ES" sz="1050" dirty="0">
                <a:solidFill>
                  <a:srgbClr val="1A1F2E"/>
                </a:solidFill>
                <a:latin typeface="Calibri"/>
              </a:rPr>
              <a:t>los honorarios brutos de captaciones en 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2025.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22189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822189"/>
            <a:ext cx="137160" cy="868680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931917"/>
            <a:ext cx="1463040" cy="292608"/>
          </a:xfrm>
          <a:prstGeom prst="rect">
            <a:avLst/>
          </a:prstGeom>
          <a:solidFill>
            <a:srgbClr val="B68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008971"/>
            <a:ext cx="146304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OPORTUNIDAD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913629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A2B"/>
                </a:solidFill>
                <a:latin typeface="Calibri"/>
              </a:rPr>
              <a:t>Reserva de valor en Málaga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233669"/>
            <a:ext cx="914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1A1F2E"/>
                </a:solidFill>
                <a:latin typeface="Calibri"/>
              </a:rPr>
              <a:t>280.200 €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lang="es-ES" sz="1050" dirty="0">
                <a:solidFill>
                  <a:srgbClr val="1A1F2E"/>
                </a:solidFill>
                <a:latin typeface="Calibri"/>
              </a:rPr>
              <a:t>honorarios brutos en captaciones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(51,5% del total Q1) con un </a:t>
            </a:r>
            <a:r>
              <a:rPr lang="es-ES" sz="1050" dirty="0">
                <a:solidFill>
                  <a:srgbClr val="1A1F2E"/>
                </a:solidFill>
                <a:latin typeface="Calibri"/>
              </a:rPr>
              <a:t>solo</a:t>
            </a:r>
            <a:r>
              <a:rPr sz="105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F2E"/>
                </a:solidFill>
                <a:latin typeface="Calibri"/>
              </a:rPr>
              <a:t>cierre</a:t>
            </a:r>
            <a:r>
              <a:rPr sz="1050" dirty="0">
                <a:solidFill>
                  <a:srgbClr val="1A1F2E"/>
                </a:solidFill>
                <a:latin typeface="Calibri"/>
              </a:rPr>
              <a:t> de 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1.400 €.</a:t>
            </a:r>
            <a:r>
              <a:rPr lang="es-ES" sz="1050" b="0" i="0" dirty="0">
                <a:solidFill>
                  <a:srgbClr val="1A1F2E"/>
                </a:solidFill>
                <a:latin typeface="Calibri"/>
              </a:rPr>
              <a:t> </a:t>
            </a:r>
            <a:endParaRPr sz="1050" b="0" i="0" dirty="0">
              <a:solidFill>
                <a:srgbClr val="1A1F2E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4783425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783425"/>
            <a:ext cx="137160" cy="868680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4893153"/>
            <a:ext cx="1463040" cy="29260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970207"/>
            <a:ext cx="146304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RIESGO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874865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A2B"/>
                </a:solidFill>
                <a:latin typeface="Calibri"/>
              </a:rPr>
              <a:t>71% de la red AAFF en latencia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194905"/>
            <a:ext cx="9144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 dirty="0">
                <a:solidFill>
                  <a:srgbClr val="1A1F2E"/>
                </a:solidFill>
                <a:latin typeface="Calibri"/>
              </a:rPr>
              <a:t>39 de 55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administradores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no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generaron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ni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captaciones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F2E"/>
                </a:solidFill>
                <a:latin typeface="Calibri"/>
              </a:rPr>
              <a:t>ni</a:t>
            </a:r>
            <a:r>
              <a:rPr sz="105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F2E"/>
                </a:solidFill>
                <a:latin typeface="Calibri"/>
              </a:rPr>
              <a:t>mensajes</a:t>
            </a:r>
            <a:r>
              <a:rPr sz="105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F2E"/>
                </a:solidFill>
                <a:latin typeface="Calibri"/>
              </a:rPr>
              <a:t>en</a:t>
            </a:r>
            <a:r>
              <a:rPr sz="1050" dirty="0">
                <a:solidFill>
                  <a:srgbClr val="1A1F2E"/>
                </a:solidFill>
                <a:latin typeface="Calibri"/>
              </a:rPr>
              <a:t> 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Q1.</a:t>
            </a:r>
            <a:r>
              <a:rPr lang="es-ES" sz="1050" dirty="0"/>
              <a:t> Los AAFF no están respondiendo con la agilidad que el proyecto necesita.</a:t>
            </a:r>
            <a:endParaRPr lang="es-ES" sz="1050" b="0" i="0" dirty="0">
              <a:solidFill>
                <a:srgbClr val="1A1F2E"/>
              </a:solidFill>
              <a:latin typeface="Calibri"/>
            </a:endParaRPr>
          </a:p>
          <a:p>
            <a:pPr algn="l"/>
            <a:r>
              <a:rPr sz="1050" b="0" i="0" dirty="0">
                <a:solidFill>
                  <a:srgbClr val="1A1F2E"/>
                </a:solidFill>
                <a:latin typeface="Calibri"/>
              </a:rPr>
              <a:t>Madrid, Barcelona, Castellón, Sevilla y San Sebastián sin </a:t>
            </a:r>
            <a:r>
              <a:rPr sz="1050" b="0" i="0" dirty="0" err="1">
                <a:solidFill>
                  <a:srgbClr val="1A1F2E"/>
                </a:solidFill>
                <a:latin typeface="Calibri"/>
              </a:rPr>
              <a:t>cierres</a:t>
            </a:r>
            <a:r>
              <a:rPr sz="1050" b="0" i="0" dirty="0">
                <a:solidFill>
                  <a:srgbClr val="1A1F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4446</TotalTime>
  <Words>1692</Words>
  <Application>Microsoft Office PowerPoint</Application>
  <PresentationFormat>Panorámica</PresentationFormat>
  <Paragraphs>566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Rodrigo Güelfo Antona</cp:lastModifiedBy>
  <cp:revision>15</cp:revision>
  <dcterms:created xsi:type="dcterms:W3CDTF">2013-01-27T09:14:16Z</dcterms:created>
  <dcterms:modified xsi:type="dcterms:W3CDTF">2026-05-12T09:36:43Z</dcterms:modified>
  <cp:category/>
</cp:coreProperties>
</file>