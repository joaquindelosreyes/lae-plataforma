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3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1"/>
    <p:restoredTop sz="94631"/>
  </p:normalViewPr>
  <p:slideViewPr>
    <p:cSldViewPr snapToGrid="0" snapToObjects="1">
      <p:cViewPr>
        <p:scale>
          <a:sx n="73" d="100"/>
          <a:sy n="73" d="100"/>
        </p:scale>
        <p:origin x="835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Bruto (€)</c:v>
                </c:pt>
              </c:strCache>
            </c:strRef>
          </c:tx>
          <c:spPr>
            <a:solidFill>
              <a:srgbClr val="0E1D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63475</c:v>
                </c:pt>
                <c:pt idx="1">
                  <c:v>26480</c:v>
                </c:pt>
                <c:pt idx="2">
                  <c:v>102925</c:v>
                </c:pt>
                <c:pt idx="3">
                  <c:v>66102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0-C443-9719-1F8B216EED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Bruto (€)</c:v>
                </c:pt>
              </c:strCache>
            </c:strRef>
          </c:tx>
          <c:spPr>
            <a:solidFill>
              <a:srgbClr val="0E1D3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Málaga</c:v>
                </c:pt>
                <c:pt idx="1">
                  <c:v>Alicante</c:v>
                </c:pt>
                <c:pt idx="2">
                  <c:v>Valencia</c:v>
                </c:pt>
                <c:pt idx="3">
                  <c:v>Jaén</c:v>
                </c:pt>
                <c:pt idx="4">
                  <c:v>Madrid</c:v>
                </c:pt>
                <c:pt idx="5">
                  <c:v>Barcelona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125175</c:v>
                </c:pt>
                <c:pt idx="1">
                  <c:v>67747</c:v>
                </c:pt>
                <c:pt idx="2">
                  <c:v>39510</c:v>
                </c:pt>
                <c:pt idx="3">
                  <c:v>12765</c:v>
                </c:pt>
                <c:pt idx="4">
                  <c:v>8760</c:v>
                </c:pt>
                <c:pt idx="5">
                  <c:v>5025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8-494C-963E-40D115214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LAE neto (€)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Málaga</c:v>
                </c:pt>
                <c:pt idx="1">
                  <c:v>Alicante</c:v>
                </c:pt>
                <c:pt idx="2">
                  <c:v>Valencia</c:v>
                </c:pt>
                <c:pt idx="3">
                  <c:v>Jaén</c:v>
                </c:pt>
                <c:pt idx="4">
                  <c:v>Madrid</c:v>
                </c:pt>
                <c:pt idx="5">
                  <c:v>Barcelona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91220</c:v>
                </c:pt>
                <c:pt idx="1">
                  <c:v>58302</c:v>
                </c:pt>
                <c:pt idx="2">
                  <c:v>39510</c:v>
                </c:pt>
                <c:pt idx="3">
                  <c:v>11359</c:v>
                </c:pt>
                <c:pt idx="4">
                  <c:v>7008</c:v>
                </c:pt>
                <c:pt idx="5">
                  <c:v>5025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8-494C-963E-40D115214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0.54798</cdr:x>
      <cdr:y>0.86971</cdr:y>
    </cdr:from>
    <cdr:to>
      <cdr:x>0.66662</cdr:x>
      <cdr:y>0.94363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a16="http://schemas.microsoft.com/office/drawing/2014/main" id="{C2344A69-1BC4-F283-1740-023A24F02937}"/>
            </a:ext>
          </a:extLst>
        </cdr:cNvPr>
        <cdr:cNvSpPr/>
      </cdr:nvSpPr>
      <cdr:spPr>
        <a:xfrm xmlns:a="http://schemas.openxmlformats.org/drawingml/2006/main">
          <a:off x="3006411" y="1829113"/>
          <a:ext cx="650928" cy="15544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ES" sz="1000" dirty="0">
              <a:solidFill>
                <a:schemeClr val="tx1"/>
              </a:solidFill>
            </a:rPr>
            <a:t>Bruto (€)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2858F-3718-8F4E-81BF-D5B73255C0F9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AFE75-AFD0-2547-AD01-57DF8294C2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8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AFE75-AFD0-2547-AD01-57DF8294C2B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46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69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97280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657600" cy="2743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4114800" cy="8229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600">
                <a:solidFill>
                  <a:srgbClr val="F5F1E8"/>
                </a:solidFill>
                <a:latin typeface="Calibri"/>
              </a:rPr>
              <a:t>RESUMEN EJECUTIVO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400" b="1" i="0" spc="600">
                <a:solidFill>
                  <a:srgbClr val="F5F1E8"/>
                </a:solidFill>
                <a:latin typeface="Calibri"/>
              </a:rPr>
              <a:t>Y 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4389120" cy="17373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500" b="1" i="0">
                <a:solidFill>
                  <a:srgbClr val="FFFFFF"/>
                </a:solidFill>
                <a:latin typeface="Georgia"/>
              </a:rPr>
              <a:t>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54880"/>
            <a:ext cx="2194560" cy="36576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725393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0"/>
            <a:ext cx="64008" cy="685800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822960"/>
            <a:ext cx="6400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600">
                <a:solidFill>
                  <a:srgbClr val="C5A04A"/>
                </a:solidFill>
                <a:latin typeface="Calibri"/>
              </a:rPr>
              <a:t>LAE HOMES PREMIUM AGENCY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280160"/>
            <a:ext cx="6400800" cy="19202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0C1D3F"/>
                </a:solidFill>
                <a:latin typeface="Georgia"/>
              </a:rPr>
              <a:t>Resumen Ejecutivo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0C1D3F"/>
                </a:solidFill>
                <a:latin typeface="Georgia"/>
              </a:rPr>
              <a:t>y Conclusiones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383280"/>
            <a:ext cx="1097280" cy="36576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4069080"/>
            <a:ext cx="21031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60" y="4069080"/>
            <a:ext cx="2103120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0" y="4297680"/>
            <a:ext cx="2103120" cy="7315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3400" b="1" i="0">
                <a:solidFill>
                  <a:srgbClr val="C5A04A"/>
                </a:solidFill>
                <a:latin typeface="Georgia"/>
              </a:rPr>
              <a:t>+64%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937760"/>
            <a:ext cx="1920239" cy="21544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0" i="0">
                <a:solidFill>
                  <a:srgbClr val="3D4657"/>
                </a:solidFill>
                <a:latin typeface="Calibri"/>
              </a:rPr>
              <a:t>Operaciones cerradas vs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2672" y="4069080"/>
            <a:ext cx="21031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62672" y="4069080"/>
            <a:ext cx="2103120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2" y="4297680"/>
            <a:ext cx="2103120" cy="7315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3400" b="1" i="0">
                <a:solidFill>
                  <a:srgbClr val="C5A04A"/>
                </a:solidFill>
                <a:latin typeface="Georgia"/>
              </a:rPr>
              <a:t>+70%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937760"/>
            <a:ext cx="1920239" cy="21544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0" i="0">
                <a:solidFill>
                  <a:srgbClr val="3D4657"/>
                </a:solidFill>
                <a:latin typeface="Calibri"/>
              </a:rPr>
              <a:t>Valor honorarios de exclusivas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30384" y="4069080"/>
            <a:ext cx="21031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30384" y="4069080"/>
            <a:ext cx="2103120" cy="54864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4297680"/>
            <a:ext cx="2103120" cy="7315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3400" b="1" i="0">
                <a:solidFill>
                  <a:srgbClr val="D66453"/>
                </a:solidFill>
                <a:latin typeface="Georgia"/>
              </a:rPr>
              <a:t>48%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4937760"/>
            <a:ext cx="1920239" cy="21544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0" i="0">
                <a:solidFill>
                  <a:srgbClr val="3D4657"/>
                </a:solidFill>
                <a:latin typeface="Calibri"/>
              </a:rPr>
              <a:t>Cumplimiento objetivo 3M€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6172200"/>
            <a:ext cx="6400800" cy="1828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 descr="Texto&#10;&#10;Descripción generada automáticamente">
            <a:extLst>
              <a:ext uri="{FF2B5EF4-FFF2-40B4-BE49-F238E27FC236}">
                <a16:creationId xmlns:a16="http://schemas.microsoft.com/office/drawing/2014/main" id="{1A8265A1-E89D-DBCB-785B-3DA2C9730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55" y="658368"/>
            <a:ext cx="2862545" cy="1034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</a:t>
            </a:r>
            <a:r>
              <a:rPr lang="es-ES" sz="900" b="0" i="0" spc="150" dirty="0">
                <a:solidFill>
                  <a:srgbClr val="ECE6D6"/>
                </a:solidFill>
                <a:latin typeface="Calibri"/>
              </a:rPr>
              <a:t>5</a:t>
            </a:r>
            <a:endParaRPr sz="900" b="0" i="0" spc="150" dirty="0">
              <a:solidFill>
                <a:srgbClr val="ECE6D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0" y="6601968"/>
            <a:ext cx="576072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La Dualidad del Ejercicio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El modelo escala · La conversión frena la facturación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5577840" cy="10972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55778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600">
                <a:solidFill>
                  <a:srgbClr val="C5A04A"/>
                </a:solidFill>
                <a:latin typeface="Calibri"/>
              </a:rPr>
              <a:t>EL 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5120640" cy="384721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 dirty="0">
                <a:solidFill>
                  <a:srgbClr val="0C1D3F"/>
                </a:solidFill>
                <a:latin typeface="Georgia"/>
              </a:rPr>
              <a:t>El </a:t>
            </a:r>
            <a:r>
              <a:rPr sz="2200" b="1" i="0" dirty="0" err="1">
                <a:solidFill>
                  <a:srgbClr val="0C1D3F"/>
                </a:solidFill>
                <a:latin typeface="Georgia"/>
              </a:rPr>
              <a:t>modelo</a:t>
            </a:r>
            <a:r>
              <a:rPr sz="2200" b="1" i="0" dirty="0">
                <a:solidFill>
                  <a:srgbClr val="0C1D3F"/>
                </a:solidFill>
                <a:latin typeface="Georgia"/>
              </a:rPr>
              <a:t> </a:t>
            </a:r>
            <a:r>
              <a:rPr sz="2200" b="1" i="0" dirty="0" err="1">
                <a:solidFill>
                  <a:srgbClr val="0C1D3F"/>
                </a:solidFill>
                <a:latin typeface="Georgia"/>
              </a:rPr>
              <a:t>escala</a:t>
            </a:r>
            <a:endParaRPr sz="2200" b="1" i="0" dirty="0">
              <a:solidFill>
                <a:srgbClr val="0C1D3F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201168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4200" b="1" i="0">
                <a:solidFill>
                  <a:srgbClr val="C5A04A"/>
                </a:solidFill>
                <a:latin typeface="Georgia"/>
              </a:rPr>
              <a:t>+64%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87752"/>
            <a:ext cx="2834639" cy="5194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en operaciones cerradas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frente a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02152"/>
            <a:ext cx="201168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4200" b="1" i="0">
                <a:solidFill>
                  <a:srgbClr val="C5A04A"/>
                </a:solidFill>
                <a:latin typeface="Georgia"/>
              </a:rPr>
              <a:t>+70%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75304"/>
            <a:ext cx="2834639" cy="5194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en valor de honorarios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de exclusivas captadas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9704"/>
            <a:ext cx="201168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4200" b="1" i="0">
                <a:solidFill>
                  <a:srgbClr val="C5A04A"/>
                </a:solidFill>
                <a:latin typeface="Georgia"/>
              </a:rPr>
              <a:t>+50%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62856"/>
            <a:ext cx="2834639" cy="5194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de crecimiento interanual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en facturación (958k€ → 1,43M€)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097280"/>
            <a:ext cx="5577840" cy="109728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5778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600">
                <a:solidFill>
                  <a:srgbClr val="D66453"/>
                </a:solidFill>
                <a:latin typeface="Calibri"/>
              </a:rPr>
              <a:t>LA REALIDAD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5120640" cy="5486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>
                <a:solidFill>
                  <a:srgbClr val="0C1D3F"/>
                </a:solidFill>
                <a:latin typeface="Georgia"/>
              </a:rPr>
              <a:t>La conversión frena la facturación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256032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3500" b="1" i="0">
                <a:solidFill>
                  <a:srgbClr val="D66453"/>
                </a:solidFill>
                <a:latin typeface="Georgia"/>
              </a:rPr>
              <a:t>1,43M€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87752"/>
            <a:ext cx="2377439" cy="5194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facturados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frente a objetivo agresivo de 3M€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02152"/>
            <a:ext cx="256032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3500" b="1" i="0">
                <a:solidFill>
                  <a:srgbClr val="D66453"/>
                </a:solidFill>
                <a:latin typeface="Georgia"/>
              </a:rPr>
              <a:t>48%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75304"/>
            <a:ext cx="2377439" cy="5194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cumplimiento a nivel nacional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del objetivo fijado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9704"/>
            <a:ext cx="2560320" cy="7772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3500" b="1" i="0">
                <a:solidFill>
                  <a:srgbClr val="D66453"/>
                </a:solidFill>
                <a:latin typeface="Georgia"/>
              </a:rPr>
              <a:t>329k€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62856"/>
            <a:ext cx="2377439" cy="731803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D3F"/>
                </a:solidFill>
                <a:latin typeface="Calibri"/>
              </a:rPr>
              <a:t>pendientes de cobro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3D4657"/>
                </a:solidFill>
                <a:latin typeface="Calibri"/>
              </a:rPr>
              <a:t>señales/arras con 88 operaciones abiertas</a:t>
            </a:r>
          </a:p>
        </p:txBody>
      </p:sp>
      <p:sp>
        <p:nvSpPr>
          <p:cNvPr id="30" name="Oval 29"/>
          <p:cNvSpPr/>
          <p:nvPr/>
        </p:nvSpPr>
        <p:spPr>
          <a:xfrm>
            <a:off x="5715000" y="3246120"/>
            <a:ext cx="548640" cy="548640"/>
          </a:xfrm>
          <a:prstGeom prst="ellipse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03849" y="3264408"/>
            <a:ext cx="548640" cy="5029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600" b="1" i="0" dirty="0">
                <a:solidFill>
                  <a:srgbClr val="C5A04A"/>
                </a:solidFill>
                <a:latin typeface="Georgia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897880"/>
            <a:ext cx="91440" cy="41148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988204"/>
            <a:ext cx="10972800" cy="2308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 dirty="0">
                <a:solidFill>
                  <a:srgbClr val="F5F1E8"/>
                </a:solidFill>
                <a:latin typeface="Georgia"/>
              </a:rPr>
              <a:t>El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problema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no es la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generación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de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oportunidades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; es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el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cierre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del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inventario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captado</a:t>
            </a:r>
            <a:r>
              <a:rPr lang="es-ES" sz="1200" i="1" dirty="0">
                <a:solidFill>
                  <a:srgbClr val="F5F1E8"/>
                </a:solidFill>
                <a:latin typeface="Georgia"/>
              </a:rPr>
              <a:t> (salud de las captaciones)</a:t>
            </a:r>
            <a:endParaRPr sz="1200" b="0" i="1" dirty="0">
              <a:solidFill>
                <a:srgbClr val="F5F1E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6828" y="6601968"/>
            <a:ext cx="6498931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Análisis de Facturación: Desfase entre Objetivo y Realidad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713232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73152" cy="530352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71323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DE OBJETIVO A FACTURACIÓN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19"/>
            <a:ext cx="71323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700" b="1" i="0">
                <a:solidFill>
                  <a:srgbClr val="0C1D3F"/>
                </a:solidFill>
                <a:latin typeface="Georgia"/>
              </a:rPr>
              <a:t>Cascada 2025 (€ honorarios LAE)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6080759"/>
            <a:ext cx="6126479" cy="0"/>
          </a:xfrm>
          <a:prstGeom prst="line">
            <a:avLst/>
          </a:prstGeom>
          <a:ln w="12700">
            <a:solidFill>
              <a:srgbClr val="7C8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2331720"/>
            <a:ext cx="6126479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221991"/>
            <a:ext cx="64008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3M€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3581399"/>
            <a:ext cx="6126479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471671"/>
            <a:ext cx="64008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2M€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4831080"/>
            <a:ext cx="6126479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721352"/>
            <a:ext cx="64008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1M€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6080759"/>
            <a:ext cx="6126479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5971031"/>
            <a:ext cx="64008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0€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9343" y="2331720"/>
            <a:ext cx="1005840" cy="3749039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72184" y="3931920"/>
            <a:ext cx="1280160" cy="5486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3.000.000€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6126479"/>
            <a:ext cx="17373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>
                <a:solidFill>
                  <a:srgbClr val="0C1D3F"/>
                </a:solidFill>
                <a:latin typeface="Calibri"/>
              </a:rPr>
              <a:t>Objetivo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2331720"/>
            <a:ext cx="1005840" cy="1958248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98648" y="3127964"/>
            <a:ext cx="1280160" cy="3657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−1,57M€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6126479"/>
            <a:ext cx="17373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>
                <a:solidFill>
                  <a:srgbClr val="D66453"/>
                </a:solidFill>
                <a:latin typeface="Calibri"/>
              </a:rPr>
              <a:t>Brecha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4289968"/>
            <a:ext cx="1005840" cy="1790791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4472848"/>
            <a:ext cx="128016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1" i="0">
                <a:solidFill>
                  <a:srgbClr val="0C1D3F"/>
                </a:solidFill>
                <a:latin typeface="Calibri"/>
              </a:rPr>
              <a:t>1,43M€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6511" y="6126479"/>
            <a:ext cx="17373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>
                <a:solidFill>
                  <a:srgbClr val="0C1D3F"/>
                </a:solidFill>
                <a:latin typeface="Calibri"/>
              </a:rPr>
              <a:t>Honorarios LAE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4289968"/>
            <a:ext cx="1005840" cy="1790791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88736" y="3877574"/>
            <a:ext cx="1005840" cy="412394"/>
          </a:xfrm>
          <a:prstGeom prst="rect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51575" y="3946611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+329k€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5" y="6126479"/>
            <a:ext cx="17373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>
                <a:solidFill>
                  <a:srgbClr val="3D4657"/>
                </a:solidFill>
                <a:latin typeface="Calibri"/>
              </a:rPr>
              <a:t>Pdte. cobro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1097280"/>
            <a:ext cx="3931920" cy="530352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18120" y="1097280"/>
            <a:ext cx="393192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1371600"/>
            <a:ext cx="356616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LA LECTURA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1965960"/>
            <a:ext cx="3566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E0C47E"/>
                </a:solidFill>
                <a:latin typeface="Georgia"/>
              </a:rPr>
              <a:t>1.433.268€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404872"/>
            <a:ext cx="36423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0" i="0">
                <a:solidFill>
                  <a:srgbClr val="ECE6D6"/>
                </a:solidFill>
                <a:latin typeface="Calibri"/>
              </a:rPr>
              <a:t>Honorarios LAE logrados en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770632"/>
            <a:ext cx="3383279" cy="13716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92440" y="2862072"/>
            <a:ext cx="3566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E89282"/>
                </a:solidFill>
                <a:latin typeface="Georgia"/>
              </a:rPr>
              <a:t>−1.566.732€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300984"/>
            <a:ext cx="36423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0" i="0">
                <a:solidFill>
                  <a:srgbClr val="ECE6D6"/>
                </a:solidFill>
                <a:latin typeface="Calibri"/>
              </a:rPr>
              <a:t>Brecha respecto al objetivo 3M€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3666744"/>
            <a:ext cx="3383279" cy="13716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92440" y="3758183"/>
            <a:ext cx="3566160" cy="353943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 dirty="0">
                <a:solidFill>
                  <a:srgbClr val="F5F1E8"/>
                </a:solidFill>
                <a:latin typeface="Georgia"/>
              </a:rPr>
              <a:t>329.596€</a:t>
            </a:r>
            <a:r>
              <a:rPr lang="es-ES" sz="2000" b="1" i="0" dirty="0">
                <a:solidFill>
                  <a:srgbClr val="F5F1E8"/>
                </a:solidFill>
                <a:latin typeface="Georgia"/>
              </a:rPr>
              <a:t> Hon. LAE</a:t>
            </a:r>
            <a:endParaRPr sz="2000" b="1" i="0" dirty="0">
              <a:solidFill>
                <a:srgbClr val="F5F1E8"/>
              </a:solidFill>
              <a:latin typeface="Georgi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92440" y="4197096"/>
            <a:ext cx="36423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0" i="0">
                <a:solidFill>
                  <a:srgbClr val="ECE6D6"/>
                </a:solidFill>
                <a:latin typeface="Calibri"/>
              </a:rPr>
              <a:t>Pendientes de cobro (señal/arras)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4562855"/>
            <a:ext cx="3383279" cy="13716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92440" y="4654296"/>
            <a:ext cx="3566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E0C47E"/>
                </a:solidFill>
                <a:latin typeface="Georgia"/>
              </a:rPr>
              <a:t>+50%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093208"/>
            <a:ext cx="36423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0" i="0">
                <a:solidFill>
                  <a:srgbClr val="ECE6D6"/>
                </a:solidFill>
                <a:latin typeface="Calibri"/>
              </a:rPr>
              <a:t>Crecimiento vs 2024  ·  desde 958.596€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5458968"/>
            <a:ext cx="3383279" cy="13716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5687568"/>
            <a:ext cx="3642360" cy="22108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dirty="0">
                <a:solidFill>
                  <a:srgbClr val="E0C47E"/>
                </a:solidFill>
                <a:latin typeface="Calibri"/>
              </a:rPr>
              <a:t>88 </a:t>
            </a:r>
            <a:r>
              <a:rPr sz="1050" b="0" i="1" dirty="0" err="1">
                <a:solidFill>
                  <a:srgbClr val="E0C47E"/>
                </a:solidFill>
                <a:latin typeface="Calibri"/>
              </a:rPr>
              <a:t>operaciones</a:t>
            </a:r>
            <a:r>
              <a:rPr sz="1050" b="0" i="1" dirty="0">
                <a:solidFill>
                  <a:srgbClr val="E0C47E"/>
                </a:solidFill>
                <a:latin typeface="Calibri"/>
              </a:rPr>
              <a:t> con </a:t>
            </a:r>
            <a:r>
              <a:rPr sz="1050" b="0" i="1" dirty="0" err="1">
                <a:solidFill>
                  <a:srgbClr val="E0C47E"/>
                </a:solidFill>
                <a:latin typeface="Calibri"/>
              </a:rPr>
              <a:t>señal</a:t>
            </a:r>
            <a:r>
              <a:rPr sz="1050" b="0" i="1" dirty="0">
                <a:solidFill>
                  <a:srgbClr val="E0C47E"/>
                </a:solidFill>
                <a:latin typeface="Calibri"/>
              </a:rPr>
              <a:t>/arras </a:t>
            </a:r>
            <a:r>
              <a:rPr sz="1050" b="0" i="1" dirty="0" err="1">
                <a:solidFill>
                  <a:srgbClr val="E0C47E"/>
                </a:solidFill>
                <a:latin typeface="Calibri"/>
              </a:rPr>
              <a:t>pendientes</a:t>
            </a:r>
            <a:r>
              <a:rPr sz="1050" b="0" i="1" dirty="0">
                <a:solidFill>
                  <a:srgbClr val="E0C47E"/>
                </a:solidFill>
                <a:latin typeface="Calibri"/>
              </a:rPr>
              <a:t> de </a:t>
            </a:r>
            <a:r>
              <a:rPr sz="1050" b="0" i="1" dirty="0" err="1">
                <a:solidFill>
                  <a:srgbClr val="E0C47E"/>
                </a:solidFill>
                <a:latin typeface="Calibri"/>
              </a:rPr>
              <a:t>escriturar</a:t>
            </a:r>
            <a:r>
              <a:rPr sz="1050" b="0" i="1" dirty="0">
                <a:solidFill>
                  <a:srgbClr val="E0C47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601968"/>
            <a:ext cx="569976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El Valor Refugiado: Cartera y Potencial de Exclusivas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A 31 de diciembre de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73152" cy="530352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53035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CARTERA TOTAL DISPONIBLE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2834640" cy="17373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7800" b="1" i="0">
                <a:solidFill>
                  <a:srgbClr val="0C1D3F"/>
                </a:solidFill>
                <a:latin typeface="Georgia"/>
              </a:rPr>
              <a:t>215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C1D3F"/>
                </a:solidFill>
                <a:latin typeface="Georgia"/>
              </a:rPr>
              <a:t>propiedades</a:t>
            </a:r>
          </a:p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C5A"/>
                </a:solidFill>
                <a:latin typeface="Georgia"/>
              </a:rPr>
              <a:t>captadas en 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5120640" cy="18288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3200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3D4657"/>
                </a:solidFill>
                <a:latin typeface="Calibri"/>
              </a:rPr>
              <a:t>Valor total de honorarios potenciales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40480"/>
            <a:ext cx="192024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2200" b="1" i="0">
                <a:solidFill>
                  <a:srgbClr val="C5A04A"/>
                </a:solidFill>
                <a:latin typeface="Georgia"/>
              </a:rPr>
              <a:t>6.293.747€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2"/>
            <a:ext cx="51206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 dirty="0">
                <a:solidFill>
                  <a:srgbClr val="C5A04A"/>
                </a:solidFill>
                <a:latin typeface="Calibri"/>
              </a:rPr>
              <a:t>POTENCIAL CLAVE  ·  LAS 75 EXCLUSIVAS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2"/>
            <a:ext cx="512064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800" b="1" i="0">
                <a:solidFill>
                  <a:srgbClr val="0C1D3F"/>
                </a:solidFill>
                <a:latin typeface="Georgia"/>
              </a:rPr>
              <a:t>1.851.308€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2"/>
            <a:ext cx="5120640" cy="21544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1" dirty="0" err="1">
                <a:solidFill>
                  <a:srgbClr val="3D4657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D4657"/>
                </a:solidFill>
                <a:latin typeface="Calibri"/>
              </a:rPr>
              <a:t>honorarios</a:t>
            </a:r>
            <a:r>
              <a:rPr sz="11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D4657"/>
                </a:solidFill>
                <a:latin typeface="Calibri"/>
              </a:rPr>
              <a:t>inventario</a:t>
            </a:r>
            <a:r>
              <a:rPr sz="11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lang="es-ES" sz="1100" b="0" i="1" dirty="0">
                <a:solidFill>
                  <a:srgbClr val="3D4657"/>
                </a:solidFill>
                <a:latin typeface="Calibri"/>
              </a:rPr>
              <a:t>de exclusivas</a:t>
            </a:r>
            <a:endParaRPr sz="1100" b="0" i="1" dirty="0">
              <a:solidFill>
                <a:srgbClr val="3D4657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55080" y="1097280"/>
            <a:ext cx="5394960" cy="530352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1097280"/>
            <a:ext cx="539496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1371600"/>
            <a:ext cx="50292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ANÁLISIS ESTRATÉGICO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2039112"/>
            <a:ext cx="164592" cy="164592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1965960"/>
            <a:ext cx="475488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300">
                <a:solidFill>
                  <a:srgbClr val="C5A04A"/>
                </a:solidFill>
                <a:latin typeface="Calibri"/>
              </a:rPr>
              <a:t>VALOR BLOQUEADO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286000"/>
            <a:ext cx="4572000" cy="4388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5F1E8"/>
                </a:solidFill>
                <a:latin typeface="Calibri"/>
              </a:rPr>
              <a:t>Casi 2 millones de euros en honorarios retenidos en la cartera activa de exclusivas. Operaciones captadas pero no cerradas.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3090672"/>
            <a:ext cx="164592" cy="164592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03720" y="3017520"/>
            <a:ext cx="475488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300">
                <a:solidFill>
                  <a:srgbClr val="C5A04A"/>
                </a:solidFill>
                <a:latin typeface="Calibri"/>
              </a:rPr>
              <a:t>FOCO INMEDIATO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337560"/>
            <a:ext cx="4572000" cy="23570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F5F1E8"/>
                </a:solidFill>
                <a:latin typeface="Calibri"/>
              </a:rPr>
              <a:t>El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seguimiento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activo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marketing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dirigido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sobre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las 75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exclusivas</a:t>
            </a:r>
            <a:r>
              <a:rPr lang="es-ES" sz="1100" b="0" i="0" dirty="0">
                <a:solidFill>
                  <a:srgbClr val="F5F1E8"/>
                </a:solidFill>
                <a:latin typeface="Calibri"/>
              </a:rPr>
              <a:t>.</a:t>
            </a:r>
            <a:endParaRPr sz="1100" b="0" i="0" dirty="0">
              <a:solidFill>
                <a:srgbClr val="F5F1E8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629400" y="4142231"/>
            <a:ext cx="164592" cy="164592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03720" y="4069079"/>
            <a:ext cx="475488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300">
                <a:solidFill>
                  <a:srgbClr val="C5A04A"/>
                </a:solidFill>
                <a:latin typeface="Calibri"/>
              </a:rPr>
              <a:t>POTENCIAL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389119"/>
            <a:ext cx="4572000" cy="43883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5F1E8"/>
                </a:solidFill>
                <a:latin typeface="Calibri"/>
              </a:rPr>
              <a:t>Con 6,3M€ en honorarios latentes en cartera, LAE HOMES tiene base suficiente para superar el objetivo 2026 de 2,5M€.</a:t>
            </a:r>
          </a:p>
        </p:txBody>
      </p:sp>
      <p:sp>
        <p:nvSpPr>
          <p:cNvPr id="39" name="Oval 38"/>
          <p:cNvSpPr/>
          <p:nvPr/>
        </p:nvSpPr>
        <p:spPr>
          <a:xfrm>
            <a:off x="6629400" y="5193792"/>
            <a:ext cx="164592" cy="164592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03720" y="5120640"/>
            <a:ext cx="475488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300">
                <a:solidFill>
                  <a:srgbClr val="C5A04A"/>
                </a:solidFill>
                <a:latin typeface="Calibri"/>
              </a:rPr>
              <a:t>ACCIÓN URGENTE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440679"/>
            <a:ext cx="4572000" cy="23570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F5F1E8"/>
                </a:solidFill>
                <a:latin typeface="Calibri"/>
              </a:rPr>
              <a:t>El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problema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 no es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volumen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, es </a:t>
            </a:r>
            <a:r>
              <a:rPr sz="1100" b="0" i="0" dirty="0" err="1">
                <a:solidFill>
                  <a:srgbClr val="F5F1E8"/>
                </a:solidFill>
                <a:latin typeface="Calibri"/>
              </a:rPr>
              <a:t>conversión</a:t>
            </a:r>
            <a:r>
              <a:rPr sz="1100" b="0" i="0" dirty="0">
                <a:solidFill>
                  <a:srgbClr val="F5F1E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9492" y="6601968"/>
            <a:ext cx="6376267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Mapa Territorial de Rendimiento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Posicionamiento de cada oficina · facturación vs. cumplimiento del 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713232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73152" cy="530352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001129"/>
            <a:ext cx="5943600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199" y="1891401"/>
            <a:ext cx="7772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600k€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3239086"/>
            <a:ext cx="5943600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199" y="3129358"/>
            <a:ext cx="7772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400k€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4477043"/>
            <a:ext cx="5943600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199" y="4367315"/>
            <a:ext cx="7772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200k€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5715000"/>
            <a:ext cx="5943600" cy="0"/>
          </a:xfrm>
          <a:prstGeom prst="line">
            <a:avLst/>
          </a:prstGeom>
          <a:ln w="635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199" y="5605272"/>
            <a:ext cx="7772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0">
                <a:solidFill>
                  <a:srgbClr val="7C879A"/>
                </a:solidFill>
                <a:latin typeface="Calibri"/>
              </a:rPr>
              <a:t>0€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39" y="5760720"/>
            <a:ext cx="5486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900" b="0" i="0">
                <a:solidFill>
                  <a:srgbClr val="7C879A"/>
                </a:solidFill>
                <a:latin typeface="Calibri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6658" y="5760720"/>
            <a:ext cx="5486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900" b="0" i="0">
                <a:solidFill>
                  <a:srgbClr val="7C879A"/>
                </a:solidFill>
                <a:latin typeface="Calibr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7476" y="5760720"/>
            <a:ext cx="5486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900" b="0" i="0">
                <a:solidFill>
                  <a:srgbClr val="7C879A"/>
                </a:solidFill>
                <a:latin typeface="Calibri"/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8294" y="5760720"/>
            <a:ext cx="5486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900" b="0" i="0">
                <a:solidFill>
                  <a:srgbClr val="7C879A"/>
                </a:solidFill>
                <a:latin typeface="Calibri"/>
              </a:rP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112" y="5760720"/>
            <a:ext cx="54864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900" b="0" i="0">
                <a:solidFill>
                  <a:srgbClr val="7C879A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371600"/>
            <a:ext cx="66751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200">
                <a:solidFill>
                  <a:srgbClr val="142C5A"/>
                </a:solidFill>
                <a:latin typeface="Calibri"/>
              </a:rPr>
              <a:t>Facturación honorarios LAE (€)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6035040"/>
            <a:ext cx="59436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 spc="200">
                <a:solidFill>
                  <a:srgbClr val="142C5A"/>
                </a:solidFill>
                <a:latin typeface="Calibri"/>
              </a:rPr>
              <a:t>% Cumplimiento del objetivo 2025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81796" y="1691640"/>
            <a:ext cx="0" cy="4023360"/>
          </a:xfrm>
          <a:prstGeom prst="line">
            <a:avLst/>
          </a:prstGeom>
          <a:ln w="6350">
            <a:solidFill>
              <a:srgbClr val="7C8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486005" y="1861085"/>
            <a:ext cx="502920" cy="502920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07213" y="1957097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San Sebastián</a:t>
            </a:r>
          </a:p>
        </p:txBody>
      </p:sp>
      <p:sp>
        <p:nvSpPr>
          <p:cNvPr id="30" name="Oval 29"/>
          <p:cNvSpPr/>
          <p:nvPr/>
        </p:nvSpPr>
        <p:spPr>
          <a:xfrm>
            <a:off x="4330930" y="4414160"/>
            <a:ext cx="274320" cy="274320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23538" y="4395872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Málaga</a:t>
            </a:r>
          </a:p>
        </p:txBody>
      </p:sp>
      <p:sp>
        <p:nvSpPr>
          <p:cNvPr id="32" name="Oval 31"/>
          <p:cNvSpPr/>
          <p:nvPr/>
        </p:nvSpPr>
        <p:spPr>
          <a:xfrm>
            <a:off x="3691682" y="4565669"/>
            <a:ext cx="256032" cy="256032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66002" y="4538237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Marbella</a:t>
            </a:r>
          </a:p>
        </p:txBody>
      </p:sp>
      <p:sp>
        <p:nvSpPr>
          <p:cNvPr id="34" name="Oval 33"/>
          <p:cNvSpPr/>
          <p:nvPr/>
        </p:nvSpPr>
        <p:spPr>
          <a:xfrm>
            <a:off x="3435234" y="4814597"/>
            <a:ext cx="228600" cy="228600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2122" y="4773449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Madrid</a:t>
            </a:r>
          </a:p>
        </p:txBody>
      </p:sp>
      <p:sp>
        <p:nvSpPr>
          <p:cNvPr id="36" name="Oval 35"/>
          <p:cNvSpPr/>
          <p:nvPr/>
        </p:nvSpPr>
        <p:spPr>
          <a:xfrm>
            <a:off x="3070721" y="5026386"/>
            <a:ext cx="201168" cy="201168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0177" y="4971522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Alicante</a:t>
            </a:r>
          </a:p>
        </p:txBody>
      </p:sp>
      <p:sp>
        <p:nvSpPr>
          <p:cNvPr id="38" name="Oval 37"/>
          <p:cNvSpPr/>
          <p:nvPr/>
        </p:nvSpPr>
        <p:spPr>
          <a:xfrm>
            <a:off x="2718261" y="5086455"/>
            <a:ext cx="182880" cy="182880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19429" y="5022447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Jaén</a:t>
            </a:r>
          </a:p>
        </p:txBody>
      </p:sp>
      <p:sp>
        <p:nvSpPr>
          <p:cNvPr id="40" name="Oval 39"/>
          <p:cNvSpPr/>
          <p:nvPr/>
        </p:nvSpPr>
        <p:spPr>
          <a:xfrm>
            <a:off x="2992581" y="5115997"/>
            <a:ext cx="182880" cy="182880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93749" y="5051989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Sevilla</a:t>
            </a:r>
          </a:p>
        </p:txBody>
      </p:sp>
      <p:sp>
        <p:nvSpPr>
          <p:cNvPr id="42" name="Oval 41"/>
          <p:cNvSpPr/>
          <p:nvPr/>
        </p:nvSpPr>
        <p:spPr>
          <a:xfrm>
            <a:off x="2692492" y="5057335"/>
            <a:ext cx="201168" cy="201168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11948" y="5002471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Barcelona</a:t>
            </a:r>
          </a:p>
        </p:txBody>
      </p:sp>
      <p:sp>
        <p:nvSpPr>
          <p:cNvPr id="44" name="Oval 43"/>
          <p:cNvSpPr/>
          <p:nvPr/>
        </p:nvSpPr>
        <p:spPr>
          <a:xfrm>
            <a:off x="2617677" y="5292125"/>
            <a:ext cx="201168" cy="201168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37133" y="5237261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Valencia</a:t>
            </a:r>
          </a:p>
        </p:txBody>
      </p:sp>
      <p:sp>
        <p:nvSpPr>
          <p:cNvPr id="46" name="Oval 45"/>
          <p:cNvSpPr/>
          <p:nvPr/>
        </p:nvSpPr>
        <p:spPr>
          <a:xfrm>
            <a:off x="1251896" y="5570806"/>
            <a:ext cx="164592" cy="164592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34776" y="5497654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Santander</a:t>
            </a:r>
          </a:p>
        </p:txBody>
      </p:sp>
      <p:sp>
        <p:nvSpPr>
          <p:cNvPr id="48" name="Oval 47"/>
          <p:cNvSpPr/>
          <p:nvPr/>
        </p:nvSpPr>
        <p:spPr>
          <a:xfrm>
            <a:off x="1426463" y="5631297"/>
            <a:ext cx="164592" cy="164592"/>
          </a:xfrm>
          <a:prstGeom prst="ellipse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609344" y="5558145"/>
            <a:ext cx="1280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50" b="1" i="0">
                <a:solidFill>
                  <a:srgbClr val="0C1D3F"/>
                </a:solidFill>
                <a:latin typeface="Calibri"/>
              </a:rPr>
              <a:t>Castellón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1097280"/>
            <a:ext cx="3931920" cy="530352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818120" y="1097280"/>
            <a:ext cx="393192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1371600"/>
            <a:ext cx="35661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1" i="0" spc="400">
                <a:solidFill>
                  <a:srgbClr val="C5A04A"/>
                </a:solidFill>
                <a:latin typeface="Calibri"/>
              </a:rPr>
              <a:t>LÍDERES DE LA 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1664208"/>
            <a:ext cx="731520" cy="1828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8092440" y="1737360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San Sebastián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1737360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C5A04A"/>
                </a:solidFill>
                <a:latin typeface="Calibri"/>
              </a:rPr>
              <a:t>582.092€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1993392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101% obj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194560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Málaga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2194560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C5A04A"/>
                </a:solidFill>
                <a:latin typeface="Calibri"/>
              </a:rPr>
              <a:t>188.339€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2450592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59% obj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2651760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Marbella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2651760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C5A04A"/>
                </a:solidFill>
                <a:latin typeface="Calibri"/>
              </a:rPr>
              <a:t>164.980€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40" y="2907792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47% obj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3182112"/>
            <a:ext cx="35661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1" i="0" spc="400">
                <a:solidFill>
                  <a:srgbClr val="D66453"/>
                </a:solidFill>
                <a:latin typeface="Calibri"/>
              </a:rPr>
              <a:t>EN REESTRUCTURACIÓN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3474720"/>
            <a:ext cx="731520" cy="18288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8092440" y="3547872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Barcelona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3547872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D66453"/>
                </a:solidFill>
                <a:latin typeface="Calibri"/>
              </a:rPr>
              <a:t>90.420€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3803904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28% obj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4005072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Valencia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21240" y="4005072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D66453"/>
                </a:solidFill>
                <a:latin typeface="Calibri"/>
              </a:rPr>
              <a:t>88.970€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4261104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30% obj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2440" y="4462272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Santander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21240" y="4462272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D66453"/>
                </a:solidFill>
                <a:latin typeface="Calibri"/>
              </a:rPr>
              <a:t>9.940€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21240" y="4718304"/>
            <a:ext cx="1645920" cy="20005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000" b="0" i="1">
                <a:solidFill>
                  <a:srgbClr val="ECE6D6"/>
                </a:solidFill>
                <a:latin typeface="Calibri"/>
              </a:rPr>
              <a:t>1% obj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4992624"/>
            <a:ext cx="3566160" cy="20774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50" b="1" i="0" spc="400">
                <a:solidFill>
                  <a:srgbClr val="F5F1E8"/>
                </a:solidFill>
                <a:latin typeface="Calibri"/>
              </a:rPr>
              <a:t>APERTURA RECIENTE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2440" y="5285232"/>
            <a:ext cx="731520" cy="1828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TextBox 75"/>
          <p:cNvSpPr txBox="1"/>
          <p:nvPr/>
        </p:nvSpPr>
        <p:spPr>
          <a:xfrm>
            <a:off x="8092440" y="5358384"/>
            <a:ext cx="182880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>
                <a:solidFill>
                  <a:srgbClr val="F5F1E8"/>
                </a:solidFill>
                <a:latin typeface="Calibri"/>
              </a:rPr>
              <a:t>Castellón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21240" y="5358384"/>
            <a:ext cx="16459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1" i="0">
                <a:solidFill>
                  <a:srgbClr val="F5F1E8"/>
                </a:solidFill>
                <a:latin typeface="Calibri"/>
              </a:rPr>
              <a:t>nuevo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21240" y="5614416"/>
            <a:ext cx="1645920" cy="228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0" i="1">
                <a:solidFill>
                  <a:srgbClr val="ECE6D6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92440" y="5715000"/>
            <a:ext cx="3383279" cy="1828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092440" y="5934231"/>
            <a:ext cx="3566160" cy="2410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E0C47E"/>
                </a:solidFill>
                <a:latin typeface="Georgia"/>
              </a:rPr>
              <a:t>3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oficinas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generan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el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65%</a:t>
            </a:r>
            <a:r>
              <a:rPr lang="es-ES"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de la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facturación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786634"/>
          </a:xfrm>
          <a:prstGeom prst="rect">
            <a:avLst/>
          </a:prstGeom>
          <a:solidFill>
            <a:srgbClr val="07132B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 HOMES PREMIUM AGENCY  ·  CANAL AAFF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2025  ·  Resumen Ejecutivo Económico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operaciones cerradas en 14 administraciones colaboradoras y 6 ciudades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8288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60604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14400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cerradas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administraciones · 6 ciudades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60604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57600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258.982 €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Brutos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7.000 €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60604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00800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212.424 €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LAE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AAFF 71.638 €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260604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961120" y="182880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144000" y="1993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4400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honorarios brutos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— bruto por trimestre (€)</a:t>
            </a:r>
            <a:endParaRPr lang="en-US" sz="14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48640" y="3794760"/>
          <a:ext cx="6766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7589520" y="3429000"/>
            <a:ext cx="3840480" cy="310896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77724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2025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72400" y="38862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Modalidad 50%, palanca de margen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EF7"/>
                </a:solidFill>
              </a:rPr>
              <a:t>10 ops · 97.290 € brutos · ticket medio 9.729 €.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EF7"/>
                </a:solidFill>
              </a:rPr>
              <a:t>A escalar en 2026.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Modalidad 20%, volumen y capilaridad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EF7"/>
                </a:solidFill>
              </a:rPr>
              <a:t>22 ops · 114.832 € · ticket 5.220 €.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Concentración crítica en 2 AAFF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EEF7"/>
                </a:solidFill>
              </a:rPr>
              <a:t>Equipo Consultores + Mediterráneo = 23 ops · 63,4% del bruto. 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· LAE HOMES Premium Agency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A05CF3C3-5F95-7E75-0ABC-D4475712AB23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281E8F8F-5FF0-FE97-7791-9F1C113E3395}"/>
              </a:ext>
            </a:extLst>
          </p:cNvPr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2F472859-2CB3-A4AF-C1E0-C9FDB63CF6DB}"/>
              </a:ext>
            </a:extLst>
          </p:cNvPr>
          <p:cNvSpPr txBox="1"/>
          <p:nvPr/>
        </p:nvSpPr>
        <p:spPr>
          <a:xfrm>
            <a:off x="5419492" y="6601968"/>
            <a:ext cx="6376267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766560"/>
          </a:xfrm>
          <a:prstGeom prst="rect">
            <a:avLst/>
          </a:prstGeom>
          <a:solidFill>
            <a:srgbClr val="07132B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 HOMES PREMIUM AGENCY  ·  CANAL AAFF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</a:t>
            </a:r>
            <a:r>
              <a:rPr lang="en-US" sz="28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oficina · por modalidad · top administraciones · Total 2025: 37 ops · 258.982 € brutos · 212.424 € LAE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8288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oficina (€)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034762975"/>
              </p:ext>
            </p:extLst>
          </p:nvPr>
        </p:nvGraphicFramePr>
        <p:xfrm>
          <a:off x="548640" y="210312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400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modalidad de honorarios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148840"/>
            <a:ext cx="1207008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00800" y="2148840"/>
            <a:ext cx="54864" cy="1691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510528" y="22219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10528" y="26060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10528" y="2862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10528" y="3118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24.660 €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0528" y="34747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 del bruto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26680" y="2148840"/>
            <a:ext cx="1207008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726680" y="2148840"/>
            <a:ext cx="54864" cy="1691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836408" y="22219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836408" y="26060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36408" y="2862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36408" y="3118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114.832 €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836408" y="34747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44,3% del bruto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052560" y="2148840"/>
            <a:ext cx="1207008" cy="169164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9052560" y="2148840"/>
            <a:ext cx="54864" cy="16916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9162288" y="22219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 ★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162288" y="26060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162288" y="2862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62288" y="3118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97.290 €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62288" y="34747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37,6% del bruto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0378440" y="2148840"/>
            <a:ext cx="1207008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10378440" y="2148840"/>
            <a:ext cx="54864" cy="1691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10488168" y="22219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0488168" y="26060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488168" y="2862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488168" y="3118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22.200 €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488168" y="34747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 del bruto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40080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Modalidad 50%: ticket medio 9.729 € — palanca a escalar en 2026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3152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administraciones por honorarios brutos 2025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731520" y="4572000"/>
          <a:ext cx="10698480" cy="19583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Brutos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LAE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Bruto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Consultores Asesores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95.875 €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67.540 €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Mediterráneo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68.332 €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61.757 €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Aldaba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Gefinsol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8.850 €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Anabel Sánchez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 Iuris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 (8 administraciones)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43.974 €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37.477 €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Text 37"/>
          <p:cNvSpPr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· LAE HOMES Premium Agency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2344A69-1BC4-F283-1740-023A24F02937}"/>
              </a:ext>
            </a:extLst>
          </p:cNvPr>
          <p:cNvSpPr/>
          <p:nvPr/>
        </p:nvSpPr>
        <p:spPr>
          <a:xfrm>
            <a:off x="2696705" y="3931920"/>
            <a:ext cx="650928" cy="155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LAE (€)</a:t>
            </a: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EE236968-57A7-A8A1-9F10-9E55BB7AF55D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7A5CAD8A-365B-0E8A-5391-8839F70EEAF4}"/>
              </a:ext>
            </a:extLst>
          </p:cNvPr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879E1692-F832-F880-CA4E-40E1AB1F699F}"/>
              </a:ext>
            </a:extLst>
          </p:cNvPr>
          <p:cNvSpPr txBox="1"/>
          <p:nvPr/>
        </p:nvSpPr>
        <p:spPr>
          <a:xfrm>
            <a:off x="5419492" y="6601968"/>
            <a:ext cx="6376267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6601968"/>
            <a:ext cx="658368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 dirty="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Modelo AAFF 50-50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6161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400" b="0" i="1" spc="100" dirty="0">
                <a:solidFill>
                  <a:srgbClr val="E0C47E"/>
                </a:solidFill>
                <a:latin typeface="Calibri"/>
              </a:rPr>
              <a:t>El canal </a:t>
            </a:r>
            <a:r>
              <a:rPr sz="1400" b="0" i="1" spc="100" dirty="0" err="1">
                <a:solidFill>
                  <a:srgbClr val="E0C47E"/>
                </a:solidFill>
                <a:latin typeface="Calibri"/>
              </a:rPr>
              <a:t>diferenciador</a:t>
            </a:r>
            <a:r>
              <a:rPr sz="1400" b="0" i="1" spc="100" dirty="0">
                <a:solidFill>
                  <a:srgbClr val="E0C47E"/>
                </a:solidFill>
                <a:latin typeface="Calibri"/>
              </a:rPr>
              <a:t> de LAE HOMES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75488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73152" cy="530352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3891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 dirty="0">
                <a:solidFill>
                  <a:srgbClr val="C5A04A"/>
                </a:solidFill>
                <a:latin typeface="Calibri"/>
              </a:rPr>
              <a:t>OBJETIVO 100 DESPACHOS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19843"/>
            <a:ext cx="4206240" cy="204671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lang="es-ES" sz="13000" b="1" dirty="0">
                <a:solidFill>
                  <a:srgbClr val="C5A04A"/>
                </a:solidFill>
                <a:latin typeface="Georgia"/>
              </a:rPr>
              <a:t>25</a:t>
            </a:r>
            <a:endParaRPr sz="13000" b="1" i="0" dirty="0">
              <a:solidFill>
                <a:srgbClr val="C5A04A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688647"/>
            <a:ext cx="42062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300" b="0" i="1" dirty="0">
                <a:solidFill>
                  <a:srgbClr val="142C5A"/>
                </a:solidFill>
                <a:latin typeface="Calibri"/>
              </a:rPr>
              <a:t>de 100 </a:t>
            </a:r>
            <a:r>
              <a:rPr sz="1300" b="0" i="1" dirty="0" err="1">
                <a:solidFill>
                  <a:srgbClr val="142C5A"/>
                </a:solidFill>
                <a:latin typeface="Calibri"/>
              </a:rPr>
              <a:t>despachos</a:t>
            </a:r>
            <a:r>
              <a:rPr sz="1300" b="0" i="1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142C5A"/>
                </a:solidFill>
                <a:latin typeface="Calibri"/>
              </a:rPr>
              <a:t>objetivo</a:t>
            </a:r>
            <a:endParaRPr sz="1300" b="0" i="1" dirty="0">
              <a:solidFill>
                <a:srgbClr val="142C5A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4069080"/>
            <a:ext cx="3840480" cy="274320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4069079"/>
            <a:ext cx="1127851" cy="288993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176662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lang="es-ES" sz="900" b="1" spc="200" dirty="0">
                <a:solidFill>
                  <a:srgbClr val="C5A04A"/>
                </a:solidFill>
                <a:latin typeface="Calibri"/>
              </a:rPr>
              <a:t>25</a:t>
            </a:r>
            <a:r>
              <a:rPr sz="900" b="1" i="0" spc="200" dirty="0">
                <a:solidFill>
                  <a:srgbClr val="C5A04A"/>
                </a:solidFill>
                <a:latin typeface="Calibri"/>
              </a:rPr>
              <a:t>% </a:t>
            </a:r>
            <a:r>
              <a:rPr sz="900" b="1" i="0" spc="200" dirty="0" err="1">
                <a:solidFill>
                  <a:srgbClr val="C5A04A"/>
                </a:solidFill>
                <a:latin typeface="Calibri"/>
              </a:rPr>
              <a:t>recorrido</a:t>
            </a:r>
            <a:endParaRPr sz="900" b="1" i="0" spc="200" dirty="0">
              <a:solidFill>
                <a:srgbClr val="C5A0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81020" y="4416552"/>
            <a:ext cx="2073859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lang="es-ES" sz="900" i="1" dirty="0">
                <a:solidFill>
                  <a:srgbClr val="7C879A"/>
                </a:solidFill>
                <a:latin typeface="Calibri"/>
              </a:rPr>
              <a:t>75 %</a:t>
            </a:r>
            <a:r>
              <a:rPr sz="900" b="0" i="1" dirty="0">
                <a:solidFill>
                  <a:srgbClr val="7C879A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7C879A"/>
                </a:solidFill>
                <a:latin typeface="Calibri"/>
              </a:rPr>
              <a:t>pendientes</a:t>
            </a:r>
            <a:endParaRPr sz="900" b="0" i="1" dirty="0">
              <a:solidFill>
                <a:srgbClr val="7C879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057522"/>
            <a:ext cx="1097280" cy="44627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lang="es-ES" sz="2600" b="1" dirty="0">
                <a:solidFill>
                  <a:srgbClr val="0C1D3F"/>
                </a:solidFill>
                <a:latin typeface="Georgia"/>
              </a:rPr>
              <a:t>5</a:t>
            </a:r>
            <a:endParaRPr sz="2600" b="1" i="0" dirty="0">
              <a:solidFill>
                <a:srgbClr val="0C1D3F"/>
              </a:solidFill>
              <a:latin typeface="Georg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4519" y="5256684"/>
            <a:ext cx="3108960" cy="2308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3D4657"/>
                </a:solidFill>
                <a:latin typeface="Calibri"/>
              </a:rPr>
              <a:t>oficinas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3D4657"/>
                </a:solidFill>
                <a:latin typeface="Calibri"/>
              </a:rPr>
              <a:t>activas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3D4657"/>
                </a:solidFill>
                <a:latin typeface="Calibri"/>
              </a:rPr>
              <a:t>en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3D4657"/>
                </a:solidFill>
                <a:latin typeface="Calibri"/>
              </a:rPr>
              <a:t>el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canal AAFF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96434"/>
            <a:ext cx="1097280" cy="44627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2600" b="1" i="0" dirty="0">
                <a:solidFill>
                  <a:srgbClr val="0C1D3F"/>
                </a:solidFill>
                <a:latin typeface="Georgia"/>
              </a:rPr>
              <a:t>1</a:t>
            </a:r>
            <a:r>
              <a:rPr lang="es-ES" sz="2600" b="1" i="0" dirty="0">
                <a:solidFill>
                  <a:srgbClr val="0C1D3F"/>
                </a:solidFill>
                <a:latin typeface="Georgia"/>
              </a:rPr>
              <a:t>0</a:t>
            </a:r>
            <a:endParaRPr sz="2600" b="1" i="0" dirty="0">
              <a:solidFill>
                <a:srgbClr val="0C1D3F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5695596"/>
            <a:ext cx="3108960" cy="2308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>
                <a:solidFill>
                  <a:srgbClr val="3D4657"/>
                </a:solidFill>
                <a:latin typeface="Calibri"/>
              </a:rPr>
              <a:t>firmas en Valencia · lidera la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07024"/>
            <a:ext cx="1097280" cy="5029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2600" b="1" i="0">
                <a:solidFill>
                  <a:srgbClr val="0C1D3F"/>
                </a:solidFill>
                <a:latin typeface="Georg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6134508"/>
            <a:ext cx="3108960" cy="2308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3D4657"/>
                </a:solidFill>
                <a:latin typeface="Calibri"/>
              </a:rPr>
              <a:t>firmas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3D4657"/>
                </a:solidFill>
                <a:latin typeface="Calibri"/>
              </a:rPr>
              <a:t>en</a:t>
            </a:r>
            <a:r>
              <a:rPr sz="120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lang="es-ES" sz="1200" b="0" i="1" dirty="0">
                <a:solidFill>
                  <a:srgbClr val="3D4657"/>
                </a:solidFill>
                <a:latin typeface="Calibri"/>
              </a:rPr>
              <a:t>Málaga</a:t>
            </a:r>
            <a:endParaRPr sz="1200" b="0" i="1" dirty="0">
              <a:solidFill>
                <a:srgbClr val="3D4657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40680" y="1097280"/>
            <a:ext cx="6309360" cy="530352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40680" y="1097280"/>
            <a:ext cx="630936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1371600"/>
            <a:ext cx="59436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EMBUDO DE CONVERSIÓN AAFF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011680"/>
            <a:ext cx="5212080" cy="109728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2011680"/>
            <a:ext cx="73152" cy="109728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148840"/>
            <a:ext cx="484632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>
                <a:solidFill>
                  <a:srgbClr val="C5A04A"/>
                </a:solidFill>
                <a:latin typeface="Calibri"/>
              </a:rPr>
              <a:t>CONTRATOS FIRMADOS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504226"/>
            <a:ext cx="1097280" cy="569387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lang="es-ES" sz="3400" b="1" i="0" dirty="0">
                <a:solidFill>
                  <a:srgbClr val="F5F1E8"/>
                </a:solidFill>
                <a:latin typeface="Georgia"/>
              </a:rPr>
              <a:t>25</a:t>
            </a:r>
            <a:endParaRPr sz="3400" b="1" i="0" dirty="0">
              <a:solidFill>
                <a:srgbClr val="F5F1E8"/>
              </a:solidFill>
              <a:latin typeface="Georgi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43800" y="2520955"/>
            <a:ext cx="3383280" cy="26161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F5F1E8"/>
                </a:solidFill>
                <a:latin typeface="Calibri"/>
              </a:rPr>
              <a:t>despachos</a:t>
            </a:r>
            <a:r>
              <a:rPr sz="1400" b="1" i="0" dirty="0">
                <a:solidFill>
                  <a:srgbClr val="F5F1E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5F1E8"/>
                </a:solidFill>
                <a:latin typeface="Calibri"/>
              </a:rPr>
              <a:t>en</a:t>
            </a:r>
            <a:r>
              <a:rPr sz="1400" b="1" i="0" dirty="0">
                <a:solidFill>
                  <a:srgbClr val="F5F1E8"/>
                </a:solidFill>
                <a:latin typeface="Calibri"/>
              </a:rPr>
              <a:t> </a:t>
            </a:r>
            <a:r>
              <a:rPr lang="es-ES" sz="1400" b="1" i="0" dirty="0">
                <a:solidFill>
                  <a:srgbClr val="F5F1E8"/>
                </a:solidFill>
                <a:latin typeface="Calibri"/>
              </a:rPr>
              <a:t>5</a:t>
            </a:r>
            <a:r>
              <a:rPr sz="1400" b="1" i="0" dirty="0">
                <a:solidFill>
                  <a:srgbClr val="F5F1E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5F1E8"/>
                </a:solidFill>
                <a:latin typeface="Calibri"/>
              </a:rPr>
              <a:t>oficinas</a:t>
            </a:r>
            <a:endParaRPr sz="1400" b="1" i="0" dirty="0">
              <a:solidFill>
                <a:srgbClr val="F5F1E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43800" y="2845065"/>
            <a:ext cx="3383280" cy="207749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050" b="0" i="1">
                <a:solidFill>
                  <a:srgbClr val="ECE6D6"/>
                </a:solidFill>
                <a:latin typeface="Calibri"/>
              </a:rPr>
              <a:t>base del canal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218688"/>
            <a:ext cx="4169664" cy="109728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10528" y="3218688"/>
            <a:ext cx="73152" cy="1097280"/>
          </a:xfrm>
          <a:prstGeom prst="rect">
            <a:avLst/>
          </a:prstGeom>
          <a:solidFill>
            <a:srgbClr val="E0C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84848" y="3355848"/>
            <a:ext cx="3803904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>
                <a:solidFill>
                  <a:srgbClr val="E0C47E"/>
                </a:solidFill>
                <a:latin typeface="Calibri"/>
              </a:rPr>
              <a:t>CAPTACIONES GENERADAS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3711233"/>
            <a:ext cx="1097280" cy="569387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lang="es-ES" sz="3400" b="1" i="0" dirty="0">
                <a:solidFill>
                  <a:srgbClr val="F5F1E8"/>
                </a:solidFill>
                <a:latin typeface="Georgia"/>
              </a:rPr>
              <a:t>23</a:t>
            </a:r>
            <a:endParaRPr sz="3400" b="1" i="0" dirty="0">
              <a:solidFill>
                <a:srgbClr val="F5F1E8"/>
              </a:solidFill>
              <a:latin typeface="Georgi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65008" y="3727962"/>
            <a:ext cx="2340864" cy="26161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400" b="1" i="0">
                <a:solidFill>
                  <a:srgbClr val="F5F1E8"/>
                </a:solidFill>
                <a:latin typeface="Calibri"/>
              </a:rPr>
              <a:t>exclusivas AAFF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4052073"/>
            <a:ext cx="2340864" cy="207749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050" b="0" i="1">
                <a:solidFill>
                  <a:srgbClr val="ECE6D6"/>
                </a:solidFill>
                <a:latin typeface="Calibri"/>
              </a:rPr>
              <a:t>canal cualificado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31736" y="4425696"/>
            <a:ext cx="3127248" cy="109728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31736" y="4425696"/>
            <a:ext cx="73152" cy="10972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06056" y="4562856"/>
            <a:ext cx="2761488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>
                <a:solidFill>
                  <a:srgbClr val="F5F1E8"/>
                </a:solidFill>
                <a:latin typeface="Calibri"/>
              </a:rPr>
              <a:t>OPERACIONES CERRADAS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4918242"/>
            <a:ext cx="1097280" cy="569387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3400" b="1" i="0" dirty="0">
                <a:solidFill>
                  <a:srgbClr val="F5F1E8"/>
                </a:solidFill>
                <a:latin typeface="Georgia"/>
              </a:rPr>
              <a:t>1</a:t>
            </a:r>
            <a:r>
              <a:rPr lang="es-ES" sz="3400" b="1" i="0" dirty="0">
                <a:solidFill>
                  <a:srgbClr val="F5F1E8"/>
                </a:solidFill>
                <a:latin typeface="Georgia"/>
              </a:rPr>
              <a:t>0</a:t>
            </a:r>
            <a:endParaRPr sz="3400" b="1" i="0" dirty="0">
              <a:solidFill>
                <a:srgbClr val="F5F1E8"/>
              </a:solidFill>
              <a:latin typeface="Georgi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86216" y="4934971"/>
            <a:ext cx="1298448" cy="26161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400" b="1" i="0">
                <a:solidFill>
                  <a:srgbClr val="F5F1E8"/>
                </a:solidFill>
                <a:latin typeface="Calibri"/>
              </a:rPr>
              <a:t>cierres directos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86216" y="5178290"/>
            <a:ext cx="1298448" cy="3693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050" b="0" i="1">
                <a:solidFill>
                  <a:srgbClr val="ECE6D6"/>
                </a:solidFill>
                <a:latin typeface="Calibri"/>
              </a:rPr>
              <a:t>tasa cierre 33% sobre exclusivas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5760720"/>
            <a:ext cx="5760720" cy="1828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15000" y="5852159"/>
            <a:ext cx="5760720" cy="46961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 dirty="0">
                <a:solidFill>
                  <a:srgbClr val="E0C47E"/>
                </a:solidFill>
                <a:latin typeface="Georgia"/>
              </a:rPr>
              <a:t>El 50-50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actúa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como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fuente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de leads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cualificada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con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visibilidad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directa</a:t>
            </a:r>
            <a:endParaRPr lang="es-ES" sz="1200" i="1" dirty="0">
              <a:solidFill>
                <a:srgbClr val="E0C47E"/>
              </a:solidFill>
              <a:latin typeface="Georgia"/>
            </a:endParaRPr>
          </a:p>
          <a:p>
            <a:pPr algn="ctr">
              <a:lnSpc>
                <a:spcPct val="120000"/>
              </a:lnSpc>
            </a:pPr>
            <a:r>
              <a:rPr sz="1200" b="0" i="1" dirty="0" err="1">
                <a:solidFill>
                  <a:srgbClr val="E0C47E"/>
                </a:solidFill>
                <a:latin typeface="Georgia"/>
              </a:rPr>
              <a:t>en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los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despachos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— un canal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propietario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difícil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 de </a:t>
            </a:r>
            <a:r>
              <a:rPr sz="1200" b="0" i="1" dirty="0" err="1">
                <a:solidFill>
                  <a:srgbClr val="E0C47E"/>
                </a:solidFill>
                <a:latin typeface="Georgia"/>
              </a:rPr>
              <a:t>replicar</a:t>
            </a:r>
            <a:r>
              <a:rPr sz="1200" b="0" i="1" dirty="0">
                <a:solidFill>
                  <a:srgbClr val="E0C47E"/>
                </a:solidFill>
                <a:latin typeface="Georgia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2584" y="6601968"/>
            <a:ext cx="6443175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 dirty="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El Reto de la Conversión: Síntesis Estratégica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Diagnóstico clave para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91440" cy="150876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300">
                <a:solidFill>
                  <a:srgbClr val="C5A04A"/>
                </a:solidFill>
                <a:latin typeface="Calibri"/>
              </a:rPr>
              <a:t>EXCLUSIVAS ACTIVAS · 1,85M€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5029200" cy="545277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142C5A"/>
                </a:solidFill>
                <a:latin typeface="Calibri"/>
              </a:rPr>
              <a:t>Honorarios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latentes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ya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captados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, </a:t>
            </a:r>
            <a:r>
              <a:rPr lang="es-ES" sz="1300" dirty="0">
                <a:solidFill>
                  <a:srgbClr val="142C5A"/>
                </a:solidFill>
                <a:latin typeface="Calibri"/>
              </a:rPr>
              <a:t>poner foco para convertirlos en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facturación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cobrada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91440" cy="150876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50292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300">
                <a:solidFill>
                  <a:srgbClr val="142C5A"/>
                </a:solidFill>
                <a:latin typeface="Calibri"/>
              </a:rPr>
              <a:t>FLUJO DE LEADS AAFF ASEGURADO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0439"/>
            <a:ext cx="5029200" cy="545277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300" dirty="0">
                <a:solidFill>
                  <a:srgbClr val="142C5A"/>
                </a:solidFill>
                <a:latin typeface="Calibri"/>
              </a:rPr>
              <a:t>Los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despachos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firmados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</a:t>
            </a:r>
            <a:r>
              <a:rPr lang="es-ES" sz="1300" b="0" i="0" dirty="0">
                <a:solidFill>
                  <a:srgbClr val="142C5A"/>
                </a:solidFill>
                <a:latin typeface="Calibri"/>
              </a:rPr>
              <a:t>deben generar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un canal continuo y</a:t>
            </a:r>
            <a:endParaRPr lang="es-ES" sz="1300" b="0" i="0" dirty="0">
              <a:solidFill>
                <a:srgbClr val="142C5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142C5A"/>
                </a:solidFill>
                <a:latin typeface="Calibri"/>
              </a:rPr>
              <a:t>cualificado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142C5A"/>
                </a:solidFill>
                <a:latin typeface="Calibri"/>
              </a:rPr>
              <a:t>captaciones</a:t>
            </a:r>
            <a:r>
              <a:rPr sz="1300" b="0" i="0" dirty="0">
                <a:solidFill>
                  <a:srgbClr val="142C5A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59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480559"/>
            <a:ext cx="91440" cy="1508760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79"/>
            <a:ext cx="50292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300">
                <a:solidFill>
                  <a:srgbClr val="D66453"/>
                </a:solidFill>
                <a:latin typeface="Calibri"/>
              </a:rPr>
              <a:t>DESEMPEÑO TERRITORIAL DESIGUAL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79"/>
            <a:ext cx="5029200" cy="7772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C5A"/>
                </a:solidFill>
                <a:latin typeface="Calibri"/>
              </a:rPr>
              <a:t>Alta concentración en 3 oficinas; el resto requiere revisión y optimización.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40680" cy="51663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097280"/>
            <a:ext cx="544068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1371600"/>
            <a:ext cx="50749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LA CONCLUSIÓN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691640"/>
            <a:ext cx="914400" cy="13716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0" b="1" i="0">
                <a:solidFill>
                  <a:srgbClr val="E0C47E"/>
                </a:solidFill>
                <a:latin typeface="Georgia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148839"/>
            <a:ext cx="4343400" cy="21945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5F1E8"/>
                </a:solidFill>
                <a:latin typeface="Georgia"/>
              </a:rPr>
              <a:t>No necesitamos generar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5F1E8"/>
                </a:solidFill>
                <a:latin typeface="Georgia"/>
              </a:rPr>
              <a:t>más volumen a ciegas;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200" b="1" i="0">
                <a:solidFill>
                  <a:srgbClr val="C5A04A"/>
                </a:solidFill>
                <a:latin typeface="Georgia"/>
              </a:rPr>
              <a:t>necesitamos rigor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5A04A"/>
                </a:solidFill>
                <a:latin typeface="Georgia"/>
              </a:rPr>
              <a:t>en la ejecución.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63440"/>
            <a:ext cx="4892040" cy="1828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757112"/>
            <a:ext cx="4892040" cy="74693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dirty="0">
                <a:solidFill>
                  <a:srgbClr val="ECE6D6"/>
                </a:solidFill>
                <a:latin typeface="Calibri"/>
              </a:rPr>
              <a:t>Las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herramientas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tecnológicas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soporte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, la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formación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y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marketing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ya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están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activados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desde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la central. El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éxito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de 2026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recae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la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responsabilidad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y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seguimiento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activo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cada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6D6"/>
                </a:solidFill>
                <a:latin typeface="Calibri"/>
              </a:rPr>
              <a:t>equipo</a:t>
            </a:r>
            <a:r>
              <a:rPr sz="1200" b="0" i="0" dirty="0">
                <a:solidFill>
                  <a:srgbClr val="ECE6D6"/>
                </a:solidFill>
                <a:latin typeface="Calibri"/>
              </a:rPr>
              <a:t> local.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5577840"/>
            <a:ext cx="4892040" cy="50292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5621551"/>
            <a:ext cx="4892040" cy="41549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200" b="1" i="0" spc="300" dirty="0">
                <a:solidFill>
                  <a:srgbClr val="07132B"/>
                </a:solidFill>
                <a:latin typeface="Calibri"/>
              </a:rPr>
              <a:t>TRANSFORMAR EL INVENTARIO EN</a:t>
            </a:r>
            <a:endParaRPr lang="es-ES" sz="1200" b="1" i="0" spc="300" dirty="0">
              <a:solidFill>
                <a:srgbClr val="07132B"/>
              </a:solidFill>
              <a:latin typeface="Calibri"/>
            </a:endParaRPr>
          </a:p>
          <a:p>
            <a:pPr algn="ctr"/>
            <a:r>
              <a:rPr sz="1200" b="1" i="0" spc="300" dirty="0">
                <a:solidFill>
                  <a:srgbClr val="07132B"/>
                </a:solidFill>
                <a:latin typeface="Calibri"/>
              </a:rPr>
              <a:t>FACTURACIÓN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190" y="6601968"/>
            <a:ext cx="639857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Plan de Acción Inmediato: 3 Pilares Estratégicos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Hoja de ruta para la optimización operativa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3657600" cy="100584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261872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FFFFFF"/>
                </a:solidFill>
                <a:latin typeface="Calibri"/>
              </a:rPr>
              <a:t>PILAR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36192"/>
            <a:ext cx="32918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Foco en Exclusivas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Marketing dirigido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414016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28600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Seguimiento activo y agresivo de las 75 propiedades en exclusiva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282696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Desbloquear el potencial de 1,85M€ ya captado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51376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2926080" cy="26680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0C1D3F"/>
                </a:solidFill>
                <a:latin typeface="Calibri"/>
              </a:rPr>
              <a:t>Campañas</a:t>
            </a:r>
            <a:r>
              <a:rPr sz="1200" b="0" i="0" dirty="0">
                <a:solidFill>
                  <a:srgbClr val="0C1D3F"/>
                </a:solidFill>
                <a:latin typeface="Calibri"/>
              </a:rPr>
              <a:t> de marketing </a:t>
            </a:r>
            <a:r>
              <a:rPr lang="es-ES" sz="1200" b="0" i="0" dirty="0" err="1">
                <a:solidFill>
                  <a:srgbClr val="0C1D3F"/>
                </a:solidFill>
                <a:latin typeface="Calibri"/>
              </a:rPr>
              <a:t>espedíficas</a:t>
            </a:r>
            <a:endParaRPr sz="1200" b="0" i="0" dirty="0">
              <a:solidFill>
                <a:srgbClr val="0C1D3F"/>
              </a:solidFill>
              <a:latin typeface="Calibr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77240" y="5020056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KPI semanal de visitas y ofertas recibidas por exclusiva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10972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1097280"/>
            <a:ext cx="3657600" cy="100584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3712" y="1261872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FFFFFF"/>
                </a:solidFill>
                <a:latin typeface="Calibri"/>
              </a:rPr>
              <a:t>PILAR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1536192"/>
            <a:ext cx="32918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Reestructuración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1828800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Eficiencia operativa</a:t>
            </a:r>
          </a:p>
        </p:txBody>
      </p:sp>
      <p:sp>
        <p:nvSpPr>
          <p:cNvPr id="28" name="Oval 27"/>
          <p:cNvSpPr/>
          <p:nvPr/>
        </p:nvSpPr>
        <p:spPr>
          <a:xfrm>
            <a:off x="4599431" y="2414016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1" y="228600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Cambio de oficinas físicas en ubicaciones de bajo rendimiento</a:t>
            </a:r>
          </a:p>
        </p:txBody>
      </p:sp>
      <p:sp>
        <p:nvSpPr>
          <p:cNvPr id="30" name="Oval 29"/>
          <p:cNvSpPr/>
          <p:nvPr/>
        </p:nvSpPr>
        <p:spPr>
          <a:xfrm>
            <a:off x="4599431" y="3282696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1" y="315468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Valencia (−81% coste) y Barcelona (−68% coste) ya en marcha</a:t>
            </a:r>
          </a:p>
        </p:txBody>
      </p:sp>
      <p:sp>
        <p:nvSpPr>
          <p:cNvPr id="32" name="Oval 31"/>
          <p:cNvSpPr/>
          <p:nvPr/>
        </p:nvSpPr>
        <p:spPr>
          <a:xfrm>
            <a:off x="4599431" y="4151376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28031" y="402336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Revisión estricta de consultores: prescindir de perfiles bajo KPI mínimo</a:t>
            </a:r>
          </a:p>
        </p:txBody>
      </p:sp>
      <p:sp>
        <p:nvSpPr>
          <p:cNvPr id="34" name="Oval 33"/>
          <p:cNvSpPr/>
          <p:nvPr/>
        </p:nvSpPr>
        <p:spPr>
          <a:xfrm>
            <a:off x="4599431" y="5020056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1" y="489204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Inyección de +10.000€/mes de liquidez operativa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1583" y="10972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01583" y="1097280"/>
            <a:ext cx="3657600" cy="1005840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75904" y="1261872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FFFFFF"/>
                </a:solidFill>
                <a:latin typeface="Calibri"/>
              </a:rPr>
              <a:t>PILAR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1536192"/>
            <a:ext cx="32918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Aceleración AAFF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1828800"/>
            <a:ext cx="329184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Canal diferenciador</a:t>
            </a:r>
          </a:p>
        </p:txBody>
      </p:sp>
      <p:sp>
        <p:nvSpPr>
          <p:cNvPr id="41" name="Oval 40"/>
          <p:cNvSpPr/>
          <p:nvPr/>
        </p:nvSpPr>
        <p:spPr>
          <a:xfrm>
            <a:off x="8421624" y="2414016"/>
            <a:ext cx="128016" cy="128016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50224" y="2286000"/>
            <a:ext cx="2926080" cy="26680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Alcanzar los 100 despachos firmados al 50-50</a:t>
            </a:r>
          </a:p>
        </p:txBody>
      </p:sp>
      <p:sp>
        <p:nvSpPr>
          <p:cNvPr id="43" name="Oval 42"/>
          <p:cNvSpPr/>
          <p:nvPr/>
        </p:nvSpPr>
        <p:spPr>
          <a:xfrm>
            <a:off x="8421624" y="3282696"/>
            <a:ext cx="128016" cy="128016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50224" y="315468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Potenciar reuniones 1-a-1 con administradores clave</a:t>
            </a:r>
          </a:p>
        </p:txBody>
      </p:sp>
      <p:sp>
        <p:nvSpPr>
          <p:cNvPr id="45" name="Oval 44"/>
          <p:cNvSpPr/>
          <p:nvPr/>
        </p:nvSpPr>
        <p:spPr>
          <a:xfrm>
            <a:off x="8421624" y="4151376"/>
            <a:ext cx="128016" cy="128016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50224" y="402336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0C1D3F"/>
                </a:solidFill>
                <a:latin typeface="Calibri"/>
              </a:rPr>
              <a:t>Activar</a:t>
            </a:r>
            <a:r>
              <a:rPr sz="1200" b="0" i="0" dirty="0">
                <a:solidFill>
                  <a:srgbClr val="0C1D3F"/>
                </a:solidFill>
                <a:latin typeface="Calibri"/>
              </a:rPr>
              <a:t> AAFF </a:t>
            </a:r>
            <a:r>
              <a:rPr sz="1200" b="0" i="0" dirty="0" err="1">
                <a:solidFill>
                  <a:srgbClr val="0C1D3F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0C1D3F"/>
                </a:solidFill>
                <a:latin typeface="Calibri"/>
              </a:rPr>
              <a:t> Barcelona y San Sebastián</a:t>
            </a:r>
            <a:endParaRPr lang="es-ES" sz="1200" b="0" i="0" dirty="0">
              <a:solidFill>
                <a:srgbClr val="0C1D3F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C1D3F"/>
                </a:solidFill>
                <a:latin typeface="Calibri"/>
              </a:rPr>
              <a:t>(</a:t>
            </a:r>
            <a:r>
              <a:rPr lang="es-ES" sz="1200" b="0" i="0" dirty="0">
                <a:solidFill>
                  <a:srgbClr val="0C1D3F"/>
                </a:solidFill>
                <a:latin typeface="Calibri"/>
              </a:rPr>
              <a:t>a 28 feb</a:t>
            </a:r>
            <a:r>
              <a:rPr sz="1200" b="0" i="0" dirty="0">
                <a:solidFill>
                  <a:srgbClr val="0C1D3F"/>
                </a:solidFill>
                <a:latin typeface="Calibri"/>
              </a:rPr>
              <a:t> 0)</a:t>
            </a:r>
          </a:p>
        </p:txBody>
      </p:sp>
      <p:sp>
        <p:nvSpPr>
          <p:cNvPr id="47" name="Oval 46"/>
          <p:cNvSpPr/>
          <p:nvPr/>
        </p:nvSpPr>
        <p:spPr>
          <a:xfrm>
            <a:off x="8421624" y="5020056"/>
            <a:ext cx="128016" cy="128016"/>
          </a:xfrm>
          <a:prstGeom prst="ellipse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50224" y="4892040"/>
            <a:ext cx="2926080" cy="50687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C1D3F"/>
                </a:solidFill>
                <a:latin typeface="Calibri"/>
              </a:rPr>
              <a:t>Asistencia a eventos del sector para cerrar acuerdos pendientes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6080760"/>
            <a:ext cx="91440" cy="41148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>
                <a:solidFill>
                  <a:srgbClr val="F5F1E8"/>
                </a:solidFill>
                <a:latin typeface="Georgia"/>
              </a:rPr>
              <a:t>El éxito de los 3 pilares depende de la disciplina y rendición de cuentas de cada Director de Oficina.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340" y="6601968"/>
            <a:ext cx="6387419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Optimización Radical de Instalaciones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Maximizando el margen · Reducción inmediata de la estructura de costes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02336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37490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3D4657"/>
                </a:solidFill>
                <a:latin typeface="Calibri"/>
              </a:rPr>
              <a:t>ESTRUCTURA 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28800"/>
            <a:ext cx="3474720" cy="1371600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91440" cy="1371600"/>
          </a:xfrm>
          <a:prstGeom prst="rect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1965960"/>
            <a:ext cx="301752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400" b="1" i="0">
                <a:solidFill>
                  <a:srgbClr val="0C1D3F"/>
                </a:solidFill>
                <a:latin typeface="Georgia"/>
              </a:rPr>
              <a:t>Sede Valencia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30175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0" i="1">
                <a:solidFill>
                  <a:srgbClr val="7C879A"/>
                </a:solidFill>
                <a:latin typeface="Calibri"/>
              </a:rPr>
              <a:t>Local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60320"/>
            <a:ext cx="301752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>
                <a:solidFill>
                  <a:srgbClr val="D66453"/>
                </a:solidFill>
                <a:latin typeface="Georgia"/>
              </a:rPr>
              <a:t>8.500 € / 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3474720" cy="1371600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91440" cy="1371600"/>
          </a:xfrm>
          <a:prstGeom prst="rect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520440"/>
            <a:ext cx="301752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400" b="1" i="0">
                <a:solidFill>
                  <a:srgbClr val="0C1D3F"/>
                </a:solidFill>
                <a:latin typeface="Georgia"/>
              </a:rPr>
              <a:t>Sede Barcelona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30175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0" i="1">
                <a:solidFill>
                  <a:srgbClr val="7C879A"/>
                </a:solidFill>
                <a:latin typeface="Calibri"/>
              </a:rPr>
              <a:t>Local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14800"/>
            <a:ext cx="301752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>
                <a:solidFill>
                  <a:srgbClr val="D66453"/>
                </a:solidFill>
                <a:latin typeface="Georgia"/>
              </a:rPr>
              <a:t>5.320 €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34747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>
                <a:solidFill>
                  <a:srgbClr val="7C879A"/>
                </a:solidFill>
                <a:latin typeface="Calibri"/>
              </a:rPr>
              <a:t>TOTAL MENSUAL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347472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>
                <a:solidFill>
                  <a:srgbClr val="D66453"/>
                </a:solidFill>
                <a:latin typeface="Georgia"/>
              </a:rPr>
              <a:t>13.820 € / 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645920"/>
            <a:ext cx="2423160" cy="9144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5500" b="1" i="0">
                <a:solidFill>
                  <a:srgbClr val="C5A04A"/>
                </a:solidFill>
                <a:latin typeface="Georgia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743200"/>
            <a:ext cx="2423160" cy="228600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743200"/>
            <a:ext cx="2423160" cy="109728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017520"/>
            <a:ext cx="2423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1" i="0" spc="400">
                <a:solidFill>
                  <a:srgbClr val="C5A04A"/>
                </a:solidFill>
                <a:latin typeface="Calibri"/>
              </a:rPr>
              <a:t>AHORRO MENSUAL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429000"/>
            <a:ext cx="2423160" cy="9144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2800" b="1" i="0">
                <a:solidFill>
                  <a:srgbClr val="C5A04A"/>
                </a:solidFill>
                <a:latin typeface="Georgia"/>
              </a:rPr>
              <a:t>+10.520€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51960"/>
            <a:ext cx="242316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0" i="1">
                <a:solidFill>
                  <a:srgbClr val="F5F1E8"/>
                </a:solidFill>
                <a:latin typeface="Calibri"/>
              </a:rPr>
              <a:t>al 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590288"/>
            <a:ext cx="1691639" cy="13716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4617720"/>
            <a:ext cx="242316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100" b="1" i="0">
                <a:solidFill>
                  <a:srgbClr val="E0C47E"/>
                </a:solidFill>
                <a:latin typeface="Calibri"/>
              </a:rPr>
              <a:t>≈126.240 € / año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1097280"/>
            <a:ext cx="448056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69480" y="1097280"/>
            <a:ext cx="4480560" cy="7315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43800" y="1234440"/>
            <a:ext cx="420624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500">
                <a:solidFill>
                  <a:srgbClr val="C5A04A"/>
                </a:solidFill>
                <a:latin typeface="Calibri"/>
              </a:rPr>
              <a:t>NUEVA INFRAESTRUCTURA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1828800"/>
            <a:ext cx="3931920" cy="1371600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1828800"/>
            <a:ext cx="91440" cy="137160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1965960"/>
            <a:ext cx="347472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400" b="1" i="0">
                <a:solidFill>
                  <a:srgbClr val="0C1D3F"/>
                </a:solidFill>
                <a:latin typeface="Georgia"/>
              </a:rPr>
              <a:t>Sede Valencia · Nuevo 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286000"/>
            <a:ext cx="34747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0" i="1">
                <a:solidFill>
                  <a:srgbClr val="7C879A"/>
                </a:solidFill>
                <a:latin typeface="Calibri"/>
              </a:rPr>
              <a:t>1 mes de carencia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560320"/>
            <a:ext cx="21945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900" b="1" i="0">
                <a:solidFill>
                  <a:srgbClr val="3B7A5E"/>
                </a:solidFill>
                <a:latin typeface="Georgia"/>
              </a:rPr>
              <a:t>1.600 € / 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12680" y="2633472"/>
            <a:ext cx="1325880" cy="365760"/>
          </a:xfrm>
          <a:prstGeom prst="rect">
            <a:avLst/>
          </a:prstGeom>
          <a:solidFill>
            <a:srgbClr val="3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12680" y="2633472"/>
            <a:ext cx="1325880" cy="3657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050" b="1" i="0" spc="200">
                <a:solidFill>
                  <a:srgbClr val="FFFFFF"/>
                </a:solidFill>
                <a:latin typeface="Calibri"/>
              </a:rPr>
              <a:t>−81% coste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3383280"/>
            <a:ext cx="3931920" cy="1371600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43800" y="3383280"/>
            <a:ext cx="91440" cy="137160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0" y="3520440"/>
            <a:ext cx="347472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400" b="1" i="0">
                <a:solidFill>
                  <a:srgbClr val="0C1D3F"/>
                </a:solidFill>
                <a:latin typeface="Georgia"/>
              </a:rPr>
              <a:t>Sede Barcelona · Calle París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840480"/>
            <a:ext cx="34747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0" i="1">
                <a:solidFill>
                  <a:srgbClr val="7C879A"/>
                </a:solidFill>
                <a:latin typeface="Calibri"/>
              </a:rPr>
              <a:t>15 días de carencia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114800"/>
            <a:ext cx="21945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900" b="1" i="0">
                <a:solidFill>
                  <a:srgbClr val="3B7A5E"/>
                </a:solidFill>
                <a:latin typeface="Georgia"/>
              </a:rPr>
              <a:t>1.700 € / 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187952"/>
            <a:ext cx="1325880" cy="365760"/>
          </a:xfrm>
          <a:prstGeom prst="rect">
            <a:avLst/>
          </a:prstGeom>
          <a:solidFill>
            <a:srgbClr val="3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12680" y="4187952"/>
            <a:ext cx="1325880" cy="3657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ctr"/>
            <a:r>
              <a:rPr sz="1050" b="1" i="0" spc="200">
                <a:solidFill>
                  <a:srgbClr val="FFFFFF"/>
                </a:solidFill>
                <a:latin typeface="Calibri"/>
              </a:rPr>
              <a:t>−68% coste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5029200"/>
            <a:ext cx="393192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400">
                <a:solidFill>
                  <a:srgbClr val="C5A04A"/>
                </a:solidFill>
                <a:latin typeface="Calibri"/>
              </a:rPr>
              <a:t>TOTAL MENSUAL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5349240"/>
            <a:ext cx="393192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200" b="1" i="0">
                <a:solidFill>
                  <a:srgbClr val="3B7A5E"/>
                </a:solidFill>
                <a:latin typeface="Georgia"/>
              </a:rPr>
              <a:t>3.300 € / 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6080760"/>
            <a:ext cx="91440" cy="41148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6175656"/>
            <a:ext cx="10972800" cy="2308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F5F1E8"/>
                </a:solidFill>
                <a:latin typeface="Georgia"/>
              </a:rPr>
              <a:t>Inyección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directa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de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liquidez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operativa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superior a 10.000€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mensuales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,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protegiendo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la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rentabilidad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 </a:t>
            </a:r>
            <a:r>
              <a:rPr sz="1200" b="0" i="1" dirty="0" err="1">
                <a:solidFill>
                  <a:srgbClr val="F5F1E8"/>
                </a:solidFill>
                <a:latin typeface="Georgia"/>
              </a:rPr>
              <a:t>corporativa</a:t>
            </a:r>
            <a:r>
              <a:rPr sz="1200" b="0" i="1" dirty="0">
                <a:solidFill>
                  <a:srgbClr val="F5F1E8"/>
                </a:solidFill>
                <a:latin typeface="Georgi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6760" y="6601968"/>
            <a:ext cx="6208999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 dirty="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Objetivos 2026: 2.500.000€ — Metas Recalibradas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"/>
            <a:ext cx="109728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1" spc="100">
                <a:solidFill>
                  <a:srgbClr val="E0C47E"/>
                </a:solidFill>
                <a:latin typeface="Calibri"/>
              </a:rPr>
              <a:t>Ajustados a la realidad demostrada en 2025 · Red comercial más eficiente y rentable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11274552" cy="777240"/>
          </a:xfrm>
          <a:prstGeom prst="rect">
            <a:avLst/>
          </a:prstGeom>
          <a:solidFill>
            <a:srgbClr val="0C1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91440" cy="77724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5486400" cy="5486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1" i="0" spc="400">
                <a:solidFill>
                  <a:srgbClr val="C5A04A"/>
                </a:solidFill>
                <a:latin typeface="Calibri"/>
              </a:rPr>
              <a:t>OBJETIVO NACIONAL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548640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600" b="1" i="0">
                <a:solidFill>
                  <a:srgbClr val="F5F1E8"/>
                </a:solidFill>
                <a:latin typeface="Georgia"/>
              </a:rPr>
              <a:t>2.500.000€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200" b="0" i="1">
                <a:solidFill>
                  <a:srgbClr val="E0C47E"/>
                </a:solidFill>
                <a:latin typeface="Calibri"/>
              </a:rPr>
              <a:t>+74,5% vs facturación lograda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502920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1100" b="0" i="0">
                <a:solidFill>
                  <a:srgbClr val="ECE6D6"/>
                </a:solidFill>
                <a:latin typeface="Calibri"/>
              </a:rPr>
              <a:t>Red de 10 oficinas  ·  modelo exclusivas + AAFF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2697480" cy="82296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212848"/>
            <a:ext cx="2423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50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8"/>
            <a:ext cx="2423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Los Motores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63239"/>
            <a:ext cx="24231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0C1D3F"/>
                </a:solidFill>
                <a:latin typeface="Georgia"/>
              </a:rPr>
              <a:t>375.000€ c/u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2240280" cy="18288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886200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79476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San Sebastián — 375k€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251960"/>
            <a:ext cx="128016" cy="128016"/>
          </a:xfrm>
          <a:prstGeom prst="ellipse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16052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Marbella — 375k€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47762"/>
            <a:ext cx="2423160" cy="44929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 dirty="0">
                <a:solidFill>
                  <a:srgbClr val="3D4657"/>
                </a:solidFill>
                <a:latin typeface="Calibri"/>
              </a:rPr>
              <a:t>Las 2 </a:t>
            </a:r>
            <a:r>
              <a:rPr sz="1050" b="0" i="1" dirty="0" err="1">
                <a:solidFill>
                  <a:srgbClr val="3D4657"/>
                </a:solidFill>
                <a:latin typeface="Calibri"/>
              </a:rPr>
              <a:t>oficinas</a:t>
            </a:r>
            <a:r>
              <a:rPr sz="105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3D4657"/>
                </a:solidFill>
                <a:latin typeface="Calibri"/>
              </a:rPr>
              <a:t>deben</a:t>
            </a:r>
            <a:r>
              <a:rPr sz="105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3D4657"/>
                </a:solidFill>
                <a:latin typeface="Calibri"/>
              </a:rPr>
              <a:t>elevar</a:t>
            </a:r>
            <a:r>
              <a:rPr sz="1050" b="0" i="1" dirty="0">
                <a:solidFill>
                  <a:srgbClr val="3D4657"/>
                </a:solidFill>
                <a:latin typeface="Calibri"/>
              </a:rPr>
              <a:t> </a:t>
            </a:r>
            <a:r>
              <a:rPr lang="es-ES" sz="1050" b="0" i="1" dirty="0">
                <a:solidFill>
                  <a:srgbClr val="3D4657"/>
                </a:solidFill>
                <a:latin typeface="Calibri"/>
              </a:rPr>
              <a:t>su </a:t>
            </a:r>
            <a:r>
              <a:rPr sz="1050" b="0" i="1" dirty="0">
                <a:solidFill>
                  <a:srgbClr val="3D4657"/>
                </a:solidFill>
                <a:latin typeface="Calibri"/>
              </a:rPr>
              <a:t>ticket medio y </a:t>
            </a:r>
            <a:r>
              <a:rPr sz="1050" b="0" i="1" dirty="0" err="1">
                <a:solidFill>
                  <a:srgbClr val="3D4657"/>
                </a:solidFill>
                <a:latin typeface="Calibri"/>
              </a:rPr>
              <a:t>volumen</a:t>
            </a:r>
            <a:r>
              <a:rPr sz="1050" b="0" i="1" dirty="0">
                <a:solidFill>
                  <a:srgbClr val="3D4657"/>
                </a:solidFill>
                <a:latin typeface="Calibr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10312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46120" y="2103120"/>
            <a:ext cx="2697480" cy="82296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2212848"/>
            <a:ext cx="2423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50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487168"/>
            <a:ext cx="2423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Ejes Estratégicos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39"/>
            <a:ext cx="24231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0C1D3F"/>
                </a:solidFill>
                <a:latin typeface="Georgia"/>
              </a:rPr>
              <a:t>300.000€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657600"/>
            <a:ext cx="2240280" cy="18288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20440" y="3886200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40" y="379476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Madrid — 300k€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247762"/>
            <a:ext cx="2423160" cy="44929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3D4657"/>
                </a:solidFill>
                <a:latin typeface="Calibri"/>
              </a:rPr>
              <a:t>Potencial latente en el mercado premium de la capital. Requiere equipo reforzado.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10312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2103120"/>
            <a:ext cx="2697480" cy="82296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2212848"/>
            <a:ext cx="2423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500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487168"/>
            <a:ext cx="2423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Plazas Consolidadas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063239"/>
            <a:ext cx="24231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0C1D3F"/>
                </a:solidFill>
                <a:latin typeface="Georgia"/>
              </a:rPr>
              <a:t>250.000€ c/u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657600"/>
            <a:ext cx="2240280" cy="18288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309360" y="3886200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79476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Alicante — 250k€</a:t>
            </a:r>
          </a:p>
        </p:txBody>
      </p:sp>
      <p:sp>
        <p:nvSpPr>
          <p:cNvPr id="44" name="Oval 43"/>
          <p:cNvSpPr/>
          <p:nvPr/>
        </p:nvSpPr>
        <p:spPr>
          <a:xfrm>
            <a:off x="6309360" y="4251960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416052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Valencia — 250k€</a:t>
            </a:r>
          </a:p>
        </p:txBody>
      </p:sp>
      <p:sp>
        <p:nvSpPr>
          <p:cNvPr id="46" name="Oval 45"/>
          <p:cNvSpPr/>
          <p:nvPr/>
        </p:nvSpPr>
        <p:spPr>
          <a:xfrm>
            <a:off x="6309360" y="4617720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52628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 dirty="0">
                <a:solidFill>
                  <a:srgbClr val="0C1D3F"/>
                </a:solidFill>
                <a:latin typeface="Calibri"/>
              </a:rPr>
              <a:t>Málaga — 250k€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247762"/>
            <a:ext cx="2423160" cy="44929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3D4657"/>
                </a:solidFill>
                <a:latin typeface="Calibri"/>
              </a:rPr>
              <a:t>Mercados con base establecida que deben alcanzar rentabilidad sostenida.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3960" y="210312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823960" y="2103120"/>
            <a:ext cx="2697480" cy="822960"/>
          </a:xfrm>
          <a:prstGeom prst="rect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60" y="2212848"/>
            <a:ext cx="2423160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000" b="1" i="0" spc="500">
                <a:solidFill>
                  <a:srgbClr val="FFFFFF"/>
                </a:solidFill>
                <a:latin typeface="Calibri"/>
              </a:rPr>
              <a:t>TIER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2487168"/>
            <a:ext cx="242316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Desarrollo y Nicho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063239"/>
            <a:ext cx="242316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000" b="1" i="0">
                <a:solidFill>
                  <a:srgbClr val="0C1D3F"/>
                </a:solidFill>
                <a:latin typeface="Georgia"/>
              </a:rPr>
              <a:t>120−135k€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3657600"/>
            <a:ext cx="2240280" cy="18288"/>
          </a:xfrm>
          <a:prstGeom prst="rect">
            <a:avLst/>
          </a:prstGeom>
          <a:solidFill>
            <a:srgbClr val="E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098280" y="3886200"/>
            <a:ext cx="128016" cy="128016"/>
          </a:xfrm>
          <a:prstGeom prst="ellipse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26880" y="379476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Jaén — 134k€</a:t>
            </a:r>
          </a:p>
        </p:txBody>
      </p:sp>
      <p:sp>
        <p:nvSpPr>
          <p:cNvPr id="57" name="Oval 56"/>
          <p:cNvSpPr/>
          <p:nvPr/>
        </p:nvSpPr>
        <p:spPr>
          <a:xfrm>
            <a:off x="9098280" y="4251960"/>
            <a:ext cx="128016" cy="128016"/>
          </a:xfrm>
          <a:prstGeom prst="ellipse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80" y="416052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Castellón — 125k€</a:t>
            </a:r>
          </a:p>
        </p:txBody>
      </p:sp>
      <p:sp>
        <p:nvSpPr>
          <p:cNvPr id="59" name="Oval 58"/>
          <p:cNvSpPr/>
          <p:nvPr/>
        </p:nvSpPr>
        <p:spPr>
          <a:xfrm>
            <a:off x="9098280" y="4617720"/>
            <a:ext cx="128016" cy="128016"/>
          </a:xfrm>
          <a:prstGeom prst="ellipse">
            <a:avLst/>
          </a:prstGeom>
          <a:solidFill>
            <a:srgbClr val="7C8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326880" y="4526280"/>
            <a:ext cx="205740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100" b="0" i="0">
                <a:solidFill>
                  <a:srgbClr val="0C1D3F"/>
                </a:solidFill>
                <a:latin typeface="Calibri"/>
              </a:rPr>
              <a:t>Sevilla — 120k€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247762"/>
            <a:ext cx="2423160" cy="44929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3D4657"/>
                </a:solidFill>
                <a:latin typeface="Calibri"/>
              </a:rPr>
              <a:t>Oficinas en fase de crecimiento o nicho de mercado específico.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/>
            <a:r>
              <a:rPr sz="1000" b="0" i="1">
                <a:solidFill>
                  <a:srgbClr val="7C879A"/>
                </a:solidFill>
                <a:latin typeface="Calibri"/>
              </a:rPr>
              <a:t>Nota · Los objetivos se han ajustado de 3M€ a 2,5M€ para alinearse con la capacidad real demostrada. Red más ajustada, eficiente y enfocada a la rentabilidad por consultor.</a:t>
            </a:r>
          </a:p>
        </p:txBody>
      </p:sp>
      <p:sp>
        <p:nvSpPr>
          <p:cNvPr id="63" name="Oval 45">
            <a:extLst>
              <a:ext uri="{FF2B5EF4-FFF2-40B4-BE49-F238E27FC236}">
                <a16:creationId xmlns:a16="http://schemas.microsoft.com/office/drawing/2014/main" id="{10A8C41A-F490-2B7F-40CC-D08FACC84D48}"/>
              </a:ext>
            </a:extLst>
          </p:cNvPr>
          <p:cNvSpPr/>
          <p:nvPr/>
        </p:nvSpPr>
        <p:spPr>
          <a:xfrm>
            <a:off x="6316797" y="4981992"/>
            <a:ext cx="128016" cy="128016"/>
          </a:xfrm>
          <a:prstGeom prst="ellipse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46">
            <a:extLst>
              <a:ext uri="{FF2B5EF4-FFF2-40B4-BE49-F238E27FC236}">
                <a16:creationId xmlns:a16="http://schemas.microsoft.com/office/drawing/2014/main" id="{2B0AC519-A121-93AE-A754-E33E143135E8}"/>
              </a:ext>
            </a:extLst>
          </p:cNvPr>
          <p:cNvSpPr txBox="1"/>
          <p:nvPr/>
        </p:nvSpPr>
        <p:spPr>
          <a:xfrm>
            <a:off x="6545397" y="4890552"/>
            <a:ext cx="2057400" cy="21544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lang="es-ES" sz="1100" dirty="0">
                <a:solidFill>
                  <a:srgbClr val="0C1D3F"/>
                </a:solidFill>
                <a:latin typeface="Calibri"/>
              </a:rPr>
              <a:t>Barcelona</a:t>
            </a:r>
            <a:r>
              <a:rPr sz="1100" b="0" i="0" dirty="0">
                <a:solidFill>
                  <a:srgbClr val="0C1D3F"/>
                </a:solidFill>
                <a:latin typeface="Calibri"/>
              </a:rPr>
              <a:t> — 250k€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4497"/>
            <a:ext cx="4937760" cy="6858000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601968"/>
            <a:ext cx="11430000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900" b="0" i="0" spc="150" dirty="0">
                <a:solidFill>
                  <a:srgbClr val="ECE6D6"/>
                </a:solidFill>
                <a:latin typeface="Calibri"/>
              </a:rPr>
              <a:t>LAE HOMES Premium Agency  · 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Resumen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</a:t>
            </a:r>
            <a:r>
              <a:rPr sz="900" b="0" i="0" spc="150" dirty="0" err="1">
                <a:solidFill>
                  <a:srgbClr val="ECE6D6"/>
                </a:solidFill>
                <a:latin typeface="Calibri"/>
              </a:rPr>
              <a:t>Ejecutivo</a:t>
            </a:r>
            <a:r>
              <a:rPr sz="900" b="0" i="0" spc="150" dirty="0">
                <a:solidFill>
                  <a:srgbClr val="ECE6D6"/>
                </a:solidFill>
                <a:latin typeface="Calibri"/>
              </a:rPr>
              <a:t> 2025  </a:t>
            </a:r>
            <a:endParaRPr lang="es-ES" sz="900" b="0" i="0" spc="150" dirty="0">
              <a:solidFill>
                <a:srgbClr val="ECE6D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74165" y="6601968"/>
            <a:ext cx="6632745" cy="184666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/>
            <a:r>
              <a:rPr sz="900" b="1" i="0" spc="200" dirty="0">
                <a:solidFill>
                  <a:srgbClr val="E0C47E"/>
                </a:solidFill>
                <a:latin typeface="Calibri"/>
              </a:rPr>
              <a:t>LAE HOMES  ·  PREMIUM AGENCY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2743200" cy="2743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297680" cy="958789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 dirty="0">
                <a:solidFill>
                  <a:srgbClr val="FFFFFF"/>
                </a:solidFill>
                <a:latin typeface="Georgia"/>
              </a:rPr>
              <a:t>CONCLUSIONES</a:t>
            </a:r>
          </a:p>
          <a:p>
            <a:pPr algn="l">
              <a:lnSpc>
                <a:spcPct val="110000"/>
              </a:lnSpc>
            </a:pPr>
            <a:r>
              <a:rPr sz="2800" b="1" i="0" dirty="0">
                <a:solidFill>
                  <a:srgbClr val="FFFFFF"/>
                </a:solidFill>
                <a:latin typeface="Georgia"/>
              </a:rPr>
              <a:t>FINALES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4114800" cy="32316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b="0" i="1">
                <a:solidFill>
                  <a:srgbClr val="E0C47E"/>
                </a:solidFill>
                <a:latin typeface="Calibri"/>
              </a:rPr>
              <a:t>Resumen Ejecutivo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4114800" cy="32316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lang="es-ES" b="0" i="1" dirty="0">
                <a:solidFill>
                  <a:srgbClr val="E0C47E"/>
                </a:solidFill>
                <a:latin typeface="Calibri"/>
              </a:rPr>
              <a:t>Febrero </a:t>
            </a:r>
            <a:r>
              <a:rPr b="0" i="1" dirty="0">
                <a:solidFill>
                  <a:srgbClr val="E0C47E"/>
                </a:solidFill>
                <a:latin typeface="Calibri"/>
              </a:rP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617720"/>
            <a:ext cx="3200400" cy="2743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16459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C5A04A"/>
                </a:solidFill>
                <a:latin typeface="Georgia"/>
              </a:rPr>
              <a:t>+64%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846320"/>
            <a:ext cx="25603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0">
                <a:solidFill>
                  <a:srgbClr val="ECE6D6"/>
                </a:solidFill>
                <a:latin typeface="Calibri"/>
              </a:rPr>
              <a:t>operaciones cerradas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16459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C5A04A"/>
                </a:solidFill>
                <a:latin typeface="Georgia"/>
              </a:rPr>
              <a:t>+50%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349240"/>
            <a:ext cx="25603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0">
                <a:solidFill>
                  <a:srgbClr val="ECE6D6"/>
                </a:solidFill>
                <a:latin typeface="Calibri"/>
              </a:rPr>
              <a:t>facturación (958k→1,43M€)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64592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800" b="1" i="0">
                <a:solidFill>
                  <a:srgbClr val="C5A04A"/>
                </a:solidFill>
                <a:latin typeface="Georgia"/>
              </a:rPr>
              <a:t>1.851k€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852159"/>
            <a:ext cx="256032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0" i="0">
                <a:solidFill>
                  <a:srgbClr val="ECE6D6"/>
                </a:solidFill>
                <a:latin typeface="Calibri"/>
              </a:rPr>
              <a:t>en exclusivas por activar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0"/>
            <a:ext cx="73152" cy="6565392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548640"/>
            <a:ext cx="6400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500">
                <a:solidFill>
                  <a:srgbClr val="C5A04A"/>
                </a:solidFill>
                <a:latin typeface="Calibri"/>
              </a:rPr>
              <a:t>CONCLUSIONES FINALES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868680"/>
            <a:ext cx="6400800" cy="415498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2400" b="1" i="0" dirty="0">
                <a:solidFill>
                  <a:srgbClr val="0C1D3F"/>
                </a:solidFill>
                <a:latin typeface="Georgia"/>
              </a:rPr>
              <a:t>3 </a:t>
            </a:r>
            <a:r>
              <a:rPr sz="2400" b="1" i="0" dirty="0" err="1">
                <a:solidFill>
                  <a:srgbClr val="0C1D3F"/>
                </a:solidFill>
                <a:latin typeface="Georgia"/>
              </a:rPr>
              <a:t>mensajes</a:t>
            </a:r>
            <a:endParaRPr sz="2400" b="1" i="0" dirty="0">
              <a:solidFill>
                <a:srgbClr val="0C1D3F"/>
              </a:solidFill>
              <a:latin typeface="Georgia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94960" y="1417320"/>
            <a:ext cx="1280160" cy="36576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1737360"/>
            <a:ext cx="6400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94960" y="1737360"/>
            <a:ext cx="91440" cy="1325880"/>
          </a:xfrm>
          <a:prstGeom prst="rect">
            <a:avLst/>
          </a:prstGeom>
          <a:solidFill>
            <a:srgbClr val="C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60" y="1920240"/>
            <a:ext cx="612648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400" dirty="0">
                <a:solidFill>
                  <a:srgbClr val="C5A04A"/>
                </a:solidFill>
                <a:latin typeface="Calibri"/>
              </a:rPr>
              <a:t>EL MODELO FUNCION</a:t>
            </a:r>
            <a:r>
              <a:rPr lang="es-ES" sz="1200" b="1" spc="400" dirty="0">
                <a:solidFill>
                  <a:srgbClr val="C5A04A"/>
                </a:solidFill>
                <a:latin typeface="Calibri"/>
              </a:rPr>
              <a:t>A</a:t>
            </a:r>
            <a:r>
              <a:rPr lang="es-ES" sz="1200" b="1" i="0" spc="400" dirty="0">
                <a:solidFill>
                  <a:srgbClr val="C5A04A"/>
                </a:solidFill>
                <a:latin typeface="Calibri"/>
              </a:rPr>
              <a:t>, PERO NO ESTÁ CONSOLIDADO</a:t>
            </a:r>
            <a:endParaRPr sz="1200" b="1" i="0" spc="400" dirty="0">
              <a:solidFill>
                <a:srgbClr val="C5A04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23560" y="2174490"/>
            <a:ext cx="6035040" cy="60016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r>
              <a:rPr lang="es-ES" sz="1200" dirty="0"/>
              <a:t>El crecimiento en captaciones, exclusivas y operaciones demuestra que el modelo funciona.</a:t>
            </a:r>
          </a:p>
          <a:p>
            <a:r>
              <a:rPr lang="es-ES" sz="1200" dirty="0"/>
              <a:t>Sin embargo, los resultados siguen siendo irregulares y muy dependientes de la ejecución local.</a:t>
            </a:r>
          </a:p>
          <a:p>
            <a:r>
              <a:rPr lang="es-ES" sz="1200" dirty="0"/>
              <a:t>Tenemos una base sólida, pero todavía no un sistema robusto y predecible.</a:t>
            </a:r>
            <a:endParaRPr sz="1200" b="0" i="0" dirty="0">
              <a:solidFill>
                <a:srgbClr val="142C5A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94960" y="3182112"/>
            <a:ext cx="6400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94960" y="3182112"/>
            <a:ext cx="91440" cy="1325880"/>
          </a:xfrm>
          <a:prstGeom prst="rect">
            <a:avLst/>
          </a:prstGeom>
          <a:solidFill>
            <a:srgbClr val="D66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3364992"/>
            <a:ext cx="6126480" cy="2308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400" dirty="0">
                <a:solidFill>
                  <a:srgbClr val="D66453"/>
                </a:solidFill>
                <a:latin typeface="Calibri"/>
              </a:rPr>
              <a:t>EL </a:t>
            </a:r>
            <a:r>
              <a:rPr lang="es-ES" sz="1200" b="1" i="0" spc="400" dirty="0">
                <a:solidFill>
                  <a:srgbClr val="D66453"/>
                </a:solidFill>
                <a:latin typeface="Calibri"/>
              </a:rPr>
              <a:t>CUELLO DE BOTELLA </a:t>
            </a:r>
            <a:r>
              <a:rPr sz="1200" b="1" i="0" spc="400" dirty="0">
                <a:solidFill>
                  <a:srgbClr val="D66453"/>
                </a:solidFill>
                <a:latin typeface="Calibri"/>
              </a:rPr>
              <a:t> ES LA CONVERSIÓN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630390"/>
            <a:ext cx="6126480" cy="78483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r>
              <a:rPr lang="es-ES" sz="1200" dirty="0"/>
              <a:t>Estamos generando actividad, pero necesitamos transformarla en ingresos con la consistencia necesaria.</a:t>
            </a:r>
          </a:p>
          <a:p>
            <a:r>
              <a:rPr lang="es-ES" sz="1200" dirty="0">
                <a:solidFill>
                  <a:srgbClr val="142C5A"/>
                </a:solidFill>
              </a:rPr>
              <a:t>El volumen existe; falta rigor en la ejecución o calidad en el producto. Estamos realizando cambios en el seguimiento comercial, con el fin de trabajar la ”salud de nuestras captaciones”.</a:t>
            </a:r>
            <a:endParaRPr sz="1200" b="0" i="0" dirty="0">
              <a:solidFill>
                <a:srgbClr val="142C5A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394960" y="4626864"/>
            <a:ext cx="6400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94960" y="4626864"/>
            <a:ext cx="91440" cy="1325880"/>
          </a:xfrm>
          <a:prstGeom prst="rect">
            <a:avLst/>
          </a:prstGeom>
          <a:solidFill>
            <a:srgbClr val="14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23560" y="4809744"/>
            <a:ext cx="6126480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/>
            <a:r>
              <a:rPr sz="1200" b="1" i="0" spc="400">
                <a:solidFill>
                  <a:srgbClr val="142C5A"/>
                </a:solidFill>
                <a:latin typeface="Calibri"/>
              </a:rPr>
              <a:t>EL FUTURO ES AAFF Y EXIGENCIA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5097447"/>
            <a:ext cx="6126480" cy="600164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r>
              <a:rPr lang="es-ES" sz="1200" dirty="0"/>
              <a:t>La red de administradores de fincas es una palanca estratégica clara, pero su desarrollo está siendo desigual en las distintas oficinas, además de lento por parte de los AAFF.</a:t>
            </a:r>
          </a:p>
          <a:p>
            <a:r>
              <a:rPr lang="es-ES" sz="1200" dirty="0"/>
              <a:t>Necesitamos elevar la exigencia y mejorar el control operativo en todas las oficinas.</a:t>
            </a:r>
          </a:p>
        </p:txBody>
      </p:sp>
      <p:pic>
        <p:nvPicPr>
          <p:cNvPr id="37" name="Imagen 36" descr="Texto&#10;&#10;Descripción generada automáticamente">
            <a:extLst>
              <a:ext uri="{FF2B5EF4-FFF2-40B4-BE49-F238E27FC236}">
                <a16:creationId xmlns:a16="http://schemas.microsoft.com/office/drawing/2014/main" id="{EFFD8571-977D-BA2D-15AC-374BFF5A6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87" y="694944"/>
            <a:ext cx="2862545" cy="1034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6887</TotalTime>
  <Words>1875</Words>
  <Application>Microsoft Office PowerPoint</Application>
  <PresentationFormat>Panorámica</PresentationFormat>
  <Paragraphs>428</Paragraphs>
  <Slides>13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Rodrigo Güelfo Antona</cp:lastModifiedBy>
  <cp:revision>10</cp:revision>
  <dcterms:created xsi:type="dcterms:W3CDTF">2013-01-27T09:14:16Z</dcterms:created>
  <dcterms:modified xsi:type="dcterms:W3CDTF">2026-05-12T09:26:54Z</dcterms:modified>
  <cp:category/>
</cp:coreProperties>
</file>