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72" r:id="rId9"/>
    <p:sldId id="270" r:id="rId10"/>
    <p:sldId id="262" r:id="rId11"/>
    <p:sldId id="276" r:id="rId12"/>
    <p:sldId id="277" r:id="rId13"/>
    <p:sldId id="263" r:id="rId14"/>
    <p:sldId id="264" r:id="rId15"/>
    <p:sldId id="265" r:id="rId16"/>
    <p:sldId id="266" r:id="rId17"/>
    <p:sldId id="267" r:id="rId18"/>
    <p:sldId id="273" r:id="rId19"/>
    <p:sldId id="269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B4A"/>
    <a:srgbClr val="F7F9FB"/>
    <a:srgbClr val="78933B"/>
    <a:srgbClr val="CAA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38"/>
    <p:restoredTop sz="96121"/>
  </p:normalViewPr>
  <p:slideViewPr>
    <p:cSldViewPr snapToGrid="0" snapToObjects="1">
      <p:cViewPr>
        <p:scale>
          <a:sx n="102" d="100"/>
          <a:sy n="102" d="100"/>
        </p:scale>
        <p:origin x="1330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2025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Operaciones</c:v>
                </c:pt>
                <c:pt idx="1">
                  <c:v>Bruto (k€)</c:v>
                </c:pt>
                <c:pt idx="2">
                  <c:v>LAE (k€)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63.5</c:v>
                </c:pt>
                <c:pt idx="2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5-D34C-A608-21ADC4AED7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Q1 2026</c:v>
                </c:pt>
              </c:strCache>
            </c:strRef>
          </c:tx>
          <c:spPr>
            <a:solidFill>
              <a:srgbClr val="CAA96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Operaciones</c:v>
                </c:pt>
                <c:pt idx="1">
                  <c:v>Bruto (k€)</c:v>
                </c:pt>
                <c:pt idx="2">
                  <c:v>LAE (k€)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107.5</c:v>
                </c:pt>
                <c:pt idx="2">
                  <c:v>71.5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B5-D34C-A608-21ADC4AED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Bruto (€)</c:v>
                </c:pt>
              </c:strCache>
            </c:strRef>
          </c:tx>
          <c:spPr>
            <a:solidFill>
              <a:srgbClr val="0E1D3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Alicante</c:v>
                </c:pt>
                <c:pt idx="1">
                  <c:v>Marbella ✦</c:v>
                </c:pt>
                <c:pt idx="2">
                  <c:v>Valencia</c:v>
                </c:pt>
                <c:pt idx="3">
                  <c:v>Málaga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64349</c:v>
                </c:pt>
                <c:pt idx="1">
                  <c:v>23750</c:v>
                </c:pt>
                <c:pt idx="2">
                  <c:v>18050</c:v>
                </c:pt>
                <c:pt idx="3">
                  <c:v>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CA-AF4B-9DB2-9D5D6A2D73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LAE neto (€)</c:v>
                </c:pt>
              </c:strCache>
            </c:strRef>
          </c:tx>
          <c:spPr>
            <a:solidFill>
              <a:srgbClr val="C9A9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Alicante</c:v>
                </c:pt>
                <c:pt idx="1">
                  <c:v>Marbella ✦</c:v>
                </c:pt>
                <c:pt idx="2">
                  <c:v>Valencia</c:v>
                </c:pt>
                <c:pt idx="3">
                  <c:v>Málaga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38822</c:v>
                </c:pt>
                <c:pt idx="1">
                  <c:v>19050</c:v>
                </c:pt>
                <c:pt idx="2">
                  <c:v>12630</c:v>
                </c:pt>
                <c:pt idx="3">
                  <c:v>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CA-AF4B-9DB2-9D5D6A2D73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E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282B5-1731-264E-8CE0-B1AC51771284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4BA12-3A98-214B-89ED-C1D1569B5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4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4BA12-3A98-214B-89ED-C1D1569B5AA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764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0B65-58A4-5439-CE8B-D3CA80EC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D16D98-E852-34C0-63A2-57B459CC1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A7AD6A-80BE-82F1-E6EA-3FC63D4E5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940686-8879-CAEA-4D56-D7174BD7F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4BA12-3A98-214B-89ED-C1D1569B5AA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0741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C4806-CA54-6856-4427-90F975C4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01DB7-AC56-DFC9-A612-7680C888C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6C90C-A6BD-D314-8359-0C6217613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33BA7-2768-EA76-3391-9412F0C40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5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4BA12-3A98-214B-89ED-C1D1569B5AA8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902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39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"/>
            <a:ext cx="164592" cy="4956048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700281"/>
            <a:ext cx="84124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791721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INFORME DE RESULTADOS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67209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9A84C"/>
                </a:solidFill>
                <a:latin typeface="Calibri"/>
              </a:rPr>
              <a:t>1er TRIMESTRE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642113"/>
            <a:ext cx="3474720" cy="36576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310128"/>
            <a:ext cx="8595360" cy="11887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310128"/>
            <a:ext cx="85953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456432"/>
            <a:ext cx="1432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es-ES" sz="2200" b="1" i="0" dirty="0">
                <a:solidFill>
                  <a:srgbClr val="FFFFFF"/>
                </a:solidFill>
                <a:latin typeface="Calibri"/>
              </a:rPr>
              <a:t>0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432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6B3"/>
                </a:solidFill>
                <a:latin typeface="Calibri"/>
              </a:rPr>
              <a:t>Oficinas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06880" y="3447288"/>
            <a:ext cx="9144" cy="914400"/>
          </a:xfrm>
          <a:prstGeom prst="rect">
            <a:avLst/>
          </a:prstGeom>
          <a:solidFill>
            <a:srgbClr val="88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06880" y="3456432"/>
            <a:ext cx="1432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200" b="1" dirty="0">
                <a:solidFill>
                  <a:srgbClr val="FFFFFF"/>
                </a:solidFill>
                <a:latin typeface="Calibri"/>
              </a:rPr>
              <a:t>19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06880" y="3931920"/>
            <a:ext cx="1432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6B3"/>
                </a:solidFill>
                <a:latin typeface="Calibri"/>
              </a:rPr>
              <a:t>Consultores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39440" y="3447288"/>
            <a:ext cx="9144" cy="914400"/>
          </a:xfrm>
          <a:prstGeom prst="rect">
            <a:avLst/>
          </a:prstGeom>
          <a:solidFill>
            <a:srgbClr val="88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39440" y="3456432"/>
            <a:ext cx="143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9440" y="3931920"/>
            <a:ext cx="14325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 err="1">
                <a:solidFill>
                  <a:srgbClr val="8896B3"/>
                </a:solidFill>
                <a:latin typeface="Calibri"/>
              </a:rPr>
              <a:t>Captaciones</a:t>
            </a:r>
            <a:r>
              <a:rPr lang="es-ES" sz="850" b="0" i="0" dirty="0">
                <a:solidFill>
                  <a:srgbClr val="8896B3"/>
                </a:solidFill>
                <a:latin typeface="Calibri"/>
              </a:rPr>
              <a:t> 1T</a:t>
            </a:r>
            <a:endParaRPr sz="850" b="0" i="0" dirty="0">
              <a:solidFill>
                <a:srgbClr val="8896B3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0" y="3447288"/>
            <a:ext cx="9144" cy="914400"/>
          </a:xfrm>
          <a:prstGeom prst="rect">
            <a:avLst/>
          </a:prstGeom>
          <a:solidFill>
            <a:srgbClr val="88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3456432"/>
            <a:ext cx="143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931920"/>
            <a:ext cx="1432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6B3"/>
                </a:solidFill>
                <a:latin typeface="Calibri"/>
              </a:rPr>
              <a:t>Cierres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4560" y="3447288"/>
            <a:ext cx="9144" cy="914400"/>
          </a:xfrm>
          <a:prstGeom prst="rect">
            <a:avLst/>
          </a:prstGeom>
          <a:solidFill>
            <a:srgbClr val="88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04560" y="3456432"/>
            <a:ext cx="143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€357K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4560" y="3931920"/>
            <a:ext cx="1432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6B3"/>
                </a:solidFill>
                <a:latin typeface="Calibri"/>
              </a:rPr>
              <a:t>Hon. LAE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37120" y="3447288"/>
            <a:ext cx="9144" cy="914400"/>
          </a:xfrm>
          <a:prstGeom prst="rect">
            <a:avLst/>
          </a:prstGeom>
          <a:solidFill>
            <a:srgbClr val="88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37120" y="3456432"/>
            <a:ext cx="143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7120" y="3931920"/>
            <a:ext cx="1432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6B3"/>
                </a:solidFill>
                <a:latin typeface="Calibri"/>
              </a:rPr>
              <a:t>En Cartera</a:t>
            </a:r>
          </a:p>
        </p:txBody>
      </p:sp>
      <p:pic>
        <p:nvPicPr>
          <p:cNvPr id="33" name="Imagen 32" descr="Texto&#10;&#10;Descripción generada automáticamente">
            <a:extLst>
              <a:ext uri="{FF2B5EF4-FFF2-40B4-BE49-F238E27FC236}">
                <a16:creationId xmlns:a16="http://schemas.microsoft.com/office/drawing/2014/main" id="{EE320284-FEEB-6210-5105-6BD55D455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81" y="680725"/>
            <a:ext cx="2366063" cy="854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341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" y="2785436"/>
            <a:ext cx="14080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B2B4A"/>
                </a:solidFill>
                <a:latin typeface="Calibri"/>
              </a:rPr>
              <a:t>ÍNDICE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5" y="3224348"/>
            <a:ext cx="22492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latin typeface="Calibri"/>
              </a:rPr>
              <a:t>Estructura</a:t>
            </a:r>
            <a:r>
              <a:rPr sz="1600" b="0" i="0" dirty="0">
                <a:latin typeface="Calibri"/>
              </a:rPr>
              <a:t> del </a:t>
            </a:r>
            <a:r>
              <a:rPr sz="1600" b="0" i="0" dirty="0" err="1">
                <a:latin typeface="Calibri"/>
              </a:rPr>
              <a:t>informe</a:t>
            </a:r>
            <a:endParaRPr sz="1600" b="0" i="0" dirty="0"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· Informe Q1 2026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9723" y="777240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89723" y="777240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483" y="777240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55483" y="777240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46923" y="73605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SÍNTESIS EJECUTIVA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6923" y="900642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Calibri"/>
              </a:rPr>
              <a:t>KPIs clave de la Red · </a:t>
            </a:r>
            <a:r>
              <a:rPr sz="900" b="0" i="0" dirty="0" err="1">
                <a:latin typeface="Calibri"/>
              </a:rPr>
              <a:t>indicadores</a:t>
            </a:r>
            <a:r>
              <a:rPr sz="900" b="0" i="0" dirty="0">
                <a:latin typeface="Calibri"/>
              </a:rPr>
              <a:t> </a:t>
            </a:r>
            <a:r>
              <a:rPr sz="900" b="0" i="0" dirty="0" err="1">
                <a:latin typeface="Calibri"/>
              </a:rPr>
              <a:t>globales</a:t>
            </a:r>
            <a:r>
              <a:rPr sz="900" b="0" i="0" dirty="0">
                <a:latin typeface="Calibri"/>
              </a:rPr>
              <a:t> Q1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82331" y="1179576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82331" y="1179576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48091" y="1179576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48091" y="1179576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39531" y="113838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ESTADO DE LA 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531" y="1302978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Calibri"/>
              </a:rPr>
              <a:t>Cuadro de </a:t>
            </a:r>
            <a:r>
              <a:rPr sz="900" b="0" i="0" dirty="0" err="1">
                <a:latin typeface="Calibri"/>
              </a:rPr>
              <a:t>mando</a:t>
            </a:r>
            <a:r>
              <a:rPr sz="900" b="0" i="0" dirty="0">
                <a:latin typeface="Calibri"/>
              </a:rPr>
              <a:t> </a:t>
            </a:r>
            <a:r>
              <a:rPr sz="900" b="0" i="0" dirty="0" err="1">
                <a:latin typeface="Calibri"/>
              </a:rPr>
              <a:t>por</a:t>
            </a:r>
            <a:r>
              <a:rPr sz="900" b="0" i="0" dirty="0">
                <a:latin typeface="Calibri"/>
              </a:rPr>
              <a:t> </a:t>
            </a:r>
            <a:r>
              <a:rPr sz="900" b="0" i="0" dirty="0" err="1">
                <a:latin typeface="Calibri"/>
              </a:rPr>
              <a:t>oficina</a:t>
            </a:r>
            <a:r>
              <a:rPr sz="900" b="0" i="0" dirty="0">
                <a:latin typeface="Calibri"/>
              </a:rPr>
              <a:t> · 1</a:t>
            </a:r>
            <a:r>
              <a:rPr lang="es-ES" sz="900" b="0" i="0" dirty="0">
                <a:latin typeface="Calibri"/>
              </a:rPr>
              <a:t>0</a:t>
            </a:r>
            <a:r>
              <a:rPr sz="900" b="0" i="0" dirty="0">
                <a:latin typeface="Calibri"/>
              </a:rPr>
              <a:t> </a:t>
            </a:r>
            <a:r>
              <a:rPr sz="900" b="0" i="0" dirty="0" err="1">
                <a:latin typeface="Calibri"/>
              </a:rPr>
              <a:t>oficinas</a:t>
            </a:r>
            <a:r>
              <a:rPr sz="900" b="0" i="0" dirty="0">
                <a:latin typeface="Calibri"/>
              </a:rPr>
              <a:t> </a:t>
            </a:r>
            <a:r>
              <a:rPr sz="900" b="0" i="0" dirty="0" err="1">
                <a:latin typeface="Calibri"/>
              </a:rPr>
              <a:t>activas</a:t>
            </a:r>
            <a:endParaRPr sz="900" b="0" i="0" dirty="0"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84083" y="1581912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84083" y="1581912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49843" y="1581912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349843" y="1581912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41283" y="154072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CAPTACIONES Q1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283" y="1705314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latin typeface="Calibri"/>
              </a:rPr>
              <a:t>Actividad de captación por oficina y canal AAFF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76691" y="1984248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76691" y="1984248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42451" y="1984248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42451" y="1984248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33891" y="1943057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RESULTADOS FINANCIEROS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3891" y="210765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latin typeface="Calibri"/>
              </a:rPr>
              <a:t>Honorarios LAE, operaciones cerradas y pendientes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299" y="2386584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69299" y="2386584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35059" y="2386584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935059" y="2386584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26499" y="2345393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CARTERA CONSOLIDADA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26499" y="2509986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latin typeface="Calibri"/>
              </a:rPr>
              <a:t>193 inmuebles · €4,59M en honorarios potenciales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8211" y="2782211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58211" y="2782211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3971" y="2782211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23971" y="2782211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15411" y="274102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CANAL AAFF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5411" y="2905613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latin typeface="Calibri"/>
              </a:rPr>
              <a:t>28 captaciones vía Admins. de Fincas · 24,6% del total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0819" y="3184547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50819" y="3184547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6579" y="3184547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516579" y="3184547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08019" y="3143357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EVOLUCIÓN MENSUAL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08019" y="3307949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latin typeface="Calibri"/>
              </a:rPr>
              <a:t>Tendencia enero-febrero-marzo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43427" y="3586883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43427" y="3586883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09187" y="3586883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809187" y="3586883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00627" y="3545693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A1A2E"/>
                </a:solidFill>
                <a:latin typeface="Calibri"/>
              </a:rPr>
              <a:t>CUADRO POR CONSULTOR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00627" y="3710285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latin typeface="Calibri"/>
              </a:rPr>
              <a:t>Rendimiento</a:t>
            </a:r>
            <a:r>
              <a:rPr sz="900" b="0" i="0" dirty="0">
                <a:latin typeface="Calibri"/>
              </a:rPr>
              <a:t> individual · </a:t>
            </a:r>
            <a:r>
              <a:rPr lang="es-ES" sz="900" dirty="0">
                <a:latin typeface="Calibri"/>
              </a:rPr>
              <a:t>19</a:t>
            </a:r>
            <a:r>
              <a:rPr sz="900" b="0" i="0" dirty="0">
                <a:latin typeface="Calibri"/>
              </a:rPr>
              <a:t> </a:t>
            </a:r>
            <a:r>
              <a:rPr sz="900" b="0" i="0" dirty="0" err="1">
                <a:latin typeface="Calibri"/>
              </a:rPr>
              <a:t>consultores</a:t>
            </a:r>
            <a:r>
              <a:rPr sz="900" b="0" i="0" dirty="0">
                <a:latin typeface="Calibri"/>
              </a:rPr>
              <a:t> </a:t>
            </a:r>
            <a:r>
              <a:rPr sz="900" b="0" i="0" dirty="0" err="1">
                <a:latin typeface="Calibri"/>
              </a:rPr>
              <a:t>activos</a:t>
            </a:r>
            <a:endParaRPr sz="900" b="0" i="0" dirty="0"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736035" y="3989219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736035" y="3989219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01795" y="3989219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101795" y="3989219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193235" y="39480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PENDIENTE DE COBRO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93235" y="4112621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latin typeface="Calibri"/>
              </a:rPr>
              <a:t>€399.374 distribuidos por oficina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19499" y="4391555"/>
            <a:ext cx="329184" cy="3108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019499" y="4391555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5259" y="4391555"/>
            <a:ext cx="4069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385259" y="4391555"/>
            <a:ext cx="45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476699" y="4350364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900" b="1" i="0" dirty="0">
                <a:solidFill>
                  <a:srgbClr val="1A1A2E"/>
                </a:solidFill>
                <a:latin typeface="Calibri"/>
              </a:rPr>
              <a:t>REESTRUCTURACIÓN Y </a:t>
            </a:r>
            <a:r>
              <a:rPr sz="900" b="1" i="0" dirty="0">
                <a:solidFill>
                  <a:srgbClr val="1A1A2E"/>
                </a:solidFill>
                <a:latin typeface="Calibri"/>
              </a:rPr>
              <a:t>CONCLUSIONES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76699" y="4514957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latin typeface="Calibri"/>
              </a:rPr>
              <a:t>Análisis estratégico y plan de acción Q2 2026</a:t>
            </a:r>
          </a:p>
        </p:txBody>
      </p:sp>
      <p:pic>
        <p:nvPicPr>
          <p:cNvPr id="74" name="Imagen 73" descr="Texto&#10;&#10;Descripción generada automáticamente">
            <a:extLst>
              <a:ext uri="{FF2B5EF4-FFF2-40B4-BE49-F238E27FC236}">
                <a16:creationId xmlns:a16="http://schemas.microsoft.com/office/drawing/2014/main" id="{07C6B6FD-27CB-78AA-6648-FF8E9F6E2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10" y="125562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4825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FFFFFF"/>
                </a:solidFill>
                <a:latin typeface="Calibri"/>
              </a:rPr>
              <a:t>SÍNTESIS EJECUTIVA Q1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3075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4356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1435608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5087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OFICINAS ACTIVAS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6916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10/11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112264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10 con </a:t>
            </a:r>
            <a:r>
              <a:rPr sz="800" b="0" i="0" dirty="0" err="1">
                <a:solidFill>
                  <a:srgbClr val="8896B3"/>
                </a:solidFill>
                <a:latin typeface="Calibri"/>
              </a:rPr>
              <a:t>actividad</a:t>
            </a:r>
            <a:r>
              <a:rPr sz="800" b="0" i="0" dirty="0">
                <a:solidFill>
                  <a:srgbClr val="8896B3"/>
                </a:solidFill>
                <a:latin typeface="Calibri"/>
              </a:rPr>
              <a:t> · </a:t>
            </a:r>
            <a:r>
              <a:rPr lang="es-ES" sz="800" b="1" i="0" dirty="0">
                <a:solidFill>
                  <a:srgbClr val="8896B3"/>
                </a:solidFill>
                <a:latin typeface="Calibri"/>
              </a:rPr>
              <a:t>Cierre de Santander</a:t>
            </a:r>
            <a:endParaRPr sz="800" b="1" i="0" dirty="0">
              <a:solidFill>
                <a:srgbClr val="8896B3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91156" y="14356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91156" y="1435608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0884" y="15087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CONSULTORES ACTIVOS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884" y="1691640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dirty="0">
                <a:solidFill>
                  <a:srgbClr val="1A1A2E"/>
                </a:solidFill>
                <a:latin typeface="Calibri"/>
              </a:rPr>
              <a:t>19</a:t>
            </a:r>
            <a:endParaRPr sz="20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00884" y="21122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Red completa LAE HOMES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7992" y="14356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07992" y="1435608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15087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CAPTACIONES 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6916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114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1122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47 excl. (41,2%) · 67 no excl.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4828" y="14356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4828" y="1435608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34556" y="15087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CIERRES 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4556" y="16916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556" y="21122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Operaciones cerradas en Q1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404872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2404872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2478024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HONORARIOS </a:t>
            </a:r>
            <a:r>
              <a:rPr lang="es-ES" sz="800" b="0" i="0" dirty="0">
                <a:solidFill>
                  <a:srgbClr val="8896B3"/>
                </a:solidFill>
                <a:latin typeface="Calibri"/>
              </a:rPr>
              <a:t>OBJETIVO</a:t>
            </a:r>
            <a:r>
              <a:rPr lang="es-ES" sz="800" dirty="0">
                <a:solidFill>
                  <a:srgbClr val="8896B3"/>
                </a:solidFill>
                <a:latin typeface="Calibri"/>
              </a:rPr>
              <a:t> </a:t>
            </a:r>
            <a:r>
              <a:rPr sz="800" b="0" i="0" dirty="0">
                <a:solidFill>
                  <a:srgbClr val="8896B3"/>
                </a:solidFill>
                <a:latin typeface="Calibri"/>
              </a:rPr>
              <a:t> Q1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2660904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1A2E"/>
                </a:solidFill>
                <a:latin typeface="Calibri"/>
              </a:rPr>
              <a:t>€</a:t>
            </a:r>
            <a:r>
              <a:rPr lang="es-ES" sz="2000" b="1" i="0" dirty="0">
                <a:solidFill>
                  <a:srgbClr val="1A1A2E"/>
                </a:solidFill>
                <a:latin typeface="Calibri"/>
              </a:rPr>
              <a:t>473.750</a:t>
            </a:r>
            <a:endParaRPr sz="20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4048" y="3081528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€</a:t>
            </a:r>
            <a:r>
              <a:rPr lang="es-ES" sz="800" b="0" i="0" dirty="0">
                <a:solidFill>
                  <a:srgbClr val="8896B3"/>
                </a:solidFill>
                <a:latin typeface="Calibri"/>
              </a:rPr>
              <a:t>473.750</a:t>
            </a:r>
            <a:r>
              <a:rPr sz="800" b="0" i="0" dirty="0">
                <a:solidFill>
                  <a:srgbClr val="8896B3"/>
                </a:solidFill>
                <a:latin typeface="Calibri"/>
              </a:rPr>
              <a:t> </a:t>
            </a:r>
            <a:r>
              <a:rPr lang="es-ES" sz="800" b="0" i="0" dirty="0">
                <a:solidFill>
                  <a:srgbClr val="8896B3"/>
                </a:solidFill>
                <a:latin typeface="Calibri"/>
              </a:rPr>
              <a:t>honorarios </a:t>
            </a:r>
            <a:r>
              <a:rPr sz="800" b="0" i="0" dirty="0">
                <a:solidFill>
                  <a:srgbClr val="8896B3"/>
                </a:solidFill>
                <a:latin typeface="Calibri"/>
              </a:rPr>
              <a:t>LAE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91156" y="2404872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391156" y="2404872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00884" y="2478024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rgbClr val="8896B3"/>
                </a:solidFill>
              </a:rPr>
              <a:t>HONORARIOS BRUTOS  Q1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00884" y="2660904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3">
                    <a:lumMod val="75000"/>
                  </a:schemeClr>
                </a:solidFill>
              </a:rPr>
              <a:t>€513.752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0884" y="3081528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rgbClr val="8896B3"/>
                </a:solidFill>
              </a:rPr>
              <a:t>€513.752 honorarios participado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07992" y="2404872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07992" y="2404872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17720" y="2478024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rgbClr val="8896B3"/>
                </a:solidFill>
              </a:rPr>
              <a:t>HONORARIOS LAE Q1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660904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€356.954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3081528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rgbClr val="8896B3"/>
                </a:solidFill>
              </a:rPr>
              <a:t>€356.954 para LAE – AAFF 50 - </a:t>
            </a:r>
            <a:r>
              <a:rPr lang="es-ES" sz="800" dirty="0" err="1">
                <a:solidFill>
                  <a:srgbClr val="8896B3"/>
                </a:solidFill>
              </a:rPr>
              <a:t>out</a:t>
            </a:r>
            <a:endParaRPr lang="es-ES" sz="800" dirty="0">
              <a:solidFill>
                <a:srgbClr val="8896B3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624828" y="2404872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24828" y="2404872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34556" y="2478024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rgbClr val="8896B3"/>
                </a:solidFill>
              </a:rPr>
              <a:t>HONORARIOS GENERADOS Q1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4556" y="2660904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€</a:t>
            </a: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492.440</a:t>
            </a:r>
            <a:endParaRPr sz="2000" b="1" i="0" dirty="0">
              <a:solidFill>
                <a:schemeClr val="accent3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34556" y="3033403"/>
            <a:ext cx="1920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78933B"/>
                </a:solidFill>
              </a:rPr>
              <a:t>€374.205 </a:t>
            </a:r>
            <a:r>
              <a:rPr lang="es-ES" sz="800" dirty="0">
                <a:solidFill>
                  <a:srgbClr val="8896B3"/>
                </a:solidFill>
              </a:rPr>
              <a:t>LAE</a:t>
            </a:r>
          </a:p>
        </p:txBody>
      </p:sp>
      <p:sp>
        <p:nvSpPr>
          <p:cNvPr id="63" name="Rectangle 33">
            <a:extLst>
              <a:ext uri="{FF2B5EF4-FFF2-40B4-BE49-F238E27FC236}">
                <a16:creationId xmlns:a16="http://schemas.microsoft.com/office/drawing/2014/main" id="{C0101E7B-2E6F-4EA7-F269-80220BC4E40D}"/>
              </a:ext>
            </a:extLst>
          </p:cNvPr>
          <p:cNvSpPr/>
          <p:nvPr/>
        </p:nvSpPr>
        <p:spPr>
          <a:xfrm>
            <a:off x="275718" y="3371005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34">
            <a:extLst>
              <a:ext uri="{FF2B5EF4-FFF2-40B4-BE49-F238E27FC236}">
                <a16:creationId xmlns:a16="http://schemas.microsoft.com/office/drawing/2014/main" id="{448CAC31-A6AF-5C9F-5C3A-F21A87F66A9B}"/>
              </a:ext>
            </a:extLst>
          </p:cNvPr>
          <p:cNvSpPr/>
          <p:nvPr/>
        </p:nvSpPr>
        <p:spPr>
          <a:xfrm>
            <a:off x="275718" y="3371005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35">
            <a:extLst>
              <a:ext uri="{FF2B5EF4-FFF2-40B4-BE49-F238E27FC236}">
                <a16:creationId xmlns:a16="http://schemas.microsoft.com/office/drawing/2014/main" id="{B143C864-0AEB-49E3-3AAC-B5ACE78D33F2}"/>
              </a:ext>
            </a:extLst>
          </p:cNvPr>
          <p:cNvSpPr txBox="1"/>
          <p:nvPr/>
        </p:nvSpPr>
        <p:spPr>
          <a:xfrm>
            <a:off x="385446" y="3444157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HONORARIOS </a:t>
            </a:r>
            <a:r>
              <a:rPr lang="es-ES" sz="800" b="0" i="0" dirty="0">
                <a:solidFill>
                  <a:srgbClr val="8896B3"/>
                </a:solidFill>
                <a:latin typeface="Calibri"/>
              </a:rPr>
              <a:t>PENDIENTES DE COBRO</a:t>
            </a:r>
            <a:endParaRPr sz="800" b="0" i="0" dirty="0">
              <a:solidFill>
                <a:srgbClr val="8896B3"/>
              </a:solidFill>
              <a:latin typeface="Calibri"/>
            </a:endParaRPr>
          </a:p>
        </p:txBody>
      </p:sp>
      <p:sp>
        <p:nvSpPr>
          <p:cNvPr id="66" name="TextBox 36">
            <a:extLst>
              <a:ext uri="{FF2B5EF4-FFF2-40B4-BE49-F238E27FC236}">
                <a16:creationId xmlns:a16="http://schemas.microsoft.com/office/drawing/2014/main" id="{C2D71288-9BB9-27BC-CC56-61A91A12F704}"/>
              </a:ext>
            </a:extLst>
          </p:cNvPr>
          <p:cNvSpPr txBox="1"/>
          <p:nvPr/>
        </p:nvSpPr>
        <p:spPr>
          <a:xfrm>
            <a:off x="385446" y="3627037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€3</a:t>
            </a:r>
            <a:r>
              <a:rPr lang="es-ES" sz="2000" b="1" i="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99.374</a:t>
            </a:r>
            <a:endParaRPr sz="2000" b="1" i="0" dirty="0">
              <a:solidFill>
                <a:schemeClr val="accent3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7" name="TextBox 37">
            <a:extLst>
              <a:ext uri="{FF2B5EF4-FFF2-40B4-BE49-F238E27FC236}">
                <a16:creationId xmlns:a16="http://schemas.microsoft.com/office/drawing/2014/main" id="{181ECB9A-B8B4-EA61-A4C3-8BC12D4A44E0}"/>
              </a:ext>
            </a:extLst>
          </p:cNvPr>
          <p:cNvSpPr txBox="1"/>
          <p:nvPr/>
        </p:nvSpPr>
        <p:spPr>
          <a:xfrm>
            <a:off x="385446" y="3989910"/>
            <a:ext cx="1920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78933B"/>
                </a:solidFill>
              </a:rPr>
              <a:t>€330.291 </a:t>
            </a:r>
            <a:r>
              <a:rPr lang="es-ES" sz="800" dirty="0">
                <a:solidFill>
                  <a:srgbClr val="8896B3"/>
                </a:solidFill>
              </a:rPr>
              <a:t>Estimado Pendiente LAE</a:t>
            </a:r>
          </a:p>
        </p:txBody>
      </p:sp>
      <p:sp>
        <p:nvSpPr>
          <p:cNvPr id="68" name="Rectangle 38">
            <a:extLst>
              <a:ext uri="{FF2B5EF4-FFF2-40B4-BE49-F238E27FC236}">
                <a16:creationId xmlns:a16="http://schemas.microsoft.com/office/drawing/2014/main" id="{D6C1654D-5292-FDDD-4787-A708CC2F33C7}"/>
              </a:ext>
            </a:extLst>
          </p:cNvPr>
          <p:cNvSpPr/>
          <p:nvPr/>
        </p:nvSpPr>
        <p:spPr>
          <a:xfrm>
            <a:off x="2392554" y="3371005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39">
            <a:extLst>
              <a:ext uri="{FF2B5EF4-FFF2-40B4-BE49-F238E27FC236}">
                <a16:creationId xmlns:a16="http://schemas.microsoft.com/office/drawing/2014/main" id="{4C49B8F0-B248-84B7-618C-8643E7A27F91}"/>
              </a:ext>
            </a:extLst>
          </p:cNvPr>
          <p:cNvSpPr/>
          <p:nvPr/>
        </p:nvSpPr>
        <p:spPr>
          <a:xfrm>
            <a:off x="2392554" y="3371005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40">
            <a:extLst>
              <a:ext uri="{FF2B5EF4-FFF2-40B4-BE49-F238E27FC236}">
                <a16:creationId xmlns:a16="http://schemas.microsoft.com/office/drawing/2014/main" id="{F0781D91-D25D-6E75-A3E0-6EC3D306C81F}"/>
              </a:ext>
            </a:extLst>
          </p:cNvPr>
          <p:cNvSpPr txBox="1"/>
          <p:nvPr/>
        </p:nvSpPr>
        <p:spPr>
          <a:xfrm>
            <a:off x="2502282" y="3444157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CARTERA ACTIVA</a:t>
            </a:r>
          </a:p>
        </p:txBody>
      </p:sp>
      <p:sp>
        <p:nvSpPr>
          <p:cNvPr id="71" name="TextBox 41">
            <a:extLst>
              <a:ext uri="{FF2B5EF4-FFF2-40B4-BE49-F238E27FC236}">
                <a16:creationId xmlns:a16="http://schemas.microsoft.com/office/drawing/2014/main" id="{AAD4C38B-29DB-1DDB-0479-18CFFF4971BA}"/>
              </a:ext>
            </a:extLst>
          </p:cNvPr>
          <p:cNvSpPr txBox="1"/>
          <p:nvPr/>
        </p:nvSpPr>
        <p:spPr>
          <a:xfrm>
            <a:off x="2502282" y="3627037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193</a:t>
            </a:r>
          </a:p>
        </p:txBody>
      </p:sp>
      <p:sp>
        <p:nvSpPr>
          <p:cNvPr id="72" name="TextBox 42">
            <a:extLst>
              <a:ext uri="{FF2B5EF4-FFF2-40B4-BE49-F238E27FC236}">
                <a16:creationId xmlns:a16="http://schemas.microsoft.com/office/drawing/2014/main" id="{95A74B82-30F7-2701-196C-970F10533431}"/>
              </a:ext>
            </a:extLst>
          </p:cNvPr>
          <p:cNvSpPr txBox="1"/>
          <p:nvPr/>
        </p:nvSpPr>
        <p:spPr>
          <a:xfrm>
            <a:off x="2502282" y="4047661"/>
            <a:ext cx="19202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800" b="0" i="0" dirty="0">
                <a:solidFill>
                  <a:srgbClr val="8896B3"/>
                </a:solidFill>
                <a:latin typeface="Calibri"/>
              </a:rPr>
              <a:t>Honorarios potenciales de </a:t>
            </a:r>
            <a:r>
              <a:rPr sz="900" b="1" i="0" dirty="0">
                <a:solidFill>
                  <a:srgbClr val="8896B3"/>
                </a:solidFill>
                <a:latin typeface="Calibri"/>
              </a:rPr>
              <a:t>€4,59M</a:t>
            </a:r>
            <a:endParaRPr sz="800" b="1" i="0" dirty="0">
              <a:solidFill>
                <a:srgbClr val="8896B3"/>
              </a:solidFill>
              <a:latin typeface="Calibri"/>
            </a:endParaRPr>
          </a:p>
        </p:txBody>
      </p:sp>
      <p:sp>
        <p:nvSpPr>
          <p:cNvPr id="73" name="Rectangle 43">
            <a:extLst>
              <a:ext uri="{FF2B5EF4-FFF2-40B4-BE49-F238E27FC236}">
                <a16:creationId xmlns:a16="http://schemas.microsoft.com/office/drawing/2014/main" id="{78106EBA-FF32-492D-B6D2-76299A6577B2}"/>
              </a:ext>
            </a:extLst>
          </p:cNvPr>
          <p:cNvSpPr/>
          <p:nvPr/>
        </p:nvSpPr>
        <p:spPr>
          <a:xfrm>
            <a:off x="4509390" y="3371005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44">
            <a:extLst>
              <a:ext uri="{FF2B5EF4-FFF2-40B4-BE49-F238E27FC236}">
                <a16:creationId xmlns:a16="http://schemas.microsoft.com/office/drawing/2014/main" id="{28394B81-A50A-0574-63D4-EEF3A04CA63F}"/>
              </a:ext>
            </a:extLst>
          </p:cNvPr>
          <p:cNvSpPr/>
          <p:nvPr/>
        </p:nvSpPr>
        <p:spPr>
          <a:xfrm>
            <a:off x="4509390" y="3371005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45">
            <a:extLst>
              <a:ext uri="{FF2B5EF4-FFF2-40B4-BE49-F238E27FC236}">
                <a16:creationId xmlns:a16="http://schemas.microsoft.com/office/drawing/2014/main" id="{5A4C11BF-8D8C-18EE-7FA6-75F0120C0969}"/>
              </a:ext>
            </a:extLst>
          </p:cNvPr>
          <p:cNvSpPr txBox="1"/>
          <p:nvPr/>
        </p:nvSpPr>
        <p:spPr>
          <a:xfrm>
            <a:off x="4619118" y="3444157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800" b="0" i="0" dirty="0">
                <a:solidFill>
                  <a:srgbClr val="8896B3"/>
                </a:solidFill>
                <a:latin typeface="Calibri"/>
              </a:rPr>
              <a:t>CARTERA EXCLUSIVA</a:t>
            </a:r>
            <a:endParaRPr sz="800" b="0" i="0" dirty="0">
              <a:solidFill>
                <a:srgbClr val="8896B3"/>
              </a:solidFill>
              <a:latin typeface="Calibri"/>
            </a:endParaRPr>
          </a:p>
        </p:txBody>
      </p:sp>
      <p:sp>
        <p:nvSpPr>
          <p:cNvPr id="76" name="TextBox 46">
            <a:extLst>
              <a:ext uri="{FF2B5EF4-FFF2-40B4-BE49-F238E27FC236}">
                <a16:creationId xmlns:a16="http://schemas.microsoft.com/office/drawing/2014/main" id="{9249BCAA-79E2-6864-365F-949698285D08}"/>
              </a:ext>
            </a:extLst>
          </p:cNvPr>
          <p:cNvSpPr txBox="1"/>
          <p:nvPr/>
        </p:nvSpPr>
        <p:spPr>
          <a:xfrm>
            <a:off x="4619118" y="3627037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dirty="0">
                <a:solidFill>
                  <a:srgbClr val="1A1A2E"/>
                </a:solidFill>
                <a:latin typeface="Calibri"/>
              </a:rPr>
              <a:t>70</a:t>
            </a:r>
            <a:endParaRPr sz="20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77" name="TextBox 47">
            <a:extLst>
              <a:ext uri="{FF2B5EF4-FFF2-40B4-BE49-F238E27FC236}">
                <a16:creationId xmlns:a16="http://schemas.microsoft.com/office/drawing/2014/main" id="{EA8F4D67-DE2C-6953-E1FD-07FC83622146}"/>
              </a:ext>
            </a:extLst>
          </p:cNvPr>
          <p:cNvSpPr txBox="1"/>
          <p:nvPr/>
        </p:nvSpPr>
        <p:spPr>
          <a:xfrm>
            <a:off x="4619118" y="4047661"/>
            <a:ext cx="19202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rgbClr val="8896B3"/>
                </a:solidFill>
              </a:rPr>
              <a:t>Honorarios potenciales de </a:t>
            </a:r>
            <a:r>
              <a:rPr lang="es-ES" sz="900" b="1" dirty="0">
                <a:solidFill>
                  <a:srgbClr val="8896B3"/>
                </a:solidFill>
              </a:rPr>
              <a:t>€1,34M</a:t>
            </a:r>
            <a:endParaRPr lang="es-ES" sz="800" b="1" dirty="0">
              <a:solidFill>
                <a:srgbClr val="8896B3"/>
              </a:solidFill>
            </a:endParaRPr>
          </a:p>
        </p:txBody>
      </p:sp>
      <p:sp>
        <p:nvSpPr>
          <p:cNvPr id="78" name="Rectangle 48">
            <a:extLst>
              <a:ext uri="{FF2B5EF4-FFF2-40B4-BE49-F238E27FC236}">
                <a16:creationId xmlns:a16="http://schemas.microsoft.com/office/drawing/2014/main" id="{CBFF8E65-A401-03C4-68C8-C4059405CF73}"/>
              </a:ext>
            </a:extLst>
          </p:cNvPr>
          <p:cNvSpPr/>
          <p:nvPr/>
        </p:nvSpPr>
        <p:spPr>
          <a:xfrm>
            <a:off x="6626226" y="3371005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49">
            <a:extLst>
              <a:ext uri="{FF2B5EF4-FFF2-40B4-BE49-F238E27FC236}">
                <a16:creationId xmlns:a16="http://schemas.microsoft.com/office/drawing/2014/main" id="{C21C26EF-607A-71BD-127A-1FCA81C4694C}"/>
              </a:ext>
            </a:extLst>
          </p:cNvPr>
          <p:cNvSpPr/>
          <p:nvPr/>
        </p:nvSpPr>
        <p:spPr>
          <a:xfrm>
            <a:off x="6626226" y="3371005"/>
            <a:ext cx="54864" cy="8961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50">
            <a:extLst>
              <a:ext uri="{FF2B5EF4-FFF2-40B4-BE49-F238E27FC236}">
                <a16:creationId xmlns:a16="http://schemas.microsoft.com/office/drawing/2014/main" id="{9C4DF00A-C037-2C8D-C9DF-55C587E2AB55}"/>
              </a:ext>
            </a:extLst>
          </p:cNvPr>
          <p:cNvSpPr txBox="1"/>
          <p:nvPr/>
        </p:nvSpPr>
        <p:spPr>
          <a:xfrm>
            <a:off x="6735954" y="3444157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rgbClr val="8896B3"/>
                </a:solidFill>
              </a:rPr>
              <a:t>CAPTACIONES 1T CANAL AAFF</a:t>
            </a:r>
          </a:p>
        </p:txBody>
      </p:sp>
      <p:sp>
        <p:nvSpPr>
          <p:cNvPr id="81" name="TextBox 51">
            <a:extLst>
              <a:ext uri="{FF2B5EF4-FFF2-40B4-BE49-F238E27FC236}">
                <a16:creationId xmlns:a16="http://schemas.microsoft.com/office/drawing/2014/main" id="{6A052B46-93D8-E645-07B1-C3710E7DA21E}"/>
              </a:ext>
            </a:extLst>
          </p:cNvPr>
          <p:cNvSpPr txBox="1"/>
          <p:nvPr/>
        </p:nvSpPr>
        <p:spPr>
          <a:xfrm>
            <a:off x="6735954" y="3627037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1A1A2E"/>
                </a:solidFill>
              </a:rPr>
              <a:t>28 </a:t>
            </a:r>
            <a:r>
              <a:rPr lang="es-ES" sz="1200" b="1" dirty="0">
                <a:solidFill>
                  <a:srgbClr val="1A1A2E"/>
                </a:solidFill>
              </a:rPr>
              <a:t>sobre 114</a:t>
            </a:r>
            <a:endParaRPr lang="es-ES" sz="2000" b="1" dirty="0">
              <a:solidFill>
                <a:srgbClr val="1A1A2E"/>
              </a:solidFill>
            </a:endParaRPr>
          </a:p>
        </p:txBody>
      </p:sp>
      <p:sp>
        <p:nvSpPr>
          <p:cNvPr id="82" name="TextBox 52">
            <a:extLst>
              <a:ext uri="{FF2B5EF4-FFF2-40B4-BE49-F238E27FC236}">
                <a16:creationId xmlns:a16="http://schemas.microsoft.com/office/drawing/2014/main" id="{010F3274-0E31-C6E3-EAE0-1D6526A780B6}"/>
              </a:ext>
            </a:extLst>
          </p:cNvPr>
          <p:cNvSpPr txBox="1"/>
          <p:nvPr/>
        </p:nvSpPr>
        <p:spPr>
          <a:xfrm>
            <a:off x="6735954" y="4047661"/>
            <a:ext cx="19202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rgbClr val="8896B3"/>
                </a:solidFill>
              </a:rPr>
              <a:t>24,6% </a:t>
            </a:r>
            <a:r>
              <a:rPr lang="es-ES" sz="800" dirty="0">
                <a:solidFill>
                  <a:srgbClr val="8896B3"/>
                </a:solidFill>
              </a:rPr>
              <a:t>captaciones </a:t>
            </a:r>
            <a:r>
              <a:rPr lang="es-ES" sz="800" dirty="0" err="1">
                <a:solidFill>
                  <a:srgbClr val="8896B3"/>
                </a:solidFill>
              </a:rPr>
              <a:t>via</a:t>
            </a:r>
            <a:r>
              <a:rPr lang="es-ES" sz="800" dirty="0">
                <a:solidFill>
                  <a:srgbClr val="8896B3"/>
                </a:solidFill>
              </a:rPr>
              <a:t> AAFF</a:t>
            </a:r>
          </a:p>
        </p:txBody>
      </p:sp>
      <p:pic>
        <p:nvPicPr>
          <p:cNvPr id="83" name="Imagen 82" descr="Texto&#10;&#10;Descripción generada automáticamente">
            <a:extLst>
              <a:ext uri="{FF2B5EF4-FFF2-40B4-BE49-F238E27FC236}">
                <a16:creationId xmlns:a16="http://schemas.microsoft.com/office/drawing/2014/main" id="{1159E185-7FCA-AA59-1BC2-220BEDF21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548713AE-E7F9-FFC0-9FFF-1530FD802B3E}"/>
              </a:ext>
            </a:extLst>
          </p:cNvPr>
          <p:cNvSpPr/>
          <p:nvPr/>
        </p:nvSpPr>
        <p:spPr>
          <a:xfrm>
            <a:off x="0" y="50749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04587CD9-EF32-648A-55E4-DDB6B3C5AD59}"/>
              </a:ext>
            </a:extLst>
          </p:cNvPr>
          <p:cNvSpPr txBox="1"/>
          <p:nvPr/>
        </p:nvSpPr>
        <p:spPr>
          <a:xfrm>
            <a:off x="256032" y="51114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· Informe Q1 2026 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A776-927C-CFCE-BD10-40A10ECE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B5809-4840-59EF-37EC-4E941B5E2ED9}"/>
              </a:ext>
            </a:extLst>
          </p:cNvPr>
          <p:cNvSpPr/>
          <p:nvPr/>
        </p:nvSpPr>
        <p:spPr>
          <a:xfrm>
            <a:off x="0" y="224825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5F26F9-8923-6584-08FF-A4321F433BE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3770C-1F58-34C7-ECB2-218229C73033}"/>
              </a:ext>
            </a:extLst>
          </p:cNvPr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E339CB-A56E-3B5C-5212-2105C114C3F2}"/>
              </a:ext>
            </a:extLst>
          </p:cNvPr>
          <p:cNvSpPr txBox="1"/>
          <p:nvPr/>
        </p:nvSpPr>
        <p:spPr>
          <a:xfrm>
            <a:off x="256032" y="246888"/>
            <a:ext cx="713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FFFFFF"/>
                </a:solidFill>
                <a:latin typeface="Calibri"/>
              </a:rPr>
              <a:t>SÍNTESIS EJECUTIVA Q1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C9F06-ADEF-D00E-58C6-02CFA0D60490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9400FA-F8B9-22B2-F364-59003B600BF3}"/>
              </a:ext>
            </a:extLst>
          </p:cNvPr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831C3B6-339C-7F31-70E2-2F8E01BE013C}"/>
              </a:ext>
            </a:extLst>
          </p:cNvPr>
          <p:cNvSpPr/>
          <p:nvPr/>
        </p:nvSpPr>
        <p:spPr>
          <a:xfrm>
            <a:off x="301096" y="1292896"/>
            <a:ext cx="4197096" cy="36265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EFB47ED-36C9-C0F1-2594-305A3C5948ED}"/>
              </a:ext>
            </a:extLst>
          </p:cNvPr>
          <p:cNvSpPr/>
          <p:nvPr/>
        </p:nvSpPr>
        <p:spPr>
          <a:xfrm>
            <a:off x="301096" y="1292896"/>
            <a:ext cx="54864" cy="362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0E3381-EB38-5EAB-8194-0173587A1FC8}"/>
              </a:ext>
            </a:extLst>
          </p:cNvPr>
          <p:cNvSpPr txBox="1"/>
          <p:nvPr/>
        </p:nvSpPr>
        <p:spPr>
          <a:xfrm>
            <a:off x="429112" y="1470167"/>
            <a:ext cx="36695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C9A84C"/>
                </a:solidFill>
                <a:latin typeface="Calibri"/>
              </a:rPr>
              <a:t>🏆 FORTALEZAS DEL TRIMESTRE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F8327F-727C-BD0F-4F3D-F14E7FEB824C}"/>
              </a:ext>
            </a:extLst>
          </p:cNvPr>
          <p:cNvSpPr txBox="1"/>
          <p:nvPr/>
        </p:nvSpPr>
        <p:spPr>
          <a:xfrm>
            <a:off x="429112" y="1791626"/>
            <a:ext cx="4069080" cy="207171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  <a:latin typeface="Calibri"/>
              </a:rPr>
              <a:t>*Madrid (€108K LAE</a:t>
            </a:r>
            <a:r>
              <a:rPr lang="es-ES" sz="1100" dirty="0">
                <a:solidFill>
                  <a:srgbClr val="FFFFFF"/>
                </a:solidFill>
              </a:rPr>
              <a:t>), Marbella (€74,9K LAE) y </a:t>
            </a:r>
          </a:p>
          <a:p>
            <a:r>
              <a:rPr sz="1100" dirty="0">
                <a:solidFill>
                  <a:srgbClr val="FFFFFF"/>
                </a:solidFill>
                <a:latin typeface="Calibri"/>
              </a:rPr>
              <a:t>Alicante (€71,6K LAE)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</a:rPr>
              <a:t>son los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motores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ingresos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.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sz="1100" dirty="0">
                <a:solidFill>
                  <a:srgbClr val="FFFFFF"/>
                </a:solidFill>
                <a:latin typeface="Calibri"/>
              </a:rPr>
              <a:t>El canal AAFF genera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24,6% de las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captaciones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. 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sz="1100" dirty="0">
                <a:solidFill>
                  <a:srgbClr val="FFFFFF"/>
                </a:solidFill>
                <a:latin typeface="Calibri"/>
              </a:rPr>
              <a:t>Barcelona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lidera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cartera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con €1,99M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hon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.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p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otenciales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, y dos 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cierres de suelo para firma, con honorarios importantes para Q2.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  <a:latin typeface="Calibri"/>
              </a:rPr>
              <a:t>Castellón, nueva oficina que se incorpora cumpliendo objetivos.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  <a:latin typeface="Calibri"/>
              </a:rPr>
              <a:t>Sevilla comienza a trabajar con AAFF.</a:t>
            </a:r>
          </a:p>
          <a:p>
            <a:endParaRPr sz="1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F8EE334-58C0-1C56-F9D1-49431C2152DF}"/>
              </a:ext>
            </a:extLst>
          </p:cNvPr>
          <p:cNvSpPr/>
          <p:nvPr/>
        </p:nvSpPr>
        <p:spPr>
          <a:xfrm>
            <a:off x="4706701" y="1292896"/>
            <a:ext cx="4166894" cy="36265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AB7546B-DA44-B97D-7DF2-F70EFC9DB118}"/>
              </a:ext>
            </a:extLst>
          </p:cNvPr>
          <p:cNvSpPr/>
          <p:nvPr/>
        </p:nvSpPr>
        <p:spPr>
          <a:xfrm>
            <a:off x="4707665" y="1302530"/>
            <a:ext cx="54864" cy="362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141C93-48F5-CD9C-D361-EC1F8A1C4651}"/>
              </a:ext>
            </a:extLst>
          </p:cNvPr>
          <p:cNvSpPr txBox="1"/>
          <p:nvPr/>
        </p:nvSpPr>
        <p:spPr>
          <a:xfrm>
            <a:off x="4927960" y="1470167"/>
            <a:ext cx="4069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C9A84C"/>
                </a:solidFill>
                <a:latin typeface="Calibri"/>
              </a:rPr>
              <a:t>⚠️ ÁREAS DE MEJORA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92D4EE-535A-D089-986E-BFA962737C3F}"/>
              </a:ext>
            </a:extLst>
          </p:cNvPr>
          <p:cNvSpPr txBox="1"/>
          <p:nvPr/>
        </p:nvSpPr>
        <p:spPr>
          <a:xfrm>
            <a:off x="4927960" y="1791626"/>
            <a:ext cx="3909059" cy="21082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</a:rPr>
              <a:t>Hemos cerrado la oficina de Santander.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</a:rPr>
              <a:t>Cambio de instalaciones en Barcelona y Valencia.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</a:rPr>
              <a:t>En Valencia asumiendo la dirección de oficina y salida</a:t>
            </a:r>
          </a:p>
          <a:p>
            <a:r>
              <a:rPr lang="es-ES" sz="1100" dirty="0">
                <a:solidFill>
                  <a:srgbClr val="FFFFFF"/>
                </a:solidFill>
              </a:rPr>
              <a:t>de Giacomo.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sz="1100" dirty="0">
                <a:solidFill>
                  <a:srgbClr val="FFFFFF"/>
                </a:solidFill>
              </a:rPr>
              <a:t>San</a:t>
            </a:r>
            <a:r>
              <a:rPr lang="es-ES" sz="1100" dirty="0">
                <a:solidFill>
                  <a:srgbClr val="FFFFFF"/>
                </a:solidFill>
              </a:rPr>
              <a:t> Sebastián y Málaga comienzan con honorarios LAE</a:t>
            </a:r>
          </a:p>
          <a:p>
            <a:r>
              <a:rPr lang="es-ES" sz="1100" dirty="0">
                <a:solidFill>
                  <a:srgbClr val="FFFFFF"/>
                </a:solidFill>
              </a:rPr>
              <a:t>muy pobres.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sz="1100" dirty="0">
                <a:solidFill>
                  <a:srgbClr val="FFFFFF"/>
                </a:solidFill>
              </a:rPr>
              <a:t>Barcelona bajo </a:t>
            </a:r>
            <a:r>
              <a:rPr sz="1100" dirty="0" err="1">
                <a:solidFill>
                  <a:srgbClr val="FFFFFF"/>
                </a:solidFill>
              </a:rPr>
              <a:t>en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conversión</a:t>
            </a:r>
            <a:r>
              <a:rPr sz="1100" dirty="0">
                <a:solidFill>
                  <a:srgbClr val="FFFFFF"/>
                </a:solidFill>
              </a:rPr>
              <a:t> (3 </a:t>
            </a:r>
            <a:r>
              <a:rPr sz="1100" dirty="0" err="1">
                <a:solidFill>
                  <a:srgbClr val="FFFFFF"/>
                </a:solidFill>
              </a:rPr>
              <a:t>cierres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sobre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lang="es-ES" sz="1100" dirty="0">
                <a:solidFill>
                  <a:srgbClr val="FFFFFF"/>
                </a:solidFill>
              </a:rPr>
              <a:t>gran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cartera</a:t>
            </a:r>
            <a:r>
              <a:rPr sz="1100" dirty="0">
                <a:solidFill>
                  <a:srgbClr val="FFFFFF"/>
                </a:solidFill>
              </a:rPr>
              <a:t>).</a:t>
            </a: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sz="1100" dirty="0">
                <a:solidFill>
                  <a:srgbClr val="FFFFFF"/>
                </a:solidFill>
              </a:rPr>
              <a:t>Madrid sin </a:t>
            </a:r>
            <a:r>
              <a:rPr sz="1100" dirty="0" err="1">
                <a:solidFill>
                  <a:srgbClr val="FFFFFF"/>
                </a:solidFill>
              </a:rPr>
              <a:t>cartera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pero</a:t>
            </a:r>
            <a:r>
              <a:rPr sz="1100" dirty="0">
                <a:solidFill>
                  <a:srgbClr val="FFFFFF"/>
                </a:solidFill>
              </a:rPr>
              <a:t> con alto valor de </a:t>
            </a:r>
            <a:r>
              <a:rPr sz="1100" dirty="0" err="1">
                <a:solidFill>
                  <a:srgbClr val="FFFFFF"/>
                </a:solidFill>
              </a:rPr>
              <a:t>cierre</a:t>
            </a:r>
            <a:r>
              <a:rPr sz="1100" dirty="0">
                <a:solidFill>
                  <a:srgbClr val="FFFFFF"/>
                </a:solidFill>
              </a:rPr>
              <a:t>.</a:t>
            </a: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</a:rPr>
              <a:t>Activación muy lenta de los AAFF. Trabajando mejora.</a:t>
            </a:r>
          </a:p>
          <a:p>
            <a:pPr marL="171450" indent="-171450">
              <a:buFont typeface="Wingdings" pitchFamily="2" charset="2"/>
              <a:buChar char="ü"/>
            </a:pPr>
            <a:endParaRPr lang="es-ES" sz="1100" dirty="0">
              <a:solidFill>
                <a:srgbClr val="FFFFFF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s-ES" sz="1100" dirty="0">
                <a:solidFill>
                  <a:srgbClr val="FFFFFF"/>
                </a:solidFill>
              </a:rPr>
              <a:t>Aplicando nuevo Plan Operativo en cada una de las oficinas.</a:t>
            </a:r>
          </a:p>
          <a:p>
            <a:pPr marL="171450" indent="-171450">
              <a:buFont typeface="Wingdings" pitchFamily="2" charset="2"/>
              <a:buChar char="ü"/>
            </a:pPr>
            <a:endParaRPr sz="1100" dirty="0">
              <a:solidFill>
                <a:srgbClr val="FFFFFF"/>
              </a:solidFill>
            </a:endParaRPr>
          </a:p>
        </p:txBody>
      </p:sp>
      <p:pic>
        <p:nvPicPr>
          <p:cNvPr id="83" name="Imagen 82" descr="Texto&#10;&#10;Descripción generada automáticamente">
            <a:extLst>
              <a:ext uri="{FF2B5EF4-FFF2-40B4-BE49-F238E27FC236}">
                <a16:creationId xmlns:a16="http://schemas.microsoft.com/office/drawing/2014/main" id="{B909CB1F-64B6-ED90-D205-A1F363A45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67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ESTADO DE LA RED · CUADRO DE MANDO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</a:t>
            </a:r>
            <a:r>
              <a:rPr lang="es-ES" sz="700" b="0" i="0" dirty="0">
                <a:solidFill>
                  <a:srgbClr val="8896B3"/>
                </a:solidFill>
                <a:latin typeface="Calibri"/>
              </a:rPr>
              <a:t>- </a:t>
            </a:r>
            <a:r>
              <a:rPr sz="700" b="0" i="0" dirty="0">
                <a:solidFill>
                  <a:srgbClr val="8896B3"/>
                </a:solidFill>
                <a:latin typeface="Calibri"/>
              </a:rPr>
              <a:t>Informe Q1 2026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5266" y="908528"/>
            <a:ext cx="141732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181842" y="945104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Oficina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2586" y="908528"/>
            <a:ext cx="5669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2599162" y="945104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29514" y="908528"/>
            <a:ext cx="5669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3166090" y="945104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Excl.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6442" y="908528"/>
            <a:ext cx="64008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3733018" y="945104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Cierres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6522" y="908528"/>
            <a:ext cx="84124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373098" y="945104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Hon. LAE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77770" y="908528"/>
            <a:ext cx="64008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5214346" y="945104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Cartera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7850" y="908528"/>
            <a:ext cx="1078992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5854426" y="945104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Hon. Cartera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96842" y="908528"/>
            <a:ext cx="987552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933418" y="945104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Pdte. Cobro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5266" y="1173703"/>
            <a:ext cx="141732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1181842" y="1219424"/>
            <a:ext cx="1362456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Alicante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2586" y="1173703"/>
            <a:ext cx="56692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599162" y="1219424"/>
            <a:ext cx="5120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9514" y="1173703"/>
            <a:ext cx="56692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3166090" y="1219424"/>
            <a:ext cx="5120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96442" y="1173703"/>
            <a:ext cx="64008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3733018" y="1219424"/>
            <a:ext cx="585215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36522" y="1173703"/>
            <a:ext cx="84124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4373098" y="1219424"/>
            <a:ext cx="78638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€71.572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77770" y="1173703"/>
            <a:ext cx="64008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5214346" y="1219424"/>
            <a:ext cx="585215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43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17850" y="1173703"/>
            <a:ext cx="107899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5854426" y="1219424"/>
            <a:ext cx="1024127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€681K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96842" y="1173703"/>
            <a:ext cx="98755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6933418" y="1219424"/>
            <a:ext cx="932688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€30.015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5266" y="1438880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1181842" y="1484600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Barcelona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2586" y="1438880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2599162" y="1484600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29514" y="1438880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3166090" y="1484600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6442" y="1438880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3733018" y="1484600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6522" y="1438880"/>
            <a:ext cx="8412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4373098" y="1484600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1A2E"/>
                </a:solidFill>
                <a:latin typeface="Calibri"/>
              </a:rPr>
              <a:t>€11.790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77770" y="1438880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5214346" y="1484600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17850" y="1438880"/>
            <a:ext cx="107899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5854426" y="1484600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€1995K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96842" y="1438880"/>
            <a:ext cx="98755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TextBox 60"/>
          <p:cNvSpPr txBox="1"/>
          <p:nvPr/>
        </p:nvSpPr>
        <p:spPr>
          <a:xfrm>
            <a:off x="6933418" y="1484600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5266" y="1704055"/>
            <a:ext cx="141732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1181842" y="1749775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Castellón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2586" y="1704055"/>
            <a:ext cx="5669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2599162" y="1749775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29514" y="1704055"/>
            <a:ext cx="5669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3166090" y="1749775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96442" y="1704055"/>
            <a:ext cx="6400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3733018" y="1749775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36522" y="1704055"/>
            <a:ext cx="84124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4373098" y="1749775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€21.082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77770" y="1704055"/>
            <a:ext cx="6400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5214346" y="1749775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17850" y="1704055"/>
            <a:ext cx="1078992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5" name="TextBox 74"/>
          <p:cNvSpPr txBox="1"/>
          <p:nvPr/>
        </p:nvSpPr>
        <p:spPr>
          <a:xfrm>
            <a:off x="5854426" y="1749775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€71K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96842" y="1704055"/>
            <a:ext cx="987552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6933418" y="1749775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€21.050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45266" y="1969231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9" name="TextBox 78"/>
          <p:cNvSpPr txBox="1"/>
          <p:nvPr/>
        </p:nvSpPr>
        <p:spPr>
          <a:xfrm>
            <a:off x="1181842" y="2014951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Jaén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2586" y="1969231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2599162" y="2014951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29514" y="1969231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3" name="TextBox 82"/>
          <p:cNvSpPr txBox="1"/>
          <p:nvPr/>
        </p:nvSpPr>
        <p:spPr>
          <a:xfrm>
            <a:off x="3166090" y="2014951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96442" y="1969231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5" name="TextBox 84"/>
          <p:cNvSpPr txBox="1"/>
          <p:nvPr/>
        </p:nvSpPr>
        <p:spPr>
          <a:xfrm>
            <a:off x="3733018" y="2014951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36522" y="1969231"/>
            <a:ext cx="8412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7" name="TextBox 86"/>
          <p:cNvSpPr txBox="1"/>
          <p:nvPr/>
        </p:nvSpPr>
        <p:spPr>
          <a:xfrm>
            <a:off x="4373098" y="2014951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€6.600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77770" y="1969231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9" name="TextBox 88"/>
          <p:cNvSpPr txBox="1"/>
          <p:nvPr/>
        </p:nvSpPr>
        <p:spPr>
          <a:xfrm>
            <a:off x="5214346" y="2014951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17850" y="1969231"/>
            <a:ext cx="107899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1" name="TextBox 90"/>
          <p:cNvSpPr txBox="1"/>
          <p:nvPr/>
        </p:nvSpPr>
        <p:spPr>
          <a:xfrm>
            <a:off x="5854426" y="2014951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€62K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96842" y="1969231"/>
            <a:ext cx="98755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3" name="TextBox 92"/>
          <p:cNvSpPr txBox="1"/>
          <p:nvPr/>
        </p:nvSpPr>
        <p:spPr>
          <a:xfrm>
            <a:off x="6933418" y="2014951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€25.400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45266" y="2234407"/>
            <a:ext cx="141732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5" name="TextBox 94"/>
          <p:cNvSpPr txBox="1"/>
          <p:nvPr/>
        </p:nvSpPr>
        <p:spPr>
          <a:xfrm>
            <a:off x="1181842" y="2280127"/>
            <a:ext cx="1362456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Madrid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62586" y="2234407"/>
            <a:ext cx="56692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7" name="TextBox 96"/>
          <p:cNvSpPr txBox="1"/>
          <p:nvPr/>
        </p:nvSpPr>
        <p:spPr>
          <a:xfrm>
            <a:off x="2599162" y="2280127"/>
            <a:ext cx="5120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29514" y="2234407"/>
            <a:ext cx="56692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9" name="TextBox 98"/>
          <p:cNvSpPr txBox="1"/>
          <p:nvPr/>
        </p:nvSpPr>
        <p:spPr>
          <a:xfrm>
            <a:off x="3166090" y="2280127"/>
            <a:ext cx="5120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96442" y="2234407"/>
            <a:ext cx="64008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1" name="TextBox 100"/>
          <p:cNvSpPr txBox="1"/>
          <p:nvPr/>
        </p:nvSpPr>
        <p:spPr>
          <a:xfrm>
            <a:off x="3733018" y="2280127"/>
            <a:ext cx="585215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336522" y="2234407"/>
            <a:ext cx="84124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3" name="TextBox 102"/>
          <p:cNvSpPr txBox="1"/>
          <p:nvPr/>
        </p:nvSpPr>
        <p:spPr>
          <a:xfrm>
            <a:off x="4373098" y="2280127"/>
            <a:ext cx="78638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€107.885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177770" y="2234407"/>
            <a:ext cx="64008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5" name="TextBox 104"/>
          <p:cNvSpPr txBox="1"/>
          <p:nvPr/>
        </p:nvSpPr>
        <p:spPr>
          <a:xfrm>
            <a:off x="5214346" y="2280127"/>
            <a:ext cx="585215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817850" y="2234407"/>
            <a:ext cx="107899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7" name="TextBox 106"/>
          <p:cNvSpPr txBox="1"/>
          <p:nvPr/>
        </p:nvSpPr>
        <p:spPr>
          <a:xfrm>
            <a:off x="5854426" y="2280127"/>
            <a:ext cx="1024127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€0K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96842" y="2234407"/>
            <a:ext cx="98755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9" name="TextBox 108"/>
          <p:cNvSpPr txBox="1"/>
          <p:nvPr/>
        </p:nvSpPr>
        <p:spPr>
          <a:xfrm>
            <a:off x="6933418" y="2280127"/>
            <a:ext cx="932688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€47.721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45266" y="2499584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1" name="TextBox 110"/>
          <p:cNvSpPr txBox="1"/>
          <p:nvPr/>
        </p:nvSpPr>
        <p:spPr>
          <a:xfrm>
            <a:off x="1181842" y="2545303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Málaga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62586" y="2499584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3" name="TextBox 112"/>
          <p:cNvSpPr txBox="1"/>
          <p:nvPr/>
        </p:nvSpPr>
        <p:spPr>
          <a:xfrm>
            <a:off x="2599162" y="2545303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129514" y="2499584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5" name="TextBox 114"/>
          <p:cNvSpPr txBox="1"/>
          <p:nvPr/>
        </p:nvSpPr>
        <p:spPr>
          <a:xfrm>
            <a:off x="3166090" y="2545303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96442" y="2499584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7" name="TextBox 116"/>
          <p:cNvSpPr txBox="1"/>
          <p:nvPr/>
        </p:nvSpPr>
        <p:spPr>
          <a:xfrm>
            <a:off x="3733018" y="2545303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336522" y="2499584"/>
            <a:ext cx="8412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9" name="TextBox 118"/>
          <p:cNvSpPr txBox="1"/>
          <p:nvPr/>
        </p:nvSpPr>
        <p:spPr>
          <a:xfrm>
            <a:off x="4373098" y="2545303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€17.085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177770" y="2499584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1" name="TextBox 120"/>
          <p:cNvSpPr txBox="1"/>
          <p:nvPr/>
        </p:nvSpPr>
        <p:spPr>
          <a:xfrm>
            <a:off x="5214346" y="2545303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17850" y="2499584"/>
            <a:ext cx="107899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3" name="TextBox 122"/>
          <p:cNvSpPr txBox="1"/>
          <p:nvPr/>
        </p:nvSpPr>
        <p:spPr>
          <a:xfrm>
            <a:off x="5854426" y="2545303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€479K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896842" y="2499584"/>
            <a:ext cx="98755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5" name="TextBox 124"/>
          <p:cNvSpPr txBox="1"/>
          <p:nvPr/>
        </p:nvSpPr>
        <p:spPr>
          <a:xfrm>
            <a:off x="6933418" y="2545303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€13.450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45266" y="2764759"/>
            <a:ext cx="141732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7" name="TextBox 126"/>
          <p:cNvSpPr txBox="1"/>
          <p:nvPr/>
        </p:nvSpPr>
        <p:spPr>
          <a:xfrm>
            <a:off x="1181842" y="2810479"/>
            <a:ext cx="1362456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Marbella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562586" y="2764759"/>
            <a:ext cx="56692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9" name="TextBox 128"/>
          <p:cNvSpPr txBox="1"/>
          <p:nvPr/>
        </p:nvSpPr>
        <p:spPr>
          <a:xfrm>
            <a:off x="2599162" y="2810479"/>
            <a:ext cx="5120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129514" y="2764759"/>
            <a:ext cx="56692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1" name="TextBox 130"/>
          <p:cNvSpPr txBox="1"/>
          <p:nvPr/>
        </p:nvSpPr>
        <p:spPr>
          <a:xfrm>
            <a:off x="3166090" y="2810479"/>
            <a:ext cx="5120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696442" y="2764759"/>
            <a:ext cx="64008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3" name="TextBox 132"/>
          <p:cNvSpPr txBox="1"/>
          <p:nvPr/>
        </p:nvSpPr>
        <p:spPr>
          <a:xfrm>
            <a:off x="3733018" y="2810479"/>
            <a:ext cx="585215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336522" y="2764759"/>
            <a:ext cx="841248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5" name="TextBox 134"/>
          <p:cNvSpPr txBox="1"/>
          <p:nvPr/>
        </p:nvSpPr>
        <p:spPr>
          <a:xfrm>
            <a:off x="4373098" y="2810479"/>
            <a:ext cx="78638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€74.900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177770" y="2764759"/>
            <a:ext cx="640080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7" name="TextBox 136"/>
          <p:cNvSpPr txBox="1"/>
          <p:nvPr/>
        </p:nvSpPr>
        <p:spPr>
          <a:xfrm>
            <a:off x="5214346" y="2810479"/>
            <a:ext cx="585215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817850" y="2764759"/>
            <a:ext cx="107899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9" name="TextBox 138"/>
          <p:cNvSpPr txBox="1"/>
          <p:nvPr/>
        </p:nvSpPr>
        <p:spPr>
          <a:xfrm>
            <a:off x="5854426" y="2810479"/>
            <a:ext cx="1024127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€690K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896842" y="2764759"/>
            <a:ext cx="98755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1" name="TextBox 140"/>
          <p:cNvSpPr txBox="1"/>
          <p:nvPr/>
        </p:nvSpPr>
        <p:spPr>
          <a:xfrm>
            <a:off x="6933418" y="2810479"/>
            <a:ext cx="932688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€14.610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45266" y="3029935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3" name="TextBox 142"/>
          <p:cNvSpPr txBox="1"/>
          <p:nvPr/>
        </p:nvSpPr>
        <p:spPr>
          <a:xfrm>
            <a:off x="1181842" y="3075655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San Sebastián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562586" y="3029935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5" name="TextBox 144"/>
          <p:cNvSpPr txBox="1"/>
          <p:nvPr/>
        </p:nvSpPr>
        <p:spPr>
          <a:xfrm>
            <a:off x="2599162" y="3075655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29514" y="3029935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7" name="TextBox 146"/>
          <p:cNvSpPr txBox="1"/>
          <p:nvPr/>
        </p:nvSpPr>
        <p:spPr>
          <a:xfrm>
            <a:off x="3166090" y="3075655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96442" y="3029935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9" name="TextBox 148"/>
          <p:cNvSpPr txBox="1"/>
          <p:nvPr/>
        </p:nvSpPr>
        <p:spPr>
          <a:xfrm>
            <a:off x="3733018" y="3075655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48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336522" y="3029935"/>
            <a:ext cx="8412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1" name="TextBox 150"/>
          <p:cNvSpPr txBox="1"/>
          <p:nvPr/>
        </p:nvSpPr>
        <p:spPr>
          <a:xfrm>
            <a:off x="4373098" y="3075655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€31.030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177770" y="3029935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3" name="TextBox 152"/>
          <p:cNvSpPr txBox="1"/>
          <p:nvPr/>
        </p:nvSpPr>
        <p:spPr>
          <a:xfrm>
            <a:off x="5214346" y="3075655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29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817850" y="3029935"/>
            <a:ext cx="107899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5" name="TextBox 154"/>
          <p:cNvSpPr txBox="1"/>
          <p:nvPr/>
        </p:nvSpPr>
        <p:spPr>
          <a:xfrm>
            <a:off x="5854426" y="3075655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€266K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896842" y="3029935"/>
            <a:ext cx="98755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7" name="TextBox 156"/>
          <p:cNvSpPr txBox="1"/>
          <p:nvPr/>
        </p:nvSpPr>
        <p:spPr>
          <a:xfrm>
            <a:off x="6933418" y="3075655"/>
            <a:ext cx="932688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€166.578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45266" y="3295111"/>
            <a:ext cx="1417320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181842" y="3340831"/>
            <a:ext cx="1362456" cy="24622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latin typeface="Calibri"/>
              </a:rPr>
              <a:t>Santander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562586" y="3295111"/>
            <a:ext cx="566928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2599162" y="3340831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latin typeface="Calibri"/>
              </a:rPr>
              <a:t>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129514" y="3295111"/>
            <a:ext cx="566928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166090" y="3340831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latin typeface="Calibri"/>
              </a:rPr>
              <a:t>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696442" y="3295111"/>
            <a:ext cx="640080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3733018" y="3340831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latin typeface="Calibri"/>
              </a:rPr>
              <a:t>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336522" y="3295111"/>
            <a:ext cx="841248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373098" y="3340831"/>
            <a:ext cx="786384" cy="24622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latin typeface="Calibri"/>
              </a:rPr>
              <a:t>€0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177770" y="3295111"/>
            <a:ext cx="640080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5214346" y="3340831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latin typeface="Calibri"/>
              </a:rPr>
              <a:t>7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817850" y="3295111"/>
            <a:ext cx="1078992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5854426" y="3340831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latin typeface="Calibri"/>
              </a:rPr>
              <a:t>€120K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896842" y="3295111"/>
            <a:ext cx="987552" cy="265176"/>
          </a:xfrm>
          <a:prstGeom prst="rect">
            <a:avLst/>
          </a:prstGeom>
          <a:solidFill>
            <a:srgbClr val="FF000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933418" y="3340831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45266" y="3560287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5" name="TextBox 174"/>
          <p:cNvSpPr txBox="1"/>
          <p:nvPr/>
        </p:nvSpPr>
        <p:spPr>
          <a:xfrm>
            <a:off x="1181842" y="3606007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Sevilla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562586" y="3560287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7" name="TextBox 176"/>
          <p:cNvSpPr txBox="1"/>
          <p:nvPr/>
        </p:nvSpPr>
        <p:spPr>
          <a:xfrm>
            <a:off x="2599162" y="3606007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129514" y="3560287"/>
            <a:ext cx="5669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9" name="TextBox 178"/>
          <p:cNvSpPr txBox="1"/>
          <p:nvPr/>
        </p:nvSpPr>
        <p:spPr>
          <a:xfrm>
            <a:off x="3166090" y="3606007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696442" y="3560287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1" name="TextBox 180"/>
          <p:cNvSpPr txBox="1"/>
          <p:nvPr/>
        </p:nvSpPr>
        <p:spPr>
          <a:xfrm>
            <a:off x="3733018" y="3606007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336522" y="3560287"/>
            <a:ext cx="8412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3" name="TextBox 182"/>
          <p:cNvSpPr txBox="1"/>
          <p:nvPr/>
        </p:nvSpPr>
        <p:spPr>
          <a:xfrm>
            <a:off x="4373098" y="3606007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€3.280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177770" y="3560287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5" name="TextBox 184"/>
          <p:cNvSpPr txBox="1"/>
          <p:nvPr/>
        </p:nvSpPr>
        <p:spPr>
          <a:xfrm>
            <a:off x="5214346" y="3606007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817850" y="3560287"/>
            <a:ext cx="107899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7" name="TextBox 186"/>
          <p:cNvSpPr txBox="1"/>
          <p:nvPr/>
        </p:nvSpPr>
        <p:spPr>
          <a:xfrm>
            <a:off x="5854426" y="3606007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€67K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896842" y="3560287"/>
            <a:ext cx="98755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9" name="TextBox 188"/>
          <p:cNvSpPr txBox="1"/>
          <p:nvPr/>
        </p:nvSpPr>
        <p:spPr>
          <a:xfrm>
            <a:off x="6933418" y="3606007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€11.800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145266" y="3825463"/>
            <a:ext cx="141732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1" name="TextBox 190"/>
          <p:cNvSpPr txBox="1"/>
          <p:nvPr/>
        </p:nvSpPr>
        <p:spPr>
          <a:xfrm>
            <a:off x="1181842" y="3871183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Valencia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562586" y="3825463"/>
            <a:ext cx="5669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3" name="TextBox 192"/>
          <p:cNvSpPr txBox="1"/>
          <p:nvPr/>
        </p:nvSpPr>
        <p:spPr>
          <a:xfrm>
            <a:off x="2599162" y="3871183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129514" y="3825463"/>
            <a:ext cx="5669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5" name="TextBox 194"/>
          <p:cNvSpPr txBox="1"/>
          <p:nvPr/>
        </p:nvSpPr>
        <p:spPr>
          <a:xfrm>
            <a:off x="3166090" y="3871183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696442" y="3825463"/>
            <a:ext cx="6400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7" name="TextBox 196"/>
          <p:cNvSpPr txBox="1"/>
          <p:nvPr/>
        </p:nvSpPr>
        <p:spPr>
          <a:xfrm>
            <a:off x="3733018" y="3871183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336522" y="3825463"/>
            <a:ext cx="84124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9" name="TextBox 198"/>
          <p:cNvSpPr txBox="1"/>
          <p:nvPr/>
        </p:nvSpPr>
        <p:spPr>
          <a:xfrm>
            <a:off x="4373098" y="3871183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€11.730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177770" y="3825463"/>
            <a:ext cx="6400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1" name="TextBox 200"/>
          <p:cNvSpPr txBox="1"/>
          <p:nvPr/>
        </p:nvSpPr>
        <p:spPr>
          <a:xfrm>
            <a:off x="5214346" y="3871183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5817850" y="3825463"/>
            <a:ext cx="1078992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3" name="TextBox 202"/>
          <p:cNvSpPr txBox="1"/>
          <p:nvPr/>
        </p:nvSpPr>
        <p:spPr>
          <a:xfrm>
            <a:off x="5854426" y="3871183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€156K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896842" y="3825463"/>
            <a:ext cx="987552" cy="26517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5" name="TextBox 204"/>
          <p:cNvSpPr txBox="1"/>
          <p:nvPr/>
        </p:nvSpPr>
        <p:spPr>
          <a:xfrm>
            <a:off x="6933418" y="3871183"/>
            <a:ext cx="932688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€68.750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145266" y="4090639"/>
            <a:ext cx="141732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7" name="TextBox 206"/>
          <p:cNvSpPr txBox="1"/>
          <p:nvPr/>
        </p:nvSpPr>
        <p:spPr>
          <a:xfrm>
            <a:off x="1181842" y="4127215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TOTAL RED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2562586" y="4090639"/>
            <a:ext cx="5669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9" name="TextBox 208"/>
          <p:cNvSpPr txBox="1"/>
          <p:nvPr/>
        </p:nvSpPr>
        <p:spPr>
          <a:xfrm>
            <a:off x="2599162" y="4127215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114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129514" y="4090639"/>
            <a:ext cx="5669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1" name="TextBox 210"/>
          <p:cNvSpPr txBox="1"/>
          <p:nvPr/>
        </p:nvSpPr>
        <p:spPr>
          <a:xfrm>
            <a:off x="3166090" y="4127215"/>
            <a:ext cx="512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47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696442" y="4090639"/>
            <a:ext cx="64008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3" name="TextBox 212"/>
          <p:cNvSpPr txBox="1"/>
          <p:nvPr/>
        </p:nvSpPr>
        <p:spPr>
          <a:xfrm>
            <a:off x="3733018" y="4127215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336522" y="4090639"/>
            <a:ext cx="84124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5" name="TextBox 214"/>
          <p:cNvSpPr txBox="1"/>
          <p:nvPr/>
        </p:nvSpPr>
        <p:spPr>
          <a:xfrm>
            <a:off x="4373098" y="4127215"/>
            <a:ext cx="786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€356.954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177770" y="4090639"/>
            <a:ext cx="64008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7" name="TextBox 216"/>
          <p:cNvSpPr txBox="1"/>
          <p:nvPr/>
        </p:nvSpPr>
        <p:spPr>
          <a:xfrm>
            <a:off x="5214346" y="4127215"/>
            <a:ext cx="5852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193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817850" y="4090639"/>
            <a:ext cx="1078992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9" name="TextBox 218"/>
          <p:cNvSpPr txBox="1"/>
          <p:nvPr/>
        </p:nvSpPr>
        <p:spPr>
          <a:xfrm>
            <a:off x="5854426" y="4127215"/>
            <a:ext cx="1024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€4</a:t>
            </a:r>
            <a:r>
              <a:rPr lang="es-ES" sz="1000" b="1" i="0" dirty="0">
                <a:solidFill>
                  <a:srgbClr val="FFFFFF"/>
                </a:solidFill>
                <a:latin typeface="Calibri"/>
              </a:rPr>
              <a:t>.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590K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896842" y="4090639"/>
            <a:ext cx="987552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1" name="TextBox 220"/>
          <p:cNvSpPr txBox="1"/>
          <p:nvPr/>
        </p:nvSpPr>
        <p:spPr>
          <a:xfrm>
            <a:off x="6933418" y="4127215"/>
            <a:ext cx="932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€399.374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2554114" y="4457700"/>
            <a:ext cx="164592" cy="1280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2755282" y="445770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  <a:latin typeface="Calibri"/>
              </a:rPr>
              <a:t>Mejor rendimiento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224162" y="4457700"/>
            <a:ext cx="164592" cy="1280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5425330" y="445770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  <a:latin typeface="Calibri"/>
              </a:rPr>
              <a:t>Sin actividad Q1</a:t>
            </a:r>
          </a:p>
        </p:txBody>
      </p:sp>
      <p:sp>
        <p:nvSpPr>
          <p:cNvPr id="227" name="TextBox 8">
            <a:extLst>
              <a:ext uri="{FF2B5EF4-FFF2-40B4-BE49-F238E27FC236}">
                <a16:creationId xmlns:a16="http://schemas.microsoft.com/office/drawing/2014/main" id="{6489B77B-A807-3C05-DE18-A955747C1F01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228" name="Imagen 227" descr="Texto&#10;&#10;Descripción generada automáticamente">
            <a:extLst>
              <a:ext uri="{FF2B5EF4-FFF2-40B4-BE49-F238E27FC236}">
                <a16:creationId xmlns:a16="http://schemas.microsoft.com/office/drawing/2014/main" id="{1A9EDC4B-147C-316D-E9BA-3C7E70B55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CAPTACIONES Q1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·Informe Q1 2026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0499" y="768096"/>
            <a:ext cx="1654581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50499" y="768096"/>
            <a:ext cx="54864" cy="841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0227" y="841247"/>
            <a:ext cx="13673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TOTAL CAPTACIONES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0227" y="1024128"/>
            <a:ext cx="13673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114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0227" y="1444752"/>
            <a:ext cx="13673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Red completa Q1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9699" y="768096"/>
            <a:ext cx="162998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11848" y="768096"/>
            <a:ext cx="54864" cy="841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21933" y="847935"/>
            <a:ext cx="9798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VÍA AAFF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1577" y="1024128"/>
            <a:ext cx="1394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1A2E"/>
                </a:solidFill>
                <a:latin typeface="Calibri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1576" y="1444752"/>
            <a:ext cx="14991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24,6% del total </a:t>
            </a:r>
            <a:r>
              <a:rPr sz="800" b="0" i="0" dirty="0" err="1">
                <a:solidFill>
                  <a:srgbClr val="8896B3"/>
                </a:solidFill>
                <a:latin typeface="Calibri"/>
              </a:rPr>
              <a:t>captado</a:t>
            </a:r>
            <a:endParaRPr sz="800" b="0" i="0" dirty="0">
              <a:solidFill>
                <a:srgbClr val="8896B3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58888" y="1700784"/>
            <a:ext cx="3520440" cy="237744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5395464" y="1719072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Oficina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7104" y="1719072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744" y="1719072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Excl.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4383" y="1719072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% Excl.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58888" y="1938528"/>
            <a:ext cx="1691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5395464" y="1984248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Alicante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528" y="1938528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7087104" y="1984248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99168" y="1938528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7635744" y="1984248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47808" y="1938528"/>
            <a:ext cx="73152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/>
          <p:cNvSpPr txBox="1"/>
          <p:nvPr/>
        </p:nvSpPr>
        <p:spPr>
          <a:xfrm>
            <a:off x="8184383" y="1984248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45%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58888" y="2185416"/>
            <a:ext cx="1691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5395464" y="2231136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  <a:latin typeface="Calibri"/>
              </a:rPr>
              <a:t>Castellón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528" y="2185416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7087104" y="2231136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99168" y="2185416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/>
          <p:cNvSpPr txBox="1"/>
          <p:nvPr/>
        </p:nvSpPr>
        <p:spPr>
          <a:xfrm>
            <a:off x="7635744" y="2231136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47808" y="2185416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/>
          <p:cNvSpPr txBox="1"/>
          <p:nvPr/>
        </p:nvSpPr>
        <p:spPr>
          <a:xfrm>
            <a:off x="8184383" y="2231136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23%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58888" y="2432304"/>
            <a:ext cx="1691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46"/>
          <p:cNvSpPr txBox="1"/>
          <p:nvPr/>
        </p:nvSpPr>
        <p:spPr>
          <a:xfrm>
            <a:off x="5395464" y="2478024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San Sebastián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528" y="2432304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/>
          <p:cNvSpPr txBox="1"/>
          <p:nvPr/>
        </p:nvSpPr>
        <p:spPr>
          <a:xfrm>
            <a:off x="7087104" y="2478024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99168" y="2432304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1" name="TextBox 50"/>
          <p:cNvSpPr txBox="1"/>
          <p:nvPr/>
        </p:nvSpPr>
        <p:spPr>
          <a:xfrm>
            <a:off x="7635744" y="2478024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47808" y="2432304"/>
            <a:ext cx="73152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TextBox 52"/>
          <p:cNvSpPr txBox="1"/>
          <p:nvPr/>
        </p:nvSpPr>
        <p:spPr>
          <a:xfrm>
            <a:off x="8184383" y="247802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35%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58888" y="2679192"/>
            <a:ext cx="1691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TextBox 54"/>
          <p:cNvSpPr txBox="1"/>
          <p:nvPr/>
        </p:nvSpPr>
        <p:spPr>
          <a:xfrm>
            <a:off x="5395464" y="2724912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Marbella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528" y="2679192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7" name="TextBox 56"/>
          <p:cNvSpPr txBox="1"/>
          <p:nvPr/>
        </p:nvSpPr>
        <p:spPr>
          <a:xfrm>
            <a:off x="7087104" y="2724912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99168" y="2679192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9" name="TextBox 58"/>
          <p:cNvSpPr txBox="1"/>
          <p:nvPr/>
        </p:nvSpPr>
        <p:spPr>
          <a:xfrm>
            <a:off x="7635744" y="2724912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47808" y="2679192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1" name="TextBox 60"/>
          <p:cNvSpPr txBox="1"/>
          <p:nvPr/>
        </p:nvSpPr>
        <p:spPr>
          <a:xfrm>
            <a:off x="8184383" y="2724912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50%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58888" y="2926080"/>
            <a:ext cx="1691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3" name="TextBox 62"/>
          <p:cNvSpPr txBox="1"/>
          <p:nvPr/>
        </p:nvSpPr>
        <p:spPr>
          <a:xfrm>
            <a:off x="5395464" y="2971800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Barcelona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528" y="2926080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5" name="TextBox 64"/>
          <p:cNvSpPr txBox="1"/>
          <p:nvPr/>
        </p:nvSpPr>
        <p:spPr>
          <a:xfrm>
            <a:off x="7087104" y="2971800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99168" y="2926080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7" name="TextBox 66"/>
          <p:cNvSpPr txBox="1"/>
          <p:nvPr/>
        </p:nvSpPr>
        <p:spPr>
          <a:xfrm>
            <a:off x="7635744" y="2971800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47808" y="2926080"/>
            <a:ext cx="73152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9" name="TextBox 68"/>
          <p:cNvSpPr txBox="1"/>
          <p:nvPr/>
        </p:nvSpPr>
        <p:spPr>
          <a:xfrm>
            <a:off x="8184383" y="2971800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27%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58888" y="3172968"/>
            <a:ext cx="1691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1" name="TextBox 70"/>
          <p:cNvSpPr txBox="1"/>
          <p:nvPr/>
        </p:nvSpPr>
        <p:spPr>
          <a:xfrm>
            <a:off x="5395464" y="3218688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Málaga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528" y="3172968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3" name="TextBox 72"/>
          <p:cNvSpPr txBox="1"/>
          <p:nvPr/>
        </p:nvSpPr>
        <p:spPr>
          <a:xfrm>
            <a:off x="7087104" y="3218688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99168" y="3172968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TextBox 74"/>
          <p:cNvSpPr txBox="1"/>
          <p:nvPr/>
        </p:nvSpPr>
        <p:spPr>
          <a:xfrm>
            <a:off x="7635744" y="3218688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47808" y="3172968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7" name="TextBox 76"/>
          <p:cNvSpPr txBox="1"/>
          <p:nvPr/>
        </p:nvSpPr>
        <p:spPr>
          <a:xfrm>
            <a:off x="8184383" y="3218688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72%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58888" y="3419856"/>
            <a:ext cx="1691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9" name="TextBox 78"/>
          <p:cNvSpPr txBox="1"/>
          <p:nvPr/>
        </p:nvSpPr>
        <p:spPr>
          <a:xfrm>
            <a:off x="5395464" y="3465576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Sevilla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528" y="3419856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1" name="TextBox 80"/>
          <p:cNvSpPr txBox="1"/>
          <p:nvPr/>
        </p:nvSpPr>
        <p:spPr>
          <a:xfrm>
            <a:off x="7087104" y="3465576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99168" y="3419856"/>
            <a:ext cx="54864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3" name="TextBox 82"/>
          <p:cNvSpPr txBox="1"/>
          <p:nvPr/>
        </p:nvSpPr>
        <p:spPr>
          <a:xfrm>
            <a:off x="7635744" y="3465576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47808" y="3419856"/>
            <a:ext cx="731520" cy="24688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5" name="TextBox 84"/>
          <p:cNvSpPr txBox="1"/>
          <p:nvPr/>
        </p:nvSpPr>
        <p:spPr>
          <a:xfrm>
            <a:off x="8184383" y="3465576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58888" y="3666744"/>
            <a:ext cx="1691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7" name="TextBox 86"/>
          <p:cNvSpPr txBox="1"/>
          <p:nvPr/>
        </p:nvSpPr>
        <p:spPr>
          <a:xfrm>
            <a:off x="5395464" y="3712463"/>
            <a:ext cx="1636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Jaén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0528" y="3666744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9" name="TextBox 88"/>
          <p:cNvSpPr txBox="1"/>
          <p:nvPr/>
        </p:nvSpPr>
        <p:spPr>
          <a:xfrm>
            <a:off x="7087104" y="3712463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99168" y="3666744"/>
            <a:ext cx="5486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1" name="TextBox 90"/>
          <p:cNvSpPr txBox="1"/>
          <p:nvPr/>
        </p:nvSpPr>
        <p:spPr>
          <a:xfrm>
            <a:off x="7635744" y="3712463"/>
            <a:ext cx="4937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47808" y="3666744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3" name="TextBox 92"/>
          <p:cNvSpPr txBox="1"/>
          <p:nvPr/>
        </p:nvSpPr>
        <p:spPr>
          <a:xfrm>
            <a:off x="8184383" y="3712463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  <a:latin typeface="Calibri"/>
              </a:rPr>
              <a:t>50%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37744" y="4005072"/>
            <a:ext cx="8650223" cy="7680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41598" y="4005072"/>
            <a:ext cx="54864" cy="7680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69614" y="4035890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C9A84C"/>
                </a:solidFill>
                <a:latin typeface="Calibri"/>
              </a:rPr>
              <a:t>💡 CAPTACIONES Q1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9614" y="4216399"/>
            <a:ext cx="3950207" cy="556769"/>
          </a:xfrm>
          <a:prstGeom prst="rect">
            <a:avLst/>
          </a:prstGeom>
          <a:noFill/>
        </p:spPr>
        <p:txBody>
          <a:bodyPr wrap="none">
            <a:normAutofit lnSpcReduction="10000"/>
          </a:bodyPr>
          <a:lstStyle/>
          <a:p>
            <a:r>
              <a:rPr sz="1050" dirty="0">
                <a:solidFill>
                  <a:srgbClr val="FFFFFF"/>
                </a:solidFill>
                <a:latin typeface="Calibri"/>
              </a:rPr>
              <a:t>Alicante (24) y San Sebastián/Castellón (17)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lideran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volumen</a:t>
            </a:r>
            <a:r>
              <a:rPr sz="1050" dirty="0">
                <a:solidFill>
                  <a:srgbClr val="FFFFFF"/>
                </a:solidFill>
                <a:latin typeface="Calibri"/>
              </a:rPr>
              <a:t>.</a:t>
            </a:r>
            <a:endParaRPr lang="es-ES" sz="1050" dirty="0">
              <a:solidFill>
                <a:srgbClr val="FFFFFF"/>
              </a:solidFill>
              <a:latin typeface="Calibri"/>
            </a:endParaRPr>
          </a:p>
          <a:p>
            <a:r>
              <a:rPr sz="1050" dirty="0">
                <a:solidFill>
                  <a:srgbClr val="FFFFFF"/>
                </a:solidFill>
                <a:latin typeface="Calibri"/>
              </a:rPr>
              <a:t>Málaga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destaca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con 54,5%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captadas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vía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AAFF.</a:t>
            </a:r>
            <a:endParaRPr lang="es-ES" sz="1050" dirty="0">
              <a:solidFill>
                <a:srgbClr val="FFFFFF"/>
              </a:solidFill>
              <a:latin typeface="Calibri"/>
            </a:endParaRPr>
          </a:p>
          <a:p>
            <a:r>
              <a:rPr sz="1050" dirty="0">
                <a:solidFill>
                  <a:srgbClr val="FFFFFF"/>
                </a:solidFill>
                <a:latin typeface="Calibri"/>
              </a:rPr>
              <a:t>Tasa de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exclusividad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media: 41,2%.</a:t>
            </a:r>
          </a:p>
        </p:txBody>
      </p:sp>
      <p:sp>
        <p:nvSpPr>
          <p:cNvPr id="99" name="TextBox 8">
            <a:extLst>
              <a:ext uri="{FF2B5EF4-FFF2-40B4-BE49-F238E27FC236}">
                <a16:creationId xmlns:a16="http://schemas.microsoft.com/office/drawing/2014/main" id="{70FA8299-239B-03FA-2F41-9183F7E28F08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00" name="Imagen 99" descr="Texto&#10;&#10;Descripción generada automáticamente">
            <a:extLst>
              <a:ext uri="{FF2B5EF4-FFF2-40B4-BE49-F238E27FC236}">
                <a16:creationId xmlns:a16="http://schemas.microsoft.com/office/drawing/2014/main" id="{DE4E4CD2-1C57-56B0-3265-587FBCB92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  <p:grpSp>
        <p:nvGrpSpPr>
          <p:cNvPr id="104" name="Grupo 103">
            <a:extLst>
              <a:ext uri="{FF2B5EF4-FFF2-40B4-BE49-F238E27FC236}">
                <a16:creationId xmlns:a16="http://schemas.microsoft.com/office/drawing/2014/main" id="{24588707-3A0D-B840-2A37-43F9FFFC0CF0}"/>
              </a:ext>
            </a:extLst>
          </p:cNvPr>
          <p:cNvGrpSpPr/>
          <p:nvPr/>
        </p:nvGrpSpPr>
        <p:grpSpPr>
          <a:xfrm>
            <a:off x="256032" y="706708"/>
            <a:ext cx="4887699" cy="3234357"/>
            <a:chOff x="427837" y="699010"/>
            <a:chExt cx="4715894" cy="3182030"/>
          </a:xfrm>
        </p:grpSpPr>
        <p:sp>
          <p:nvSpPr>
            <p:cNvPr id="2" name="Rectangle 1"/>
            <p:cNvSpPr/>
            <p:nvPr/>
          </p:nvSpPr>
          <p:spPr>
            <a:xfrm>
              <a:off x="427837" y="741413"/>
              <a:ext cx="4715894" cy="3139627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3"/>
            <a:srcRect b="17966"/>
            <a:stretch>
              <a:fillRect/>
            </a:stretch>
          </p:blipFill>
          <p:spPr>
            <a:xfrm>
              <a:off x="442494" y="699010"/>
              <a:ext cx="4583351" cy="2679698"/>
            </a:xfrm>
            <a:prstGeom prst="rect">
              <a:avLst/>
            </a:prstGeom>
          </p:spPr>
        </p:pic>
        <p:pic>
          <p:nvPicPr>
            <p:cNvPr id="101" name="Picture 13" descr="image.png">
              <a:extLst>
                <a:ext uri="{FF2B5EF4-FFF2-40B4-BE49-F238E27FC236}">
                  <a16:creationId xmlns:a16="http://schemas.microsoft.com/office/drawing/2014/main" id="{77FDA1AD-8811-EE8C-3247-4B249E187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136" t="91430" r="19167" b="4125"/>
            <a:stretch>
              <a:fillRect/>
            </a:stretch>
          </p:blipFill>
          <p:spPr>
            <a:xfrm>
              <a:off x="2039617" y="3593592"/>
              <a:ext cx="1874015" cy="146304"/>
            </a:xfrm>
            <a:prstGeom prst="rect">
              <a:avLst/>
            </a:prstGeom>
          </p:spPr>
        </p:pic>
        <p:pic>
          <p:nvPicPr>
            <p:cNvPr id="102" name="Picture 13" descr="image.png">
              <a:extLst>
                <a:ext uri="{FF2B5EF4-FFF2-40B4-BE49-F238E27FC236}">
                  <a16:creationId xmlns:a16="http://schemas.microsoft.com/office/drawing/2014/main" id="{BC7DDA19-7325-A767-09B2-D320C1CE0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167" b="12639"/>
            <a:stretch>
              <a:fillRect/>
            </a:stretch>
          </p:blipFill>
          <p:spPr>
            <a:xfrm>
              <a:off x="501644" y="930256"/>
              <a:ext cx="4446784" cy="2574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RESULTADOS FINANCIEROS Q1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62519" y="4631226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749808"/>
            <a:ext cx="54864" cy="896112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HONORARIOS LAE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€357K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Ingresos netos Q1 para LAE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91156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91156" y="749808"/>
            <a:ext cx="54864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0884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TOTAL CIERRES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884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0884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Operaciones cerradas Q1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7992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07992" y="749808"/>
            <a:ext cx="54864" cy="896112"/>
          </a:xfrm>
          <a:prstGeom prst="rect">
            <a:avLst/>
          </a:prstGeom>
          <a:solidFill>
            <a:srgbClr val="1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MEJOR OFICINA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Madrid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€107,9K LAE (2 cierres)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4828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4828" y="749808"/>
            <a:ext cx="54864" cy="89611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34556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PENDIENTE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4556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€399K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556" y="1426464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A </a:t>
            </a:r>
            <a:r>
              <a:rPr sz="800" b="0" i="0" dirty="0" err="1">
                <a:solidFill>
                  <a:srgbClr val="8896B3"/>
                </a:solidFill>
                <a:latin typeface="Calibri"/>
              </a:rPr>
              <a:t>materializar</a:t>
            </a:r>
            <a:endParaRPr sz="800" b="0" i="0" dirty="0">
              <a:solidFill>
                <a:srgbClr val="8896B3"/>
              </a:solidFill>
              <a:latin typeface="Calibri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55647"/>
            <a:ext cx="4274819" cy="3227413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38776" y="1755648"/>
            <a:ext cx="141732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4675352" y="179222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Oficina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56096" y="1755648"/>
            <a:ext cx="59436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6092672" y="1792224"/>
            <a:ext cx="5394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Cierres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50456" y="1755648"/>
            <a:ext cx="10241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6687032" y="1792224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Hon. Brutos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74584" y="1755648"/>
            <a:ext cx="10241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7711160" y="1792224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Hon. LAE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38776" y="2020824"/>
            <a:ext cx="141732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/>
          <p:cNvSpPr txBox="1"/>
          <p:nvPr/>
        </p:nvSpPr>
        <p:spPr>
          <a:xfrm>
            <a:off x="4675352" y="2066543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Madrid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6096" y="2020824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6092672" y="2066543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0456" y="2020824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6687032" y="2066543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€147K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74584" y="2020824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7711160" y="2066543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€107.885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38776" y="2286000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TextBox 51"/>
          <p:cNvSpPr txBox="1"/>
          <p:nvPr/>
        </p:nvSpPr>
        <p:spPr>
          <a:xfrm>
            <a:off x="4675352" y="2331720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Marbella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56096" y="2286000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/>
          <p:cNvSpPr txBox="1"/>
          <p:nvPr/>
        </p:nvSpPr>
        <p:spPr>
          <a:xfrm>
            <a:off x="6092672" y="2331720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50456" y="2286000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55"/>
          <p:cNvSpPr txBox="1"/>
          <p:nvPr/>
        </p:nvSpPr>
        <p:spPr>
          <a:xfrm>
            <a:off x="6687032" y="2331720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€117K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74584" y="2286000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/>
          <p:cNvSpPr txBox="1"/>
          <p:nvPr/>
        </p:nvSpPr>
        <p:spPr>
          <a:xfrm>
            <a:off x="7711160" y="2331720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€74.900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38776" y="2551176"/>
            <a:ext cx="141732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4675352" y="2596896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Alicante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56096" y="2551176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2" name="TextBox 61"/>
          <p:cNvSpPr txBox="1"/>
          <p:nvPr/>
        </p:nvSpPr>
        <p:spPr>
          <a:xfrm>
            <a:off x="6092672" y="2596896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0456" y="2551176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63"/>
          <p:cNvSpPr txBox="1"/>
          <p:nvPr/>
        </p:nvSpPr>
        <p:spPr>
          <a:xfrm>
            <a:off x="6687032" y="2596896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€116K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74584" y="2551176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TextBox 65"/>
          <p:cNvSpPr txBox="1"/>
          <p:nvPr/>
        </p:nvSpPr>
        <p:spPr>
          <a:xfrm>
            <a:off x="7711160" y="2596896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€71.572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38776" y="2816352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TextBox 67"/>
          <p:cNvSpPr txBox="1"/>
          <p:nvPr/>
        </p:nvSpPr>
        <p:spPr>
          <a:xfrm>
            <a:off x="4675352" y="2862072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  <a:latin typeface="Calibri"/>
              </a:rPr>
              <a:t>San Sebastián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56096" y="2816352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0" name="TextBox 69"/>
          <p:cNvSpPr txBox="1"/>
          <p:nvPr/>
        </p:nvSpPr>
        <p:spPr>
          <a:xfrm>
            <a:off x="6092672" y="2862072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48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50456" y="2816352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/>
          <p:cNvSpPr txBox="1"/>
          <p:nvPr/>
        </p:nvSpPr>
        <p:spPr>
          <a:xfrm>
            <a:off x="6687032" y="2862072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€41K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74584" y="2816352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TextBox 73"/>
          <p:cNvSpPr txBox="1"/>
          <p:nvPr/>
        </p:nvSpPr>
        <p:spPr>
          <a:xfrm>
            <a:off x="7711160" y="2862072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€31.030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38776" y="3081528"/>
            <a:ext cx="141732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TextBox 75"/>
          <p:cNvSpPr txBox="1"/>
          <p:nvPr/>
        </p:nvSpPr>
        <p:spPr>
          <a:xfrm>
            <a:off x="4675352" y="3127248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Castellón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56096" y="3081528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/>
          <p:cNvSpPr txBox="1"/>
          <p:nvPr/>
        </p:nvSpPr>
        <p:spPr>
          <a:xfrm>
            <a:off x="6092672" y="3127248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50456" y="3081528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TextBox 79"/>
          <p:cNvSpPr txBox="1"/>
          <p:nvPr/>
        </p:nvSpPr>
        <p:spPr>
          <a:xfrm>
            <a:off x="6687032" y="3127248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€22K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74584" y="3081528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2" name="TextBox 81"/>
          <p:cNvSpPr txBox="1"/>
          <p:nvPr/>
        </p:nvSpPr>
        <p:spPr>
          <a:xfrm>
            <a:off x="7711160" y="3127248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€21.082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38776" y="3346704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4" name="TextBox 83"/>
          <p:cNvSpPr txBox="1"/>
          <p:nvPr/>
        </p:nvSpPr>
        <p:spPr>
          <a:xfrm>
            <a:off x="4675352" y="339242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Málaga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56096" y="3346704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6" name="TextBox 85"/>
          <p:cNvSpPr txBox="1"/>
          <p:nvPr/>
        </p:nvSpPr>
        <p:spPr>
          <a:xfrm>
            <a:off x="6092672" y="3392424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50456" y="3346704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TextBox 87"/>
          <p:cNvSpPr txBox="1"/>
          <p:nvPr/>
        </p:nvSpPr>
        <p:spPr>
          <a:xfrm>
            <a:off x="6687032" y="3392424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€17K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74584" y="3346704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0" name="TextBox 89"/>
          <p:cNvSpPr txBox="1"/>
          <p:nvPr/>
        </p:nvSpPr>
        <p:spPr>
          <a:xfrm>
            <a:off x="7711160" y="3392424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€17.085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38776" y="3611879"/>
            <a:ext cx="141732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2" name="TextBox 91"/>
          <p:cNvSpPr txBox="1"/>
          <p:nvPr/>
        </p:nvSpPr>
        <p:spPr>
          <a:xfrm>
            <a:off x="4675352" y="3657599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Barcelona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56096" y="3611879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4" name="TextBox 93"/>
          <p:cNvSpPr txBox="1"/>
          <p:nvPr/>
        </p:nvSpPr>
        <p:spPr>
          <a:xfrm>
            <a:off x="6092672" y="3657599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50456" y="3611879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6" name="TextBox 95"/>
          <p:cNvSpPr txBox="1"/>
          <p:nvPr/>
        </p:nvSpPr>
        <p:spPr>
          <a:xfrm>
            <a:off x="6687032" y="3657599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€22K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674584" y="3611879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8" name="TextBox 97"/>
          <p:cNvSpPr txBox="1"/>
          <p:nvPr/>
        </p:nvSpPr>
        <p:spPr>
          <a:xfrm>
            <a:off x="7711160" y="3657599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€11.790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38776" y="3877056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" name="TextBox 99"/>
          <p:cNvSpPr txBox="1"/>
          <p:nvPr/>
        </p:nvSpPr>
        <p:spPr>
          <a:xfrm>
            <a:off x="4675352" y="3922776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Valencia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56096" y="3877056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2" name="TextBox 101"/>
          <p:cNvSpPr txBox="1"/>
          <p:nvPr/>
        </p:nvSpPr>
        <p:spPr>
          <a:xfrm>
            <a:off x="6092672" y="3922776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50456" y="3877056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" name="TextBox 103"/>
          <p:cNvSpPr txBox="1"/>
          <p:nvPr/>
        </p:nvSpPr>
        <p:spPr>
          <a:xfrm>
            <a:off x="6687032" y="3922776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€18K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674584" y="3877056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" name="TextBox 105"/>
          <p:cNvSpPr txBox="1"/>
          <p:nvPr/>
        </p:nvSpPr>
        <p:spPr>
          <a:xfrm>
            <a:off x="7711160" y="3922776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€11.730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38776" y="4142231"/>
            <a:ext cx="141732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" name="TextBox 107"/>
          <p:cNvSpPr txBox="1"/>
          <p:nvPr/>
        </p:nvSpPr>
        <p:spPr>
          <a:xfrm>
            <a:off x="4675352" y="4187951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Jaén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56096" y="4142231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0" name="TextBox 109"/>
          <p:cNvSpPr txBox="1"/>
          <p:nvPr/>
        </p:nvSpPr>
        <p:spPr>
          <a:xfrm>
            <a:off x="6092672" y="4187951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50456" y="4142231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" name="TextBox 111"/>
          <p:cNvSpPr txBox="1"/>
          <p:nvPr/>
        </p:nvSpPr>
        <p:spPr>
          <a:xfrm>
            <a:off x="6687032" y="4187951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€6K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74584" y="4142231"/>
            <a:ext cx="1024128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4" name="TextBox 113"/>
          <p:cNvSpPr txBox="1"/>
          <p:nvPr/>
        </p:nvSpPr>
        <p:spPr>
          <a:xfrm>
            <a:off x="7711160" y="4187951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€6.600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38776" y="4407408"/>
            <a:ext cx="1417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6" name="TextBox 115"/>
          <p:cNvSpPr txBox="1"/>
          <p:nvPr/>
        </p:nvSpPr>
        <p:spPr>
          <a:xfrm>
            <a:off x="4675352" y="4453128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Sevilla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56096" y="4407408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8" name="TextBox 117"/>
          <p:cNvSpPr txBox="1"/>
          <p:nvPr/>
        </p:nvSpPr>
        <p:spPr>
          <a:xfrm>
            <a:off x="6092672" y="4453128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50456" y="4407408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0" name="TextBox 119"/>
          <p:cNvSpPr txBox="1"/>
          <p:nvPr/>
        </p:nvSpPr>
        <p:spPr>
          <a:xfrm>
            <a:off x="6687032" y="4453128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€3K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74584" y="4407408"/>
            <a:ext cx="102412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2" name="TextBox 121"/>
          <p:cNvSpPr txBox="1"/>
          <p:nvPr/>
        </p:nvSpPr>
        <p:spPr>
          <a:xfrm>
            <a:off x="7711160" y="4453128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€3.280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38776" y="4686090"/>
            <a:ext cx="141732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2" name="TextBox 131"/>
          <p:cNvSpPr txBox="1"/>
          <p:nvPr/>
        </p:nvSpPr>
        <p:spPr>
          <a:xfrm>
            <a:off x="4675352" y="4722666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56096" y="4686090"/>
            <a:ext cx="59436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4" name="TextBox 133"/>
          <p:cNvSpPr txBox="1"/>
          <p:nvPr/>
        </p:nvSpPr>
        <p:spPr>
          <a:xfrm>
            <a:off x="6092672" y="4722666"/>
            <a:ext cx="539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650456" y="4686090"/>
            <a:ext cx="10241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6" name="TextBox 135"/>
          <p:cNvSpPr txBox="1"/>
          <p:nvPr/>
        </p:nvSpPr>
        <p:spPr>
          <a:xfrm>
            <a:off x="6687032" y="4722666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€513K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674584" y="4686090"/>
            <a:ext cx="1024128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8" name="TextBox 137"/>
          <p:cNvSpPr txBox="1"/>
          <p:nvPr/>
        </p:nvSpPr>
        <p:spPr>
          <a:xfrm>
            <a:off x="7711160" y="4722666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Calibri"/>
              </a:rPr>
              <a:t>€356.954</a:t>
            </a:r>
          </a:p>
        </p:txBody>
      </p:sp>
      <p:sp>
        <p:nvSpPr>
          <p:cNvPr id="140" name="TextBox 8">
            <a:extLst>
              <a:ext uri="{FF2B5EF4-FFF2-40B4-BE49-F238E27FC236}">
                <a16:creationId xmlns:a16="http://schemas.microsoft.com/office/drawing/2014/main" id="{AC6DC0D3-8012-3E9B-D802-5C696FC58D54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41" name="Imagen 140" descr="Texto&#10;&#10;Descripción generada automáticamente">
            <a:extLst>
              <a:ext uri="{FF2B5EF4-FFF2-40B4-BE49-F238E27FC236}">
                <a16:creationId xmlns:a16="http://schemas.microsoft.com/office/drawing/2014/main" id="{A2949036-A47E-C5FF-AD02-D8490CD66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A433-4EC1-AA29-2F06-94911152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036682DA-DAB5-BB70-7E25-27FB5EE6767D}"/>
              </a:ext>
            </a:extLst>
          </p:cNvPr>
          <p:cNvGrpSpPr/>
          <p:nvPr/>
        </p:nvGrpSpPr>
        <p:grpSpPr>
          <a:xfrm>
            <a:off x="796720" y="961312"/>
            <a:ext cx="7438643" cy="3719322"/>
            <a:chOff x="796720" y="961312"/>
            <a:chExt cx="7438643" cy="3719322"/>
          </a:xfrm>
        </p:grpSpPr>
        <p:pic>
          <p:nvPicPr>
            <p:cNvPr id="2" name="Image 0" descr="/sessions/dreamy-hopeful-curie/chart_pipeline.png">
              <a:extLst>
                <a:ext uri="{FF2B5EF4-FFF2-40B4-BE49-F238E27FC236}">
                  <a16:creationId xmlns:a16="http://schemas.microsoft.com/office/drawing/2014/main" id="{00E1E97D-7D65-0520-9D67-2343FE785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720" y="961312"/>
              <a:ext cx="7438643" cy="3719322"/>
            </a:xfrm>
            <a:prstGeom prst="rect">
              <a:avLst/>
            </a:prstGeom>
          </p:spPr>
        </p:pic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EF327651-01EC-0884-2A61-EE2A613F9420}"/>
                </a:ext>
              </a:extLst>
            </p:cNvPr>
            <p:cNvSpPr/>
            <p:nvPr/>
          </p:nvSpPr>
          <p:spPr>
            <a:xfrm>
              <a:off x="7603234" y="1265599"/>
              <a:ext cx="525782" cy="270345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DE76CB5F-E99B-D1E5-2C30-B90B1E36A5D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B09C6F5-857B-340D-0814-2C0C0FBBA283}"/>
              </a:ext>
            </a:extLst>
          </p:cNvPr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26BC1AB-E5F9-F203-F6D5-FD7B1519E553}"/>
              </a:ext>
            </a:extLst>
          </p:cNvPr>
          <p:cNvSpPr txBox="1"/>
          <p:nvPr/>
        </p:nvSpPr>
        <p:spPr>
          <a:xfrm>
            <a:off x="256032" y="246888"/>
            <a:ext cx="713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>
                <a:solidFill>
                  <a:srgbClr val="FFFFFF"/>
                </a:solidFill>
                <a:latin typeface="Calibri"/>
              </a:rPr>
              <a:t>COMPARATIVA </a:t>
            </a:r>
            <a:r>
              <a:rPr lang="es-ES" sz="1600" b="1" dirty="0">
                <a:solidFill>
                  <a:srgbClr val="FFFFFF"/>
                </a:solidFill>
                <a:latin typeface="Calibri"/>
              </a:rPr>
              <a:t>COBRADO vs GENERADO </a:t>
            </a:r>
            <a:r>
              <a:rPr lang="es-ES" sz="1600" b="1" dirty="0">
                <a:solidFill>
                  <a:srgbClr val="FFFFFF"/>
                </a:solidFill>
              </a:rPr>
              <a:t>Q1 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5F312CF-E579-DBE0-0D95-F37A265DD461}"/>
              </a:ext>
            </a:extLst>
          </p:cNvPr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B418110-F79F-5868-37B2-72C1469CE5DE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E4BBBF05-F4C2-0149-F511-85D495D34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  <p:sp>
        <p:nvSpPr>
          <p:cNvPr id="3" name="Rectangle 10">
            <a:extLst>
              <a:ext uri="{FF2B5EF4-FFF2-40B4-BE49-F238E27FC236}">
                <a16:creationId xmlns:a16="http://schemas.microsoft.com/office/drawing/2014/main" id="{EEDEF4B3-F451-3E3B-12DD-E2976D65E01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BC66F311-321C-80C1-0058-30AFB685070D}"/>
              </a:ext>
            </a:extLst>
          </p:cNvPr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·Informe Q1 2026 l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882F41A-A19E-B136-2FFA-D2EFF5B2F897}"/>
              </a:ext>
            </a:extLst>
          </p:cNvPr>
          <p:cNvSpPr txBox="1"/>
          <p:nvPr/>
        </p:nvSpPr>
        <p:spPr>
          <a:xfrm>
            <a:off x="7498079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6E928B1-E773-6523-465B-52D9B7B706BE}"/>
              </a:ext>
            </a:extLst>
          </p:cNvPr>
          <p:cNvGrpSpPr/>
          <p:nvPr/>
        </p:nvGrpSpPr>
        <p:grpSpPr>
          <a:xfrm>
            <a:off x="6231635" y="1794510"/>
            <a:ext cx="2743200" cy="777240"/>
            <a:chOff x="3027062" y="1134082"/>
            <a:chExt cx="2743200" cy="777240"/>
          </a:xfrm>
        </p:grpSpPr>
        <p:sp>
          <p:nvSpPr>
            <p:cNvPr id="13" name="Shape 17">
              <a:extLst>
                <a:ext uri="{FF2B5EF4-FFF2-40B4-BE49-F238E27FC236}">
                  <a16:creationId xmlns:a16="http://schemas.microsoft.com/office/drawing/2014/main" id="{F7095B39-A641-B21F-1A95-AED55315EBB5}"/>
                </a:ext>
              </a:extLst>
            </p:cNvPr>
            <p:cNvSpPr/>
            <p:nvPr/>
          </p:nvSpPr>
          <p:spPr>
            <a:xfrm>
              <a:off x="3027062" y="1134082"/>
              <a:ext cx="1878893" cy="777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D2291ACC-DC15-CED6-E27F-D3748DB6C683}"/>
                </a:ext>
              </a:extLst>
            </p:cNvPr>
            <p:cNvSpPr/>
            <p:nvPr/>
          </p:nvSpPr>
          <p:spPr>
            <a:xfrm>
              <a:off x="3027062" y="1134082"/>
              <a:ext cx="64008" cy="777240"/>
            </a:xfrm>
            <a:prstGeom prst="rect">
              <a:avLst/>
            </a:prstGeom>
            <a:solidFill>
              <a:srgbClr val="2D7D46"/>
            </a:solidFill>
            <a:ln w="12700">
              <a:solidFill>
                <a:srgbClr val="2D7D46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 19">
              <a:extLst>
                <a:ext uri="{FF2B5EF4-FFF2-40B4-BE49-F238E27FC236}">
                  <a16:creationId xmlns:a16="http://schemas.microsoft.com/office/drawing/2014/main" id="{63E95E77-B740-3587-5FA7-F9FDE6F432F0}"/>
                </a:ext>
              </a:extLst>
            </p:cNvPr>
            <p:cNvSpPr/>
            <p:nvPr/>
          </p:nvSpPr>
          <p:spPr>
            <a:xfrm>
              <a:off x="3164222" y="1179802"/>
              <a:ext cx="2606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64748B"/>
                  </a:solidFill>
                </a:rPr>
                <a:t>Total Hon. Generado Red</a:t>
              </a:r>
              <a:endParaRPr lang="en-US" sz="800" dirty="0"/>
            </a:p>
          </p:txBody>
        </p:sp>
        <p:sp>
          <p:nvSpPr>
            <p:cNvPr id="16" name="Text 20">
              <a:extLst>
                <a:ext uri="{FF2B5EF4-FFF2-40B4-BE49-F238E27FC236}">
                  <a16:creationId xmlns:a16="http://schemas.microsoft.com/office/drawing/2014/main" id="{089DA635-6B8B-14BD-6394-91450063B232}"/>
                </a:ext>
              </a:extLst>
            </p:cNvPr>
            <p:cNvSpPr/>
            <p:nvPr/>
          </p:nvSpPr>
          <p:spPr>
            <a:xfrm>
              <a:off x="3164222" y="1435834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D7D46"/>
                  </a:solidFill>
                </a:rPr>
                <a:t>€492.440</a:t>
              </a:r>
              <a:endParaRPr lang="en-US" sz="1800" dirty="0"/>
            </a:p>
          </p:txBody>
        </p:sp>
        <p:sp>
          <p:nvSpPr>
            <p:cNvPr id="17" name="Text 21">
              <a:extLst>
                <a:ext uri="{FF2B5EF4-FFF2-40B4-BE49-F238E27FC236}">
                  <a16:creationId xmlns:a16="http://schemas.microsoft.com/office/drawing/2014/main" id="{3D2443BA-C1D7-D40B-7420-14D1B3679E7A}"/>
                </a:ext>
              </a:extLst>
            </p:cNvPr>
            <p:cNvSpPr/>
            <p:nvPr/>
          </p:nvSpPr>
          <p:spPr>
            <a:xfrm>
              <a:off x="3164222" y="1710154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4748B"/>
                  </a:solidFill>
                </a:rPr>
                <a:t>vs €356.954 LAE cobrado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1444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33189"/>
              </p:ext>
            </p:extLst>
          </p:nvPr>
        </p:nvGraphicFramePr>
        <p:xfrm>
          <a:off x="196595" y="757830"/>
          <a:ext cx="8778240" cy="421995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OFICINA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OBJ. LAE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HON. BRUTOS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HON. LAE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% CUMPL.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HON. GENERADO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PDTE. COBRO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ALICANTE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€35.000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€116.928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€71.572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D46"/>
                          </a:solidFill>
                        </a:rPr>
                        <a:t>204,5%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€43.654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€30.015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MADRID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€75.000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€147.960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€107.885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D46"/>
                          </a:solidFill>
                        </a:rPr>
                        <a:t>143,8%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€51.221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€47.721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CASTELLÓN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€18.000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€22.082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€21.082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D7D46"/>
                          </a:solidFill>
                        </a:rPr>
                        <a:t>117,1%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€34.145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€21.050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MARBELLA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€85.000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€117.350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€74.900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A7D9C"/>
                          </a:solidFill>
                        </a:rPr>
                        <a:t>88,1%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€77.060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€14.610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MÁLAGA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€35.000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€17.500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€17.085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4C4C"/>
                          </a:solidFill>
                        </a:rPr>
                        <a:t>48,8%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€18.950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€13.450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SAN SEBASTIÁN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€80.000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€41.762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€31.030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4C4C"/>
                          </a:solidFill>
                        </a:rPr>
                        <a:t>38,8%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€140.740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€166.578</a:t>
                      </a:r>
                      <a:endParaRPr lang="en-US" sz="95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JAÉN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€22.000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€6.600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€6.600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4C4C"/>
                          </a:solidFill>
                        </a:rPr>
                        <a:t>30,0%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€34.600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€25.400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VALENCIA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€40.000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€18.050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€11.730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4C4C"/>
                          </a:solidFill>
                        </a:rPr>
                        <a:t>29,3%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€75.650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€68.750</a:t>
                      </a:r>
                      <a:endParaRPr lang="en-US" sz="950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BARCELONA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€50.000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€22.240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€11.790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4C4C"/>
                          </a:solidFill>
                        </a:rPr>
                        <a:t>23,6%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€1.340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SEVILLA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€15.000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€3.280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€3.280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4C4C"/>
                          </a:solidFill>
                        </a:rPr>
                        <a:t>21,9%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€15.080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</a:rPr>
                        <a:t>€11.800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0000"/>
                          </a:solidFill>
                        </a:rPr>
                        <a:t>SANTANDER</a:t>
                      </a:r>
                      <a:endParaRPr lang="en-US" sz="95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</a:rPr>
                        <a:t>€18.750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</a:rPr>
                        <a:t>€0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0000"/>
                          </a:solidFill>
                        </a:rPr>
                        <a:t>€0</a:t>
                      </a:r>
                      <a:endParaRPr lang="en-US" sz="95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0000"/>
                          </a:solidFill>
                        </a:rPr>
                        <a:t>—</a:t>
                      </a:r>
                      <a:endParaRPr lang="en-US" sz="95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</a:rPr>
                        <a:t>—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</a:rPr>
                        <a:t>—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</a:rPr>
                        <a:t>TOTAL RED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€473.750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€513.752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€356.954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</a:rPr>
                        <a:t>75,3%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€492.440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€399.374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BDD18BDC-D651-E992-E98D-ADED6119455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88D191-62B4-D744-B8C6-98E297E252BA}"/>
              </a:ext>
            </a:extLst>
          </p:cNvPr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56521F51-0DF7-4678-725C-6DC3FB14AC5C}"/>
              </a:ext>
            </a:extLst>
          </p:cNvPr>
          <p:cNvSpPr txBox="1"/>
          <p:nvPr/>
        </p:nvSpPr>
        <p:spPr>
          <a:xfrm>
            <a:off x="256032" y="246888"/>
            <a:ext cx="713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600" b="1" i="0" dirty="0">
                <a:solidFill>
                  <a:srgbClr val="FFFFFF"/>
                </a:solidFill>
                <a:latin typeface="Calibri"/>
              </a:rPr>
              <a:t>TABLA COMPARATIVA – OFICINAS 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Q1 2026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DDB61E72-A914-7EEB-2A73-291C9F2146D0}"/>
              </a:ext>
            </a:extLst>
          </p:cNvPr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4DA249C-D506-9182-5031-3E4B7E803E3C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D309F7A3-56E1-8297-FECC-58613E26C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CARTERA CONSOLIDADA DE INMUEBLES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78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46409" y="4773839"/>
            <a:ext cx="1463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100" y="749808"/>
            <a:ext cx="2066543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2099" y="749808"/>
            <a:ext cx="59435" cy="80010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1828" y="747458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INMUEBLES EN CARTERA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828" y="930339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828" y="1350963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Total 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8936" y="749808"/>
            <a:ext cx="2066543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58935" y="749808"/>
            <a:ext cx="59435" cy="800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68664" y="747458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VALOR POTENCIAL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8664" y="930339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€4,59M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8664" y="1350963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Honorarios a generar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75772" y="749808"/>
            <a:ext cx="2066543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5771" y="749808"/>
            <a:ext cx="59435" cy="800100"/>
          </a:xfrm>
          <a:prstGeom prst="rect">
            <a:avLst/>
          </a:prstGeom>
          <a:solidFill>
            <a:srgbClr val="1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5500" y="747458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EXCLUSIVAS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5500" y="930339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5500" y="1350963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36,3% del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92608" y="749808"/>
            <a:ext cx="2066543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92607" y="749808"/>
            <a:ext cx="59435" cy="800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2336" y="747458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NO EXCLUSIVAS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2336" y="930339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123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2336" y="1350963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63,7% del total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9092"/>
            <a:ext cx="502920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5125002" y="1646591"/>
            <a:ext cx="146304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5161578" y="1683167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Oficina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8042" y="1646591"/>
            <a:ext cx="59436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6624618" y="1683167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82401" y="1646591"/>
            <a:ext cx="59436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7218977" y="1683167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6761" y="1646591"/>
            <a:ext cx="109728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7813337" y="1683167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Valor 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5002" y="1911767"/>
            <a:ext cx="146304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TextBox 43"/>
          <p:cNvSpPr txBox="1"/>
          <p:nvPr/>
        </p:nvSpPr>
        <p:spPr>
          <a:xfrm>
            <a:off x="5161578" y="1957486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Barcelona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8042" y="1911767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6624618" y="1957486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82401" y="1911767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7218977" y="1957486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6761" y="1911767"/>
            <a:ext cx="10972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49"/>
          <p:cNvSpPr txBox="1"/>
          <p:nvPr/>
        </p:nvSpPr>
        <p:spPr>
          <a:xfrm>
            <a:off x="7813337" y="1957486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€1</a:t>
            </a:r>
            <a:r>
              <a:rPr lang="es-ES" sz="1100" b="0" i="0" dirty="0">
                <a:solidFill>
                  <a:srgbClr val="1A1A2E"/>
                </a:solidFill>
                <a:latin typeface="Calibri"/>
              </a:rPr>
              <a:t>.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995K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5002" y="2176943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TextBox 51"/>
          <p:cNvSpPr txBox="1"/>
          <p:nvPr/>
        </p:nvSpPr>
        <p:spPr>
          <a:xfrm>
            <a:off x="5161578" y="2222663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Marbella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8042" y="2176943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TextBox 53"/>
          <p:cNvSpPr txBox="1"/>
          <p:nvPr/>
        </p:nvSpPr>
        <p:spPr>
          <a:xfrm>
            <a:off x="6624618" y="2222663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82401" y="2176943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6" name="TextBox 55"/>
          <p:cNvSpPr txBox="1"/>
          <p:nvPr/>
        </p:nvSpPr>
        <p:spPr>
          <a:xfrm>
            <a:off x="7218977" y="2222663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6761" y="2176943"/>
            <a:ext cx="10972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8" name="TextBox 57"/>
          <p:cNvSpPr txBox="1"/>
          <p:nvPr/>
        </p:nvSpPr>
        <p:spPr>
          <a:xfrm>
            <a:off x="7813337" y="2222663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€690K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5002" y="2442119"/>
            <a:ext cx="146304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0" name="TextBox 59"/>
          <p:cNvSpPr txBox="1"/>
          <p:nvPr/>
        </p:nvSpPr>
        <p:spPr>
          <a:xfrm>
            <a:off x="5161578" y="2487839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Alicante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8042" y="2442119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2" name="TextBox 61"/>
          <p:cNvSpPr txBox="1"/>
          <p:nvPr/>
        </p:nvSpPr>
        <p:spPr>
          <a:xfrm>
            <a:off x="6624618" y="2487839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43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82401" y="2442119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4" name="TextBox 63"/>
          <p:cNvSpPr txBox="1"/>
          <p:nvPr/>
        </p:nvSpPr>
        <p:spPr>
          <a:xfrm>
            <a:off x="7218977" y="2487839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6761" y="2442119"/>
            <a:ext cx="10972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6" name="TextBox 65"/>
          <p:cNvSpPr txBox="1"/>
          <p:nvPr/>
        </p:nvSpPr>
        <p:spPr>
          <a:xfrm>
            <a:off x="7813337" y="2487839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€681K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5002" y="2707295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8" name="TextBox 67"/>
          <p:cNvSpPr txBox="1"/>
          <p:nvPr/>
        </p:nvSpPr>
        <p:spPr>
          <a:xfrm>
            <a:off x="5161578" y="2753015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Málaga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8042" y="2707295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9"/>
          <p:cNvSpPr txBox="1"/>
          <p:nvPr/>
        </p:nvSpPr>
        <p:spPr>
          <a:xfrm>
            <a:off x="6624618" y="2753015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82401" y="2707295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2" name="TextBox 71"/>
          <p:cNvSpPr txBox="1"/>
          <p:nvPr/>
        </p:nvSpPr>
        <p:spPr>
          <a:xfrm>
            <a:off x="7218977" y="2753015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6761" y="2707295"/>
            <a:ext cx="10972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4" name="TextBox 73"/>
          <p:cNvSpPr txBox="1"/>
          <p:nvPr/>
        </p:nvSpPr>
        <p:spPr>
          <a:xfrm>
            <a:off x="7813337" y="2753015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€479K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25002" y="2972471"/>
            <a:ext cx="146304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TextBox 75"/>
          <p:cNvSpPr txBox="1"/>
          <p:nvPr/>
        </p:nvSpPr>
        <p:spPr>
          <a:xfrm>
            <a:off x="5161578" y="3018191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San Sebastián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8042" y="2972471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8" name="TextBox 77"/>
          <p:cNvSpPr txBox="1"/>
          <p:nvPr/>
        </p:nvSpPr>
        <p:spPr>
          <a:xfrm>
            <a:off x="6624618" y="3018191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82401" y="2972471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0" name="TextBox 79"/>
          <p:cNvSpPr txBox="1"/>
          <p:nvPr/>
        </p:nvSpPr>
        <p:spPr>
          <a:xfrm>
            <a:off x="7218977" y="3018191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6761" y="2972471"/>
            <a:ext cx="10972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2" name="TextBox 81"/>
          <p:cNvSpPr txBox="1"/>
          <p:nvPr/>
        </p:nvSpPr>
        <p:spPr>
          <a:xfrm>
            <a:off x="7813337" y="3018191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€266K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5002" y="3237647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4" name="TextBox 83"/>
          <p:cNvSpPr txBox="1"/>
          <p:nvPr/>
        </p:nvSpPr>
        <p:spPr>
          <a:xfrm>
            <a:off x="5161578" y="3283367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Valencia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8042" y="3237647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6" name="TextBox 85"/>
          <p:cNvSpPr txBox="1"/>
          <p:nvPr/>
        </p:nvSpPr>
        <p:spPr>
          <a:xfrm>
            <a:off x="6624618" y="3283367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82401" y="3237647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8" name="TextBox 87"/>
          <p:cNvSpPr txBox="1"/>
          <p:nvPr/>
        </p:nvSpPr>
        <p:spPr>
          <a:xfrm>
            <a:off x="7218977" y="3283367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76761" y="3237647"/>
            <a:ext cx="10972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" name="TextBox 89"/>
          <p:cNvSpPr txBox="1"/>
          <p:nvPr/>
        </p:nvSpPr>
        <p:spPr>
          <a:xfrm>
            <a:off x="7813337" y="3283367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€156K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25002" y="3502822"/>
            <a:ext cx="146304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2" name="TextBox 91"/>
          <p:cNvSpPr txBox="1"/>
          <p:nvPr/>
        </p:nvSpPr>
        <p:spPr>
          <a:xfrm>
            <a:off x="5161578" y="3548542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Santander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8042" y="3502822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4" name="TextBox 93"/>
          <p:cNvSpPr txBox="1"/>
          <p:nvPr/>
        </p:nvSpPr>
        <p:spPr>
          <a:xfrm>
            <a:off x="6624618" y="3548542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82401" y="3502822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6" name="TextBox 95"/>
          <p:cNvSpPr txBox="1"/>
          <p:nvPr/>
        </p:nvSpPr>
        <p:spPr>
          <a:xfrm>
            <a:off x="7218977" y="3548542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6761" y="3502822"/>
            <a:ext cx="10972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8" name="TextBox 97"/>
          <p:cNvSpPr txBox="1"/>
          <p:nvPr/>
        </p:nvSpPr>
        <p:spPr>
          <a:xfrm>
            <a:off x="7813337" y="3548542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€120K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25002" y="3767999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0" name="TextBox 99"/>
          <p:cNvSpPr txBox="1"/>
          <p:nvPr/>
        </p:nvSpPr>
        <p:spPr>
          <a:xfrm>
            <a:off x="5161578" y="3813719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Castellón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88042" y="3767999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2" name="TextBox 101"/>
          <p:cNvSpPr txBox="1"/>
          <p:nvPr/>
        </p:nvSpPr>
        <p:spPr>
          <a:xfrm>
            <a:off x="6624618" y="3813719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82401" y="3767999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4" name="TextBox 103"/>
          <p:cNvSpPr txBox="1"/>
          <p:nvPr/>
        </p:nvSpPr>
        <p:spPr>
          <a:xfrm>
            <a:off x="7218977" y="3813719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76761" y="3767999"/>
            <a:ext cx="10972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6" name="TextBox 105"/>
          <p:cNvSpPr txBox="1"/>
          <p:nvPr/>
        </p:nvSpPr>
        <p:spPr>
          <a:xfrm>
            <a:off x="7813337" y="3813719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€71K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25002" y="4033174"/>
            <a:ext cx="146304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8" name="TextBox 107"/>
          <p:cNvSpPr txBox="1"/>
          <p:nvPr/>
        </p:nvSpPr>
        <p:spPr>
          <a:xfrm>
            <a:off x="5161578" y="4078894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Sevilla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88042" y="4033174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0" name="TextBox 109"/>
          <p:cNvSpPr txBox="1"/>
          <p:nvPr/>
        </p:nvSpPr>
        <p:spPr>
          <a:xfrm>
            <a:off x="6624618" y="4078894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182401" y="4033174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2" name="TextBox 111"/>
          <p:cNvSpPr txBox="1"/>
          <p:nvPr/>
        </p:nvSpPr>
        <p:spPr>
          <a:xfrm>
            <a:off x="7218977" y="4078894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76761" y="4033174"/>
            <a:ext cx="10972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4" name="TextBox 113"/>
          <p:cNvSpPr txBox="1"/>
          <p:nvPr/>
        </p:nvSpPr>
        <p:spPr>
          <a:xfrm>
            <a:off x="7813337" y="4078894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€67K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125002" y="4298351"/>
            <a:ext cx="14630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6" name="TextBox 115"/>
          <p:cNvSpPr txBox="1"/>
          <p:nvPr/>
        </p:nvSpPr>
        <p:spPr>
          <a:xfrm>
            <a:off x="5161578" y="4344071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Jaén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8042" y="4298351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8" name="TextBox 117"/>
          <p:cNvSpPr txBox="1"/>
          <p:nvPr/>
        </p:nvSpPr>
        <p:spPr>
          <a:xfrm>
            <a:off x="6624618" y="4344071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82401" y="4298351"/>
            <a:ext cx="594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0" name="TextBox 119"/>
          <p:cNvSpPr txBox="1"/>
          <p:nvPr/>
        </p:nvSpPr>
        <p:spPr>
          <a:xfrm>
            <a:off x="7218977" y="4344071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776761" y="4298351"/>
            <a:ext cx="10972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2" name="TextBox 121"/>
          <p:cNvSpPr txBox="1"/>
          <p:nvPr/>
        </p:nvSpPr>
        <p:spPr>
          <a:xfrm>
            <a:off x="7813337" y="4344071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€62K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125002" y="4563526"/>
            <a:ext cx="146304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4" name="TextBox 123"/>
          <p:cNvSpPr txBox="1"/>
          <p:nvPr/>
        </p:nvSpPr>
        <p:spPr>
          <a:xfrm>
            <a:off x="5161578" y="4609246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Madrid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88042" y="4563526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6" name="TextBox 125"/>
          <p:cNvSpPr txBox="1"/>
          <p:nvPr/>
        </p:nvSpPr>
        <p:spPr>
          <a:xfrm>
            <a:off x="6624618" y="4609246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82401" y="4563526"/>
            <a:ext cx="59436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8" name="TextBox 127"/>
          <p:cNvSpPr txBox="1"/>
          <p:nvPr/>
        </p:nvSpPr>
        <p:spPr>
          <a:xfrm>
            <a:off x="7218977" y="4609246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776761" y="4563526"/>
            <a:ext cx="1097280" cy="265176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0" name="TextBox 129"/>
          <p:cNvSpPr txBox="1"/>
          <p:nvPr/>
        </p:nvSpPr>
        <p:spPr>
          <a:xfrm>
            <a:off x="7813337" y="4609246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125002" y="4828703"/>
            <a:ext cx="146304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2" name="TextBox 131"/>
          <p:cNvSpPr txBox="1"/>
          <p:nvPr/>
        </p:nvSpPr>
        <p:spPr>
          <a:xfrm>
            <a:off x="5161578" y="4865279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8042" y="4828703"/>
            <a:ext cx="59436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4" name="TextBox 133"/>
          <p:cNvSpPr txBox="1"/>
          <p:nvPr/>
        </p:nvSpPr>
        <p:spPr>
          <a:xfrm>
            <a:off x="6624618" y="4865279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193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182401" y="4828703"/>
            <a:ext cx="59436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6" name="TextBox 135"/>
          <p:cNvSpPr txBox="1"/>
          <p:nvPr/>
        </p:nvSpPr>
        <p:spPr>
          <a:xfrm>
            <a:off x="7218977" y="4865279"/>
            <a:ext cx="5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76761" y="4828703"/>
            <a:ext cx="1097280" cy="26517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8" name="TextBox 137"/>
          <p:cNvSpPr txBox="1"/>
          <p:nvPr/>
        </p:nvSpPr>
        <p:spPr>
          <a:xfrm>
            <a:off x="7813337" y="4865279"/>
            <a:ext cx="10424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€4.591K</a:t>
            </a:r>
          </a:p>
        </p:txBody>
      </p:sp>
      <p:sp>
        <p:nvSpPr>
          <p:cNvPr id="140" name="TextBox 8">
            <a:extLst>
              <a:ext uri="{FF2B5EF4-FFF2-40B4-BE49-F238E27FC236}">
                <a16:creationId xmlns:a16="http://schemas.microsoft.com/office/drawing/2014/main" id="{62A0F36A-C3AD-408F-65F7-FA5990CBE1C1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41" name="Imagen 140" descr="Texto&#10;&#10;Descripción generada automáticamente">
            <a:extLst>
              <a:ext uri="{FF2B5EF4-FFF2-40B4-BE49-F238E27FC236}">
                <a16:creationId xmlns:a16="http://schemas.microsoft.com/office/drawing/2014/main" id="{0A2ADFD1-1667-7D9F-782F-B29CD82FB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8610" cy="5143500"/>
          </a:xfrm>
          <a:prstGeom prst="rect">
            <a:avLst/>
          </a:prstGeom>
          <a:solidFill>
            <a:srgbClr val="0E1D3A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3" name="Text 1"/>
          <p:cNvSpPr/>
          <p:nvPr/>
        </p:nvSpPr>
        <p:spPr>
          <a:xfrm>
            <a:off x="548640" y="240030"/>
            <a:ext cx="6172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LAE HOMES PREMIUM AGENCY  ·  CANAL AAFF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48640" y="4800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  ·  Resumen Ejecutivo Económico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48640" y="85725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Anualización lineal: ~430 k€ honorarios brutos / ~285 k€ LAE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548640" y="1165860"/>
            <a:ext cx="8023860" cy="13716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954530" cy="99441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" cy="99441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9" name="Text 7"/>
          <p:cNvSpPr/>
          <p:nvPr/>
        </p:nvSpPr>
        <p:spPr>
          <a:xfrm>
            <a:off x="685800" y="1495044"/>
            <a:ext cx="174879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" y="1954530"/>
            <a:ext cx="17487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cerradas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146554"/>
            <a:ext cx="17487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vs Q1 2025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1954530" cy="99441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13" name="Shape 11"/>
          <p:cNvSpPr/>
          <p:nvPr/>
        </p:nvSpPr>
        <p:spPr>
          <a:xfrm>
            <a:off x="2606040" y="1371600"/>
            <a:ext cx="54864" cy="99441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4" name="Text 12"/>
          <p:cNvSpPr/>
          <p:nvPr/>
        </p:nvSpPr>
        <p:spPr>
          <a:xfrm>
            <a:off x="2743200" y="1495044"/>
            <a:ext cx="174879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107.549 €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743200" y="1954530"/>
            <a:ext cx="17487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Brutos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2146554"/>
            <a:ext cx="17487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+69,4% vs Q1 2025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54530" cy="99441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54864" cy="99441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9" name="Text 17"/>
          <p:cNvSpPr/>
          <p:nvPr/>
        </p:nvSpPr>
        <p:spPr>
          <a:xfrm>
            <a:off x="4800600" y="1495044"/>
            <a:ext cx="174879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71.487 €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800600" y="1954530"/>
            <a:ext cx="17487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LAE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2146554"/>
            <a:ext cx="17487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+13,4% vs Q1 2025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6720840" y="1371600"/>
            <a:ext cx="1954530" cy="99441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 sz="1350"/>
          </a:p>
        </p:txBody>
      </p:sp>
      <p:sp>
        <p:nvSpPr>
          <p:cNvPr id="23" name="Shape 21"/>
          <p:cNvSpPr/>
          <p:nvPr/>
        </p:nvSpPr>
        <p:spPr>
          <a:xfrm>
            <a:off x="6720840" y="1371600"/>
            <a:ext cx="54864" cy="99441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24" name="Text 22"/>
          <p:cNvSpPr/>
          <p:nvPr/>
        </p:nvSpPr>
        <p:spPr>
          <a:xfrm>
            <a:off x="6858000" y="1495044"/>
            <a:ext cx="174879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66,5%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858000" y="1954530"/>
            <a:ext cx="17487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2146554"/>
            <a:ext cx="17487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 8.273 €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548640" y="257175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Q1 2025 vs Q1 2026</a:t>
            </a:r>
            <a:endParaRPr lang="en-US" sz="10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48640" y="2846070"/>
          <a:ext cx="49377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5692140" y="2571750"/>
            <a:ext cx="2880360" cy="2331720"/>
          </a:xfrm>
          <a:prstGeom prst="rect">
            <a:avLst/>
          </a:prstGeom>
          <a:solidFill>
            <a:srgbClr val="0E1D3A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30" name="Text 27"/>
          <p:cNvSpPr/>
          <p:nvPr/>
        </p:nvSpPr>
        <p:spPr>
          <a:xfrm>
            <a:off x="5829300" y="2674620"/>
            <a:ext cx="26746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829300" y="2914650"/>
            <a:ext cx="267462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50"/>
              </a:spcAft>
            </a:pPr>
            <a:r>
              <a:rPr lang="en-US" sz="900" b="1" dirty="0">
                <a:solidFill>
                  <a:srgbClr val="FFFFFF"/>
                </a:solidFill>
              </a:rPr>
              <a:t>Crecimiento sólido</a:t>
            </a:r>
            <a:endParaRPr lang="en-US" sz="900" dirty="0"/>
          </a:p>
          <a:p>
            <a:pPr>
              <a:spcAft>
                <a:spcPts val="150"/>
              </a:spcAft>
            </a:pPr>
            <a:r>
              <a:rPr lang="en-US" sz="788" dirty="0">
                <a:solidFill>
                  <a:srgbClr val="E8EEF7"/>
                </a:solidFill>
              </a:rPr>
              <a:t>+30% ops · +69,4% bruto · +30,3% ticket medio.</a:t>
            </a:r>
            <a:endParaRPr lang="en-US" sz="900" dirty="0"/>
          </a:p>
          <a:p>
            <a:pPr>
              <a:spcAft>
                <a:spcPts val="150"/>
              </a:spcAft>
            </a:pPr>
            <a:r>
              <a:rPr lang="en-US" sz="45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>
              <a:spcAft>
                <a:spcPts val="150"/>
              </a:spcAft>
            </a:pPr>
            <a:r>
              <a:rPr lang="en-US" sz="900" b="1" dirty="0">
                <a:solidFill>
                  <a:srgbClr val="FFFFFF"/>
                </a:solidFill>
              </a:rPr>
              <a:t>Modalidad 50%, palanca 2026</a:t>
            </a:r>
            <a:endParaRPr lang="en-US" sz="900" dirty="0"/>
          </a:p>
          <a:p>
            <a:pPr>
              <a:spcAft>
                <a:spcPts val="150"/>
              </a:spcAft>
            </a:pPr>
            <a:r>
              <a:rPr lang="en-US" sz="788" dirty="0">
                <a:solidFill>
                  <a:srgbClr val="E8EEF7"/>
                </a:solidFill>
              </a:rPr>
              <a:t>20%: 8 ops · 62.699 €  |  50%: 5 ops · 44.850 €. </a:t>
            </a:r>
          </a:p>
          <a:p>
            <a:pPr>
              <a:spcAft>
                <a:spcPts val="150"/>
              </a:spcAft>
            </a:pPr>
            <a:r>
              <a:rPr lang="en-US" sz="788" dirty="0">
                <a:solidFill>
                  <a:srgbClr val="E8EEF7"/>
                </a:solidFill>
              </a:rPr>
              <a:t>Foco: extender 50-50 al resto de oficinas.</a:t>
            </a:r>
            <a:endParaRPr lang="en-US" sz="900" dirty="0"/>
          </a:p>
          <a:p>
            <a:pPr>
              <a:spcAft>
                <a:spcPts val="150"/>
              </a:spcAft>
            </a:pPr>
            <a:r>
              <a:rPr lang="en-US" sz="45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>
              <a:spcAft>
                <a:spcPts val="150"/>
              </a:spcAft>
            </a:pPr>
            <a:r>
              <a:rPr lang="en-US" sz="900" b="1" dirty="0">
                <a:solidFill>
                  <a:srgbClr val="FFFFFF"/>
                </a:solidFill>
              </a:rPr>
              <a:t>Marbella, 2º motor del canal</a:t>
            </a:r>
            <a:endParaRPr lang="en-US" sz="900" dirty="0"/>
          </a:p>
          <a:p>
            <a:pPr>
              <a:spcAft>
                <a:spcPts val="150"/>
              </a:spcAft>
            </a:pPr>
            <a:r>
              <a:rPr lang="en-US" sz="788" dirty="0">
                <a:solidFill>
                  <a:srgbClr val="E8EEF7"/>
                </a:solidFill>
              </a:rPr>
              <a:t>23.750 € (22,1% del bruto Q1) con 2 nuevas activaciones: Fdez-Figares y AfincasMR2 (Algeciras).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" y="4903470"/>
            <a:ext cx="5486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· LAE HOMES Premium Agency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8092440" y="4903470"/>
            <a:ext cx="480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8610" cy="5143500"/>
          </a:xfrm>
          <a:prstGeom prst="rect">
            <a:avLst/>
          </a:prstGeom>
          <a:solidFill>
            <a:srgbClr val="0E1D3A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3" name="Text 1"/>
          <p:cNvSpPr/>
          <p:nvPr/>
        </p:nvSpPr>
        <p:spPr>
          <a:xfrm>
            <a:off x="548640" y="240030"/>
            <a:ext cx="6172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LAE HOMES PREMIUM AGENCY  ·  CANAL AAFF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48640" y="4800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 err="1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</a:t>
            </a:r>
            <a:r>
              <a:rPr lang="en-US" sz="210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100" b="1" dirty="0" err="1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económica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836676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oficina · por modalidad · top administraciones · Total Q1: 13 ops · 107.549 € brutos · 71.487 € LAE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65860"/>
            <a:ext cx="8023860" cy="13716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7" name="Text 5"/>
          <p:cNvSpPr/>
          <p:nvPr/>
        </p:nvSpPr>
        <p:spPr>
          <a:xfrm>
            <a:off x="548640" y="133731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oficina (€ brutos)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77340"/>
          <a:ext cx="4114800" cy="157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800600" y="133731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modalidad — palanca 2026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645920"/>
            <a:ext cx="1851660" cy="116586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1" name="Shape 8"/>
          <p:cNvSpPr/>
          <p:nvPr/>
        </p:nvSpPr>
        <p:spPr>
          <a:xfrm>
            <a:off x="4800600" y="1645920"/>
            <a:ext cx="54864" cy="11658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2" name="Text 9"/>
          <p:cNvSpPr/>
          <p:nvPr/>
        </p:nvSpPr>
        <p:spPr>
          <a:xfrm>
            <a:off x="4937760" y="171450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 20%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93776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0E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ops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937760" y="222885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62.699 € brutos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37760" y="243459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58,3% del bruto Q1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755130" y="1645920"/>
            <a:ext cx="1851660" cy="1165860"/>
          </a:xfrm>
          <a:prstGeom prst="rect">
            <a:avLst/>
          </a:prstGeom>
          <a:solidFill>
            <a:srgbClr val="0E1D3A"/>
          </a:solidFill>
          <a:ln w="12700">
            <a:solidFill>
              <a:srgbClr val="0E1D3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7" name="Shape 14"/>
          <p:cNvSpPr/>
          <p:nvPr/>
        </p:nvSpPr>
        <p:spPr>
          <a:xfrm>
            <a:off x="6755130" y="1645920"/>
            <a:ext cx="54864" cy="11658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8" name="Text 15"/>
          <p:cNvSpPr/>
          <p:nvPr/>
        </p:nvSpPr>
        <p:spPr>
          <a:xfrm>
            <a:off x="6892290" y="171450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 50%  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89229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ops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892290" y="222885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44.850 € brutos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32232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administraciones por honorarios brutos Q1</a:t>
            </a:r>
            <a:endParaRPr lang="en-US" sz="975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48640" y="3463290"/>
          <a:ext cx="8023860" cy="152400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Brutos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LAE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Mediterráneo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Alicante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52.949 €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31.532 €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AfincasMR2 (Algeciras)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Evarte Admin. y Abogacía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Alicante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7.290 €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Fernández-Figares &amp; Asoc.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Marbella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9.750 €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9.750 €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Massa Iuris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Bienestar Abogados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8.750 €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6.150 €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Escudero Administraciones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1.400 €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985 €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48640" y="4903470"/>
            <a:ext cx="5486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· LAE HOMES Premium Agency</a:t>
            </a:r>
            <a:endParaRPr lang="en-US" sz="675" dirty="0"/>
          </a:p>
        </p:txBody>
      </p:sp>
      <p:sp>
        <p:nvSpPr>
          <p:cNvPr id="25" name="Text 21"/>
          <p:cNvSpPr/>
          <p:nvPr/>
        </p:nvSpPr>
        <p:spPr>
          <a:xfrm>
            <a:off x="8092440" y="4903470"/>
            <a:ext cx="480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675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F0155D4F-1276-9D8C-75FF-B7AE65F635BE}"/>
              </a:ext>
            </a:extLst>
          </p:cNvPr>
          <p:cNvSpPr/>
          <p:nvPr/>
        </p:nvSpPr>
        <p:spPr>
          <a:xfrm>
            <a:off x="6892290" y="2430118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41,7% del bruto Q1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CANAL ADMINISTRADORES DE FINCAS (AAFF)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3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0489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0489" y="749808"/>
            <a:ext cx="54864" cy="8961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0217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CAPT. VÍA AAFF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217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217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24,6% del total Q1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7325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7325" y="749808"/>
            <a:ext cx="54864" cy="8961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77053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HONOR. CAPTACIÓN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7053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€544K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7053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Honorarios potenciales AAFF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4161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84161" y="749808"/>
            <a:ext cx="54864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93889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CIERRES AAFF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889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3889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€38.305 Hon. LAE AAFF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0997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00997" y="749808"/>
            <a:ext cx="54864" cy="896112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0725" y="822959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AAFF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0725" y="1005840"/>
            <a:ext cx="1920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dirty="0">
                <a:solidFill>
                  <a:srgbClr val="1A1A2E"/>
                </a:solidFill>
                <a:latin typeface="Calibri"/>
              </a:rPr>
              <a:t>55</a:t>
            </a:r>
            <a:endParaRPr sz="20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10725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Administradores vinculados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2" y="2011680"/>
            <a:ext cx="4754880" cy="292608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833904" y="1696925"/>
            <a:ext cx="141732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4870480" y="1733501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Oficina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1224" y="1696925"/>
            <a:ext cx="7772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6287800" y="1733501"/>
            <a:ext cx="7223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Capt. AAFF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8464" y="1696925"/>
            <a:ext cx="73152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7065040" y="1733501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% Total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59984" y="1696925"/>
            <a:ext cx="1115568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7796560" y="1733501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Honor. AAFF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33904" y="1971244"/>
            <a:ext cx="14173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/>
          <p:cNvSpPr txBox="1"/>
          <p:nvPr/>
        </p:nvSpPr>
        <p:spPr>
          <a:xfrm>
            <a:off x="4870480" y="201696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Alicante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1224" y="1971244"/>
            <a:ext cx="7772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6287800" y="2016964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28464" y="1971244"/>
            <a:ext cx="7315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7065040" y="201696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45%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59984" y="1971244"/>
            <a:ext cx="1115568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7796560" y="2016964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€79K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33904" y="2245564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TextBox 51"/>
          <p:cNvSpPr txBox="1"/>
          <p:nvPr/>
        </p:nvSpPr>
        <p:spPr>
          <a:xfrm>
            <a:off x="4870480" y="229128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Málaga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51224" y="224556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/>
          <p:cNvSpPr txBox="1"/>
          <p:nvPr/>
        </p:nvSpPr>
        <p:spPr>
          <a:xfrm>
            <a:off x="6287800" y="2291284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28464" y="2245564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55"/>
          <p:cNvSpPr txBox="1"/>
          <p:nvPr/>
        </p:nvSpPr>
        <p:spPr>
          <a:xfrm>
            <a:off x="7065040" y="229128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54%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59984" y="2245564"/>
            <a:ext cx="11155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/>
          <p:cNvSpPr txBox="1"/>
          <p:nvPr/>
        </p:nvSpPr>
        <p:spPr>
          <a:xfrm>
            <a:off x="7796560" y="2291284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€280K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33904" y="2519885"/>
            <a:ext cx="14173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4870480" y="256560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Marbella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51224" y="2519885"/>
            <a:ext cx="7772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2" name="TextBox 61"/>
          <p:cNvSpPr txBox="1"/>
          <p:nvPr/>
        </p:nvSpPr>
        <p:spPr>
          <a:xfrm>
            <a:off x="6287800" y="2565604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28464" y="2519885"/>
            <a:ext cx="7315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63"/>
          <p:cNvSpPr txBox="1"/>
          <p:nvPr/>
        </p:nvSpPr>
        <p:spPr>
          <a:xfrm>
            <a:off x="7065040" y="256560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59984" y="2519885"/>
            <a:ext cx="1115568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TextBox 65"/>
          <p:cNvSpPr txBox="1"/>
          <p:nvPr/>
        </p:nvSpPr>
        <p:spPr>
          <a:xfrm>
            <a:off x="7796560" y="2565604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€136K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33904" y="2794204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TextBox 67"/>
          <p:cNvSpPr txBox="1"/>
          <p:nvPr/>
        </p:nvSpPr>
        <p:spPr>
          <a:xfrm>
            <a:off x="4870480" y="283992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Castellón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51224" y="279420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0" name="TextBox 69"/>
          <p:cNvSpPr txBox="1"/>
          <p:nvPr/>
        </p:nvSpPr>
        <p:spPr>
          <a:xfrm>
            <a:off x="6287800" y="2839924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28464" y="2794204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/>
          <p:cNvSpPr txBox="1"/>
          <p:nvPr/>
        </p:nvSpPr>
        <p:spPr>
          <a:xfrm>
            <a:off x="7065040" y="283992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59984" y="2794204"/>
            <a:ext cx="11155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TextBox 73"/>
          <p:cNvSpPr txBox="1"/>
          <p:nvPr/>
        </p:nvSpPr>
        <p:spPr>
          <a:xfrm>
            <a:off x="7796560" y="2839924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€12K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33904" y="3068525"/>
            <a:ext cx="14173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TextBox 75"/>
          <p:cNvSpPr txBox="1"/>
          <p:nvPr/>
        </p:nvSpPr>
        <p:spPr>
          <a:xfrm>
            <a:off x="4870480" y="3114245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Jaén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51224" y="3068525"/>
            <a:ext cx="7772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/>
          <p:cNvSpPr txBox="1"/>
          <p:nvPr/>
        </p:nvSpPr>
        <p:spPr>
          <a:xfrm>
            <a:off x="6287800" y="3114245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28464" y="3068525"/>
            <a:ext cx="7315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TextBox 79"/>
          <p:cNvSpPr txBox="1"/>
          <p:nvPr/>
        </p:nvSpPr>
        <p:spPr>
          <a:xfrm>
            <a:off x="7065040" y="3114245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59984" y="3068525"/>
            <a:ext cx="1115568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2" name="TextBox 81"/>
          <p:cNvSpPr txBox="1"/>
          <p:nvPr/>
        </p:nvSpPr>
        <p:spPr>
          <a:xfrm>
            <a:off x="7796560" y="3114245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€25K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33904" y="3342845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4" name="TextBox 83"/>
          <p:cNvSpPr txBox="1"/>
          <p:nvPr/>
        </p:nvSpPr>
        <p:spPr>
          <a:xfrm>
            <a:off x="4870480" y="338856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Sevilla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51224" y="3342845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6" name="TextBox 85"/>
          <p:cNvSpPr txBox="1"/>
          <p:nvPr/>
        </p:nvSpPr>
        <p:spPr>
          <a:xfrm>
            <a:off x="6287800" y="3388564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28464" y="3342845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TextBox 87"/>
          <p:cNvSpPr txBox="1"/>
          <p:nvPr/>
        </p:nvSpPr>
        <p:spPr>
          <a:xfrm>
            <a:off x="7065040" y="338856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59984" y="3342845"/>
            <a:ext cx="11155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0" name="TextBox 89"/>
          <p:cNvSpPr txBox="1"/>
          <p:nvPr/>
        </p:nvSpPr>
        <p:spPr>
          <a:xfrm>
            <a:off x="7796560" y="3388564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33904" y="3617164"/>
            <a:ext cx="14173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2" name="TextBox 91"/>
          <p:cNvSpPr txBox="1"/>
          <p:nvPr/>
        </p:nvSpPr>
        <p:spPr>
          <a:xfrm>
            <a:off x="4870480" y="366288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Valencia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51224" y="3617164"/>
            <a:ext cx="7772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4" name="TextBox 93"/>
          <p:cNvSpPr txBox="1"/>
          <p:nvPr/>
        </p:nvSpPr>
        <p:spPr>
          <a:xfrm>
            <a:off x="6287800" y="3662884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28464" y="3617164"/>
            <a:ext cx="7315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6" name="TextBox 95"/>
          <p:cNvSpPr txBox="1"/>
          <p:nvPr/>
        </p:nvSpPr>
        <p:spPr>
          <a:xfrm>
            <a:off x="7065040" y="366288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59984" y="3617164"/>
            <a:ext cx="1115568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8" name="TextBox 97"/>
          <p:cNvSpPr txBox="1"/>
          <p:nvPr/>
        </p:nvSpPr>
        <p:spPr>
          <a:xfrm>
            <a:off x="7796560" y="3662884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€9K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33904" y="3891485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" name="TextBox 99"/>
          <p:cNvSpPr txBox="1"/>
          <p:nvPr/>
        </p:nvSpPr>
        <p:spPr>
          <a:xfrm>
            <a:off x="4870480" y="3937205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Barcelona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51224" y="3891485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2" name="TextBox 101"/>
          <p:cNvSpPr txBox="1"/>
          <p:nvPr/>
        </p:nvSpPr>
        <p:spPr>
          <a:xfrm>
            <a:off x="6287800" y="3937205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28464" y="3891485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" name="TextBox 103"/>
          <p:cNvSpPr txBox="1"/>
          <p:nvPr/>
        </p:nvSpPr>
        <p:spPr>
          <a:xfrm>
            <a:off x="7065040" y="3937205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59984" y="3891485"/>
            <a:ext cx="11155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" name="TextBox 105"/>
          <p:cNvSpPr txBox="1"/>
          <p:nvPr/>
        </p:nvSpPr>
        <p:spPr>
          <a:xfrm>
            <a:off x="7796560" y="3937205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33904" y="4165804"/>
            <a:ext cx="14173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" name="TextBox 107"/>
          <p:cNvSpPr txBox="1"/>
          <p:nvPr/>
        </p:nvSpPr>
        <p:spPr>
          <a:xfrm>
            <a:off x="4870480" y="4211524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Madrid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51224" y="4165804"/>
            <a:ext cx="7772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0" name="TextBox 109"/>
          <p:cNvSpPr txBox="1"/>
          <p:nvPr/>
        </p:nvSpPr>
        <p:spPr>
          <a:xfrm>
            <a:off x="6287800" y="4211524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028464" y="4165804"/>
            <a:ext cx="7315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" name="TextBox 111"/>
          <p:cNvSpPr txBox="1"/>
          <p:nvPr/>
        </p:nvSpPr>
        <p:spPr>
          <a:xfrm>
            <a:off x="7065040" y="4211524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59984" y="4165804"/>
            <a:ext cx="1115568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4" name="TextBox 113"/>
          <p:cNvSpPr txBox="1"/>
          <p:nvPr/>
        </p:nvSpPr>
        <p:spPr>
          <a:xfrm>
            <a:off x="7796560" y="4211524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33904" y="4440125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6" name="TextBox 115"/>
          <p:cNvSpPr txBox="1"/>
          <p:nvPr/>
        </p:nvSpPr>
        <p:spPr>
          <a:xfrm>
            <a:off x="4870480" y="4485845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San Sebastián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51224" y="4440125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8" name="TextBox 117"/>
          <p:cNvSpPr txBox="1"/>
          <p:nvPr/>
        </p:nvSpPr>
        <p:spPr>
          <a:xfrm>
            <a:off x="6287800" y="4485845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28464" y="4440125"/>
            <a:ext cx="7315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0" name="TextBox 119"/>
          <p:cNvSpPr txBox="1"/>
          <p:nvPr/>
        </p:nvSpPr>
        <p:spPr>
          <a:xfrm>
            <a:off x="7065040" y="4485845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759984" y="4440125"/>
            <a:ext cx="11155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2" name="TextBox 121"/>
          <p:cNvSpPr txBox="1"/>
          <p:nvPr/>
        </p:nvSpPr>
        <p:spPr>
          <a:xfrm>
            <a:off x="7796560" y="4485845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833904" y="4720317"/>
            <a:ext cx="141732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2" name="TextBox 131"/>
          <p:cNvSpPr txBox="1"/>
          <p:nvPr/>
        </p:nvSpPr>
        <p:spPr>
          <a:xfrm>
            <a:off x="4870480" y="4756893"/>
            <a:ext cx="1362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51224" y="4720317"/>
            <a:ext cx="7772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4" name="TextBox 133"/>
          <p:cNvSpPr txBox="1"/>
          <p:nvPr/>
        </p:nvSpPr>
        <p:spPr>
          <a:xfrm>
            <a:off x="6287800" y="4756893"/>
            <a:ext cx="7223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028464" y="4720317"/>
            <a:ext cx="73152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6" name="TextBox 135"/>
          <p:cNvSpPr txBox="1"/>
          <p:nvPr/>
        </p:nvSpPr>
        <p:spPr>
          <a:xfrm>
            <a:off x="7065040" y="4756893"/>
            <a:ext cx="676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24,6%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59984" y="4720317"/>
            <a:ext cx="1115568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8" name="TextBox 137"/>
          <p:cNvSpPr txBox="1"/>
          <p:nvPr/>
        </p:nvSpPr>
        <p:spPr>
          <a:xfrm>
            <a:off x="7796560" y="4756893"/>
            <a:ext cx="1060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€544K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37744" y="4773168"/>
            <a:ext cx="4297680" cy="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237744" y="4773168"/>
            <a:ext cx="54864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65760" y="48463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102352"/>
            <a:ext cx="4114800" cy="0"/>
          </a:xfrm>
          <a:prstGeom prst="rect">
            <a:avLst/>
          </a:prstGeom>
          <a:noFill/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44" name="TextBox 8">
            <a:extLst>
              <a:ext uri="{FF2B5EF4-FFF2-40B4-BE49-F238E27FC236}">
                <a16:creationId xmlns:a16="http://schemas.microsoft.com/office/drawing/2014/main" id="{357312A9-10BD-200A-DEEA-03B135582F6D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45" name="Imagen 144" descr="Texto&#10;&#10;Descripción generada automáticamente">
            <a:extLst>
              <a:ext uri="{FF2B5EF4-FFF2-40B4-BE49-F238E27FC236}">
                <a16:creationId xmlns:a16="http://schemas.microsoft.com/office/drawing/2014/main" id="{9161E144-EA3F-BD1D-B529-1BF289220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EVOLUCIÓN MENSUAL Q1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72" y="768096"/>
            <a:ext cx="8330267" cy="273019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348112" y="3598877"/>
            <a:ext cx="109728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1384688" y="3635453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5392" y="3598877"/>
            <a:ext cx="10058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2481968" y="3635453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Captaciones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1231" y="3598877"/>
            <a:ext cx="10058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3487807" y="3635453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Capt. AAFF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7071" y="3598877"/>
            <a:ext cx="82296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4493648" y="3635453"/>
            <a:ext cx="768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Cierres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0032" y="3598877"/>
            <a:ext cx="10058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5316608" y="3635453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Hon. LAE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5872" y="3598877"/>
            <a:ext cx="109728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322448" y="3635453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Pdte. Cobro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48112" y="3873197"/>
            <a:ext cx="109728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1384688" y="3918917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Enero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45392" y="3873197"/>
            <a:ext cx="10058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2481968" y="391891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1231" y="3873197"/>
            <a:ext cx="10058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3487807" y="391891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7071" y="3873197"/>
            <a:ext cx="8229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4493648" y="3918917"/>
            <a:ext cx="768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0032" y="3873197"/>
            <a:ext cx="10058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5316608" y="391891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€150.783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5872" y="3873197"/>
            <a:ext cx="109728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6322448" y="3918917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€284.169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48112" y="4147517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1384688" y="4193237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Febrero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45392" y="4147517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2481968" y="419323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43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51231" y="4147517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/>
          <p:cNvSpPr txBox="1"/>
          <p:nvPr/>
        </p:nvSpPr>
        <p:spPr>
          <a:xfrm>
            <a:off x="3487807" y="419323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57071" y="4147517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4493648" y="4193237"/>
            <a:ext cx="768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0032" y="4147517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5316608" y="419323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€103.864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85872" y="4147517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6322448" y="4193237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€390.859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48112" y="4421837"/>
            <a:ext cx="109728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TextBox 51"/>
          <p:cNvSpPr txBox="1"/>
          <p:nvPr/>
        </p:nvSpPr>
        <p:spPr>
          <a:xfrm>
            <a:off x="1384688" y="4467556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Marzo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45392" y="4421837"/>
            <a:ext cx="10058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/>
          <p:cNvSpPr txBox="1"/>
          <p:nvPr/>
        </p:nvSpPr>
        <p:spPr>
          <a:xfrm>
            <a:off x="2481968" y="4467556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51231" y="4421837"/>
            <a:ext cx="10058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55"/>
          <p:cNvSpPr txBox="1"/>
          <p:nvPr/>
        </p:nvSpPr>
        <p:spPr>
          <a:xfrm>
            <a:off x="3487807" y="4467556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57071" y="4421837"/>
            <a:ext cx="8229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/>
          <p:cNvSpPr txBox="1"/>
          <p:nvPr/>
        </p:nvSpPr>
        <p:spPr>
          <a:xfrm>
            <a:off x="4493648" y="4467556"/>
            <a:ext cx="768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80032" y="4421837"/>
            <a:ext cx="10058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5316608" y="4467556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€102.307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85872" y="4421837"/>
            <a:ext cx="109728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2" name="TextBox 61"/>
          <p:cNvSpPr txBox="1"/>
          <p:nvPr/>
        </p:nvSpPr>
        <p:spPr>
          <a:xfrm>
            <a:off x="6322448" y="4467556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€399.374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48112" y="4696157"/>
            <a:ext cx="109728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63"/>
          <p:cNvSpPr txBox="1"/>
          <p:nvPr/>
        </p:nvSpPr>
        <p:spPr>
          <a:xfrm>
            <a:off x="1384688" y="4741877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 Q1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45392" y="4696157"/>
            <a:ext cx="10058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TextBox 65"/>
          <p:cNvSpPr txBox="1"/>
          <p:nvPr/>
        </p:nvSpPr>
        <p:spPr>
          <a:xfrm>
            <a:off x="2481968" y="474187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51231" y="4696157"/>
            <a:ext cx="10058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TextBox 67"/>
          <p:cNvSpPr txBox="1"/>
          <p:nvPr/>
        </p:nvSpPr>
        <p:spPr>
          <a:xfrm>
            <a:off x="3487807" y="474187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57071" y="4696157"/>
            <a:ext cx="82296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0" name="TextBox 69"/>
          <p:cNvSpPr txBox="1"/>
          <p:nvPr/>
        </p:nvSpPr>
        <p:spPr>
          <a:xfrm>
            <a:off x="4493648" y="4741877"/>
            <a:ext cx="768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80032" y="4696157"/>
            <a:ext cx="10058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/>
          <p:cNvSpPr txBox="1"/>
          <p:nvPr/>
        </p:nvSpPr>
        <p:spPr>
          <a:xfrm>
            <a:off x="5316608" y="4741877"/>
            <a:ext cx="9509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€356.954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85872" y="4696157"/>
            <a:ext cx="109728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TextBox 73"/>
          <p:cNvSpPr txBox="1"/>
          <p:nvPr/>
        </p:nvSpPr>
        <p:spPr>
          <a:xfrm>
            <a:off x="6322448" y="4741877"/>
            <a:ext cx="1042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€399.374</a:t>
            </a:r>
          </a:p>
        </p:txBody>
      </p:sp>
      <p:sp>
        <p:nvSpPr>
          <p:cNvPr id="76" name="Rectangle 10">
            <a:extLst>
              <a:ext uri="{FF2B5EF4-FFF2-40B4-BE49-F238E27FC236}">
                <a16:creationId xmlns:a16="http://schemas.microsoft.com/office/drawing/2014/main" id="{5E56D777-3003-221B-C5AA-72EE964FA838}"/>
              </a:ext>
            </a:extLst>
          </p:cNvPr>
          <p:cNvSpPr/>
          <p:nvPr/>
        </p:nvSpPr>
        <p:spPr>
          <a:xfrm>
            <a:off x="0" y="5102352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11">
            <a:extLst>
              <a:ext uri="{FF2B5EF4-FFF2-40B4-BE49-F238E27FC236}">
                <a16:creationId xmlns:a16="http://schemas.microsoft.com/office/drawing/2014/main" id="{F9B4E3D5-910A-6C14-5870-1C19EEFB9DD4}"/>
              </a:ext>
            </a:extLst>
          </p:cNvPr>
          <p:cNvSpPr txBox="1"/>
          <p:nvPr/>
        </p:nvSpPr>
        <p:spPr>
          <a:xfrm>
            <a:off x="256032" y="51389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·Informe Q1 2026 l</a:t>
            </a:r>
          </a:p>
        </p:txBody>
      </p:sp>
      <p:sp>
        <p:nvSpPr>
          <p:cNvPr id="78" name="TextBox 12">
            <a:extLst>
              <a:ext uri="{FF2B5EF4-FFF2-40B4-BE49-F238E27FC236}">
                <a16:creationId xmlns:a16="http://schemas.microsoft.com/office/drawing/2014/main" id="{589EDAB7-EBF7-039A-AC61-2AE152C36A55}"/>
              </a:ext>
            </a:extLst>
          </p:cNvPr>
          <p:cNvSpPr txBox="1"/>
          <p:nvPr/>
        </p:nvSpPr>
        <p:spPr>
          <a:xfrm>
            <a:off x="7498079" y="51389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79" name="TextBox 8">
            <a:extLst>
              <a:ext uri="{FF2B5EF4-FFF2-40B4-BE49-F238E27FC236}">
                <a16:creationId xmlns:a16="http://schemas.microsoft.com/office/drawing/2014/main" id="{DCE0D921-D94A-E39C-0DA3-4C0EDAB2EF0D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80" name="Imagen 79" descr="Texto&#10;&#10;Descripción generada automáticamente">
            <a:extLst>
              <a:ext uri="{FF2B5EF4-FFF2-40B4-BE49-F238E27FC236}">
                <a16:creationId xmlns:a16="http://schemas.microsoft.com/office/drawing/2014/main" id="{BD228D52-04EF-2AF7-F8A1-0218E035E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92E9A1C-0546-991F-2397-4EAE8AE0B37B}"/>
              </a:ext>
            </a:extLst>
          </p:cNvPr>
          <p:cNvSpPr/>
          <p:nvPr/>
        </p:nvSpPr>
        <p:spPr>
          <a:xfrm>
            <a:off x="4295553" y="1072984"/>
            <a:ext cx="893135" cy="21174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rgbClr val="1B2B4A"/>
                </a:solidFill>
              </a:rPr>
              <a:t>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CUADRO POR CONSULTOR Q1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8" name="Grupo 417">
            <a:extLst>
              <a:ext uri="{FF2B5EF4-FFF2-40B4-BE49-F238E27FC236}">
                <a16:creationId xmlns:a16="http://schemas.microsoft.com/office/drawing/2014/main" id="{6B1CE73A-DD1A-48F2-95F0-B5B7055C7EA1}"/>
              </a:ext>
            </a:extLst>
          </p:cNvPr>
          <p:cNvGrpSpPr/>
          <p:nvPr/>
        </p:nvGrpSpPr>
        <p:grpSpPr>
          <a:xfrm>
            <a:off x="1818943" y="755108"/>
            <a:ext cx="5506113" cy="4283964"/>
            <a:chOff x="256032" y="768096"/>
            <a:chExt cx="6675120" cy="5372660"/>
          </a:xfrm>
        </p:grpSpPr>
        <p:sp>
          <p:nvSpPr>
            <p:cNvPr id="14" name="Rectangle 13"/>
            <p:cNvSpPr/>
            <p:nvPr/>
          </p:nvSpPr>
          <p:spPr>
            <a:xfrm>
              <a:off x="256032" y="768096"/>
              <a:ext cx="1463040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3464" y="795528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FFFFFF"/>
                  </a:solidFill>
                  <a:latin typeface="Calibri"/>
                </a:rPr>
                <a:t>Consultor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719072" y="768096"/>
              <a:ext cx="1024128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46504" y="795528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FFFFFF"/>
                  </a:solidFill>
                  <a:latin typeface="Calibri"/>
                </a:rPr>
                <a:t>Oficina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743200" y="768096"/>
              <a:ext cx="530352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70632" y="79552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Capt.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273552" y="768096"/>
              <a:ext cx="530352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00984" y="79552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Excl.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803904" y="768096"/>
              <a:ext cx="877824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31336" y="795528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Hon.Capt.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81728" y="768096"/>
              <a:ext cx="585216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09160" y="795528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Cierres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66944" y="768096"/>
              <a:ext cx="804672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294376" y="795528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Hon.LAE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071616" y="768096"/>
              <a:ext cx="859536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99048" y="795528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Pdte.Cobro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56032" y="1001268"/>
              <a:ext cx="1463040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83464" y="1037844"/>
              <a:ext cx="1417320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Jorge Pedroche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719072" y="1001268"/>
              <a:ext cx="1024128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746504" y="1037844"/>
              <a:ext cx="978408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Madrid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1001268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770632" y="1037844"/>
              <a:ext cx="484631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73552" y="1001268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00984" y="1037844"/>
              <a:ext cx="484631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803904" y="1001268"/>
              <a:ext cx="877824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831336" y="1037844"/>
              <a:ext cx="832103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€10K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681728" y="1001268"/>
              <a:ext cx="58521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09160" y="1037844"/>
              <a:ext cx="539496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266944" y="1001268"/>
              <a:ext cx="80467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294376" y="1037844"/>
              <a:ext cx="758952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€70.673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071616" y="1001268"/>
              <a:ext cx="85953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9048" y="1037844"/>
              <a:ext cx="813815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€47.721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56032" y="1234440"/>
              <a:ext cx="1463040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83464" y="1271016"/>
              <a:ext cx="141732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Eva Pérez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719072" y="1234440"/>
              <a:ext cx="1024128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746504" y="1271016"/>
              <a:ext cx="97840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Madrid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743200" y="1234440"/>
              <a:ext cx="53035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770632" y="1271016"/>
              <a:ext cx="48463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0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273552" y="1234440"/>
              <a:ext cx="53035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00984" y="1271016"/>
              <a:ext cx="48463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0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803904" y="1234440"/>
              <a:ext cx="877824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831336" y="1271016"/>
              <a:ext cx="832103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681728" y="1234440"/>
              <a:ext cx="585216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09160" y="1271016"/>
              <a:ext cx="53949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266944" y="1234440"/>
              <a:ext cx="80467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94376" y="1271016"/>
              <a:ext cx="75895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€37.213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071616" y="1234440"/>
              <a:ext cx="859536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099048" y="1271016"/>
              <a:ext cx="813815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56032" y="1467612"/>
              <a:ext cx="1463040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83464" y="1504188"/>
              <a:ext cx="1417320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 dirty="0">
                  <a:solidFill>
                    <a:srgbClr val="FF0000"/>
                  </a:solidFill>
                  <a:latin typeface="Calibri"/>
                </a:rPr>
                <a:t>Beatriz </a:t>
              </a:r>
              <a:r>
                <a:rPr sz="800" b="0" i="0" dirty="0" err="1">
                  <a:solidFill>
                    <a:srgbClr val="FF0000"/>
                  </a:solidFill>
                  <a:latin typeface="Calibri"/>
                </a:rPr>
                <a:t>Sellés</a:t>
              </a:r>
              <a:endParaRPr sz="800" b="0" i="0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719072" y="1467612"/>
              <a:ext cx="1024128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746504" y="1504188"/>
              <a:ext cx="978408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FF0000"/>
                  </a:solidFill>
                  <a:latin typeface="Calibri"/>
                </a:rPr>
                <a:t>Alicante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743200" y="1467612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770632" y="1504188"/>
              <a:ext cx="484631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5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273552" y="1467612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300984" y="1504188"/>
              <a:ext cx="484631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3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803904" y="1467612"/>
              <a:ext cx="877824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831336" y="1504188"/>
              <a:ext cx="832103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€57K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681728" y="1467612"/>
              <a:ext cx="58521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09160" y="1504188"/>
              <a:ext cx="539496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7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266944" y="1467612"/>
              <a:ext cx="80467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294376" y="1504188"/>
              <a:ext cx="758953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€33.287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071616" y="1467612"/>
              <a:ext cx="85953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099049" y="1504188"/>
              <a:ext cx="813815" cy="270195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€7.313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56032" y="1700784"/>
              <a:ext cx="1463040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83464" y="1737360"/>
              <a:ext cx="141732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Miriam Frutos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719072" y="1700784"/>
              <a:ext cx="1024128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746504" y="1737360"/>
              <a:ext cx="97840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Alicante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743200" y="1700784"/>
              <a:ext cx="53035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770632" y="1737360"/>
              <a:ext cx="48463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10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273552" y="1700784"/>
              <a:ext cx="53035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300984" y="1737360"/>
              <a:ext cx="48463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6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803904" y="1700784"/>
              <a:ext cx="877824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831336" y="1737360"/>
              <a:ext cx="832103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€68K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681728" y="1700784"/>
              <a:ext cx="585216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709160" y="1737360"/>
              <a:ext cx="53949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6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266944" y="1700784"/>
              <a:ext cx="80467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294376" y="1737360"/>
              <a:ext cx="75895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€29.710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071616" y="1700784"/>
              <a:ext cx="859536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099048" y="1737360"/>
              <a:ext cx="813815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€18.702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256032" y="1933956"/>
              <a:ext cx="1463040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83464" y="1970532"/>
              <a:ext cx="1417320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Pablo Jimenez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719072" y="1933956"/>
              <a:ext cx="1024128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746504" y="1970532"/>
              <a:ext cx="978408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Marbella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743200" y="1933956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770632" y="1970532"/>
              <a:ext cx="484631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4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273552" y="1933956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300984" y="1970532"/>
              <a:ext cx="484631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0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3803904" y="1933956"/>
              <a:ext cx="877824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831336" y="1970532"/>
              <a:ext cx="832103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€106K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681728" y="1933956"/>
              <a:ext cx="58521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709160" y="1970532"/>
              <a:ext cx="539496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266944" y="1933956"/>
              <a:ext cx="80467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294376" y="1970532"/>
              <a:ext cx="758952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€24.300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6071616" y="1933956"/>
              <a:ext cx="85953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099048" y="1970532"/>
              <a:ext cx="813815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256032" y="2167128"/>
              <a:ext cx="1463040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83464" y="2203704"/>
              <a:ext cx="141732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Yolanda Cantón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719072" y="2167128"/>
              <a:ext cx="1024128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746504" y="2203704"/>
              <a:ext cx="97840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Marbella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743200" y="2167128"/>
              <a:ext cx="53035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770632" y="2203704"/>
              <a:ext cx="48463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4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273552" y="2167128"/>
              <a:ext cx="53035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300984" y="2203704"/>
              <a:ext cx="48463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3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3803904" y="2167128"/>
              <a:ext cx="877824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831336" y="2203704"/>
              <a:ext cx="832103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€90K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681728" y="2167128"/>
              <a:ext cx="585216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709160" y="2203704"/>
              <a:ext cx="53949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5266944" y="2167128"/>
              <a:ext cx="804672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294376" y="2203704"/>
              <a:ext cx="75895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€22.750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6071616" y="2167128"/>
              <a:ext cx="859536" cy="2331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6099048" y="2203704"/>
              <a:ext cx="813815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256032" y="2400300"/>
              <a:ext cx="1463040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83464" y="2436876"/>
              <a:ext cx="1417320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Elena Barrera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719072" y="2400300"/>
              <a:ext cx="1024128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746504" y="2436876"/>
              <a:ext cx="978408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Castellón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743200" y="2400300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70632" y="2436876"/>
              <a:ext cx="484631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17</a:t>
              </a: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273552" y="2400300"/>
              <a:ext cx="53035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3300984" y="2436876"/>
              <a:ext cx="484631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4</a:t>
              </a: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803904" y="2400300"/>
              <a:ext cx="877824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831336" y="2436876"/>
              <a:ext cx="832103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€81K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681728" y="2400300"/>
              <a:ext cx="58521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4709160" y="2436876"/>
              <a:ext cx="539496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8</a:t>
              </a: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5266944" y="2400300"/>
              <a:ext cx="804672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5294376" y="2436876"/>
              <a:ext cx="758952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€21.082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071616" y="2400300"/>
              <a:ext cx="859536" cy="233172"/>
            </a:xfrm>
            <a:prstGeom prst="rect">
              <a:avLst/>
            </a:prstGeom>
            <a:solidFill>
              <a:srgbClr val="F7F9FB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099048" y="2436876"/>
              <a:ext cx="813815" cy="215444"/>
            </a:xfrm>
            <a:prstGeom prst="rect">
              <a:avLst/>
            </a:prstGeom>
            <a:solidFill>
              <a:srgbClr val="F7F9FB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€21.050</a:t>
              </a: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256032" y="2633472"/>
              <a:ext cx="1463040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283464" y="2670048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Isabel Malax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1719072" y="2633472"/>
              <a:ext cx="1024128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746504" y="2670048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Marbella</a:t>
              </a: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2743200" y="2633472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2770632" y="267004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4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273552" y="2633472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300984" y="267004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803904" y="2633472"/>
              <a:ext cx="877824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831336" y="2670048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€55K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4681728" y="2633472"/>
              <a:ext cx="58521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4709160" y="2670048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5266944" y="2633472"/>
              <a:ext cx="80467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294376" y="2670048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€19.000</a:t>
              </a: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6071616" y="2633472"/>
              <a:ext cx="85953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6099048" y="2670048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€14.610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56032" y="2866644"/>
              <a:ext cx="1463040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283464" y="2903220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Eduardo Cruz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1719072" y="2866644"/>
              <a:ext cx="1024128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1746504" y="2903220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San Sebastián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2743200" y="2866644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2770632" y="2903220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14</a:t>
              </a: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3273552" y="2866644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300984" y="2903220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5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3803904" y="2866644"/>
              <a:ext cx="877824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831336" y="2903220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€133K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4681728" y="2866644"/>
              <a:ext cx="58521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4709160" y="2903220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5266944" y="2866644"/>
              <a:ext cx="80467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5294376" y="2903220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€18.083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6071616" y="2866644"/>
              <a:ext cx="85953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6099048" y="2903220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€44.710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256032" y="3099815"/>
              <a:ext cx="1463040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83464" y="3136391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Fernando Porto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1719072" y="3099815"/>
              <a:ext cx="1024128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746504" y="3136391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Málaga</a:t>
              </a: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2743200" y="3099815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2770632" y="3136391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7</a:t>
              </a: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3273552" y="3099815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3300984" y="3136391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5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3803904" y="3099815"/>
              <a:ext cx="877824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3831336" y="3136391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€290K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681728" y="3099815"/>
              <a:ext cx="58521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4709160" y="3136391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3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5266944" y="3099815"/>
              <a:ext cx="80467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5294376" y="3136391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€16.100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6071616" y="3099815"/>
              <a:ext cx="85953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099048" y="3136391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€13.450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256032" y="3332987"/>
              <a:ext cx="1463040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283464" y="3369563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Cristina Dublang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1719072" y="3332987"/>
              <a:ext cx="1024128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1746504" y="3369563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San Sebastián</a:t>
              </a: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2743200" y="3332987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2770632" y="3369563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 dirty="0">
                  <a:solidFill>
                    <a:srgbClr val="1A1A2E"/>
                  </a:solidFill>
                  <a:latin typeface="Calibri"/>
                </a:rPr>
                <a:t>3</a:t>
              </a:r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3273552" y="3332987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300984" y="3369563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3803904" y="3332987"/>
              <a:ext cx="877824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3831336" y="3369563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€71K</a:t>
              </a:r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4681728" y="3332987"/>
              <a:ext cx="58521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4709160" y="3369563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42</a:t>
              </a: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5266944" y="3332987"/>
              <a:ext cx="80467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5294376" y="3369563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€12.947</a:t>
              </a:r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6071616" y="3332987"/>
              <a:ext cx="85953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6099048" y="3369563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€121.868</a:t>
              </a:r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256032" y="3566160"/>
              <a:ext cx="1463040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283464" y="3602736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Vanessa Garijo</a:t>
              </a:r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719072" y="3566160"/>
              <a:ext cx="1024128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1746504" y="3602736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Marbella</a:t>
              </a:r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2743200" y="3566160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770632" y="3602736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3273552" y="3566160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300984" y="3602736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3803904" y="3566160"/>
              <a:ext cx="877824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3831336" y="3602736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€48K</a:t>
              </a:r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4681728" y="3566160"/>
              <a:ext cx="58521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4709160" y="3602736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5266944" y="3566160"/>
              <a:ext cx="80467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5294376" y="3602736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€8.850</a:t>
              </a:r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071616" y="3566160"/>
              <a:ext cx="85953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6099048" y="3602736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256032" y="3799332"/>
              <a:ext cx="1463040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283464" y="3835908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Ana Francés</a:t>
              </a: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719072" y="3799332"/>
              <a:ext cx="1024128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1746504" y="3835908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Alicante</a:t>
              </a: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743200" y="3799332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2770632" y="383590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9</a:t>
              </a: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3273552" y="3799332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3300984" y="383590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3803904" y="3799332"/>
              <a:ext cx="877824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3831336" y="3835908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€121K</a:t>
              </a:r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4681728" y="3799332"/>
              <a:ext cx="58521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4709160" y="3835908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266944" y="3799332"/>
              <a:ext cx="80467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5294376" y="3835908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€8.575</a:t>
              </a: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6071616" y="3799332"/>
              <a:ext cx="85953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6099048" y="3835908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€4.000</a:t>
              </a: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256032" y="4032504"/>
              <a:ext cx="1463040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283464" y="4069080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Marina Pareja</a:t>
              </a: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1719072" y="4032504"/>
              <a:ext cx="1024128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1746504" y="4069080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Jaén</a:t>
              </a: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2743200" y="4032504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2770632" y="4069080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6</a:t>
              </a: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3273552" y="4032504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3300984" y="4069080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3</a:t>
              </a:r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3803904" y="4032504"/>
              <a:ext cx="877824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3831336" y="4069080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€58K</a:t>
              </a: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4681728" y="4032504"/>
              <a:ext cx="58521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4709160" y="4069080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5266944" y="4032504"/>
              <a:ext cx="80467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5294376" y="4069080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€6.600</a:t>
              </a:r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6071616" y="4032504"/>
              <a:ext cx="85953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6099048" y="4069080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€25.400</a:t>
              </a:r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256032" y="4265676"/>
              <a:ext cx="1463040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283464" y="4302252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Josep Alarma</a:t>
              </a:r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719072" y="4265676"/>
              <a:ext cx="1024128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1746504" y="4302252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Barcelona</a:t>
              </a:r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2743200" y="4265676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2770632" y="4302252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3273552" y="4265676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300984" y="4302252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3803904" y="4265676"/>
              <a:ext cx="877824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3831336" y="4302252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€2K</a:t>
              </a:r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4681728" y="4265676"/>
              <a:ext cx="58521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4709160" y="4302252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5266944" y="4265676"/>
              <a:ext cx="80467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5294376" y="4302252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€6.390</a:t>
              </a:r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6071616" y="4265676"/>
              <a:ext cx="85953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6099048" y="4302252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256032" y="4498848"/>
              <a:ext cx="1463040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283464" y="4535424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Andreina Meri</a:t>
              </a: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1719072" y="4498848"/>
              <a:ext cx="1024128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746504" y="4535424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Valencia</a:t>
              </a: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2743200" y="4498848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2770632" y="4535424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3273552" y="4498848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3300984" y="4535424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3803904" y="4498848"/>
              <a:ext cx="877824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3831336" y="4535424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€18K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4681728" y="4498848"/>
              <a:ext cx="58521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4709160" y="4535424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5266944" y="4498848"/>
              <a:ext cx="80467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5294376" y="4535424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€6.030</a:t>
              </a:r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6071616" y="4498848"/>
              <a:ext cx="85953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6099048" y="4535424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€9.300</a:t>
              </a:r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256032" y="4732020"/>
              <a:ext cx="1463040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283464" y="4768596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Marcela Restrepo</a:t>
              </a:r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1719072" y="4732020"/>
              <a:ext cx="1024128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1746504" y="4768596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Valencia</a:t>
              </a:r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2743200" y="4732020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2770632" y="4768596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3273552" y="4732020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3300984" y="4768596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3803904" y="4732020"/>
              <a:ext cx="877824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831336" y="4768596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€10K</a:t>
              </a:r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4681728" y="4732020"/>
              <a:ext cx="58521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4709160" y="4768596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5266944" y="4732020"/>
              <a:ext cx="80467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5294376" y="4768596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€5.700</a:t>
              </a:r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6071616" y="4732020"/>
              <a:ext cx="85953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6099048" y="4768596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€30.650</a:t>
              </a:r>
            </a:p>
          </p:txBody>
        </p:sp>
        <p:sp>
          <p:nvSpPr>
            <p:cNvPr id="302" name="Rectangle 301"/>
            <p:cNvSpPr/>
            <p:nvPr/>
          </p:nvSpPr>
          <p:spPr>
            <a:xfrm>
              <a:off x="256032" y="4965192"/>
              <a:ext cx="1463040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283464" y="5001768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Ana Zapiain</a:t>
              </a:r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1719072" y="4965192"/>
              <a:ext cx="1024128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1746504" y="5001768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Barcelona</a:t>
              </a:r>
            </a:p>
          </p:txBody>
        </p:sp>
        <p:sp>
          <p:nvSpPr>
            <p:cNvPr id="306" name="Rectangle 305"/>
            <p:cNvSpPr/>
            <p:nvPr/>
          </p:nvSpPr>
          <p:spPr>
            <a:xfrm>
              <a:off x="2743200" y="4965192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2770632" y="500176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9</a:t>
              </a:r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3273552" y="4965192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3300984" y="5001768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3803904" y="4965192"/>
              <a:ext cx="877824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3831336" y="5001768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€160K</a:t>
              </a:r>
            </a:p>
          </p:txBody>
        </p:sp>
        <p:sp>
          <p:nvSpPr>
            <p:cNvPr id="312" name="Rectangle 311"/>
            <p:cNvSpPr/>
            <p:nvPr/>
          </p:nvSpPr>
          <p:spPr>
            <a:xfrm>
              <a:off x="4681728" y="4965192"/>
              <a:ext cx="58521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4709160" y="5001768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5266944" y="4965192"/>
              <a:ext cx="80467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5294376" y="5001768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€5.400</a:t>
              </a:r>
            </a:p>
          </p:txBody>
        </p:sp>
        <p:sp>
          <p:nvSpPr>
            <p:cNvPr id="316" name="Rectangle 315"/>
            <p:cNvSpPr/>
            <p:nvPr/>
          </p:nvSpPr>
          <p:spPr>
            <a:xfrm>
              <a:off x="6071616" y="4965192"/>
              <a:ext cx="85953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6099048" y="5001768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256032" y="5198364"/>
              <a:ext cx="1463040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283464" y="5234940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Maribel Chazarri</a:t>
              </a:r>
            </a:p>
          </p:txBody>
        </p:sp>
        <p:sp>
          <p:nvSpPr>
            <p:cNvPr id="320" name="Rectangle 319"/>
            <p:cNvSpPr/>
            <p:nvPr/>
          </p:nvSpPr>
          <p:spPr>
            <a:xfrm>
              <a:off x="1719072" y="5198364"/>
              <a:ext cx="1024128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1746504" y="5234940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Sevilla</a:t>
              </a:r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2743200" y="5198364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2770632" y="5234940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7</a:t>
              </a:r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3273552" y="5198364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3300984" y="5234940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0</a:t>
              </a:r>
            </a:p>
          </p:txBody>
        </p:sp>
        <p:sp>
          <p:nvSpPr>
            <p:cNvPr id="326" name="Rectangle 325"/>
            <p:cNvSpPr/>
            <p:nvPr/>
          </p:nvSpPr>
          <p:spPr>
            <a:xfrm>
              <a:off x="3803904" y="5198364"/>
              <a:ext cx="877824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3831336" y="5234940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€67K</a:t>
              </a:r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4681728" y="5198364"/>
              <a:ext cx="58521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4709160" y="5234940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330" name="Rectangle 329"/>
            <p:cNvSpPr/>
            <p:nvPr/>
          </p:nvSpPr>
          <p:spPr>
            <a:xfrm>
              <a:off x="5266944" y="5198364"/>
              <a:ext cx="80467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5294376" y="5234940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€3.280</a:t>
              </a:r>
            </a:p>
          </p:txBody>
        </p:sp>
        <p:sp>
          <p:nvSpPr>
            <p:cNvPr id="332" name="Rectangle 331"/>
            <p:cNvSpPr/>
            <p:nvPr/>
          </p:nvSpPr>
          <p:spPr>
            <a:xfrm>
              <a:off x="6071616" y="5198364"/>
              <a:ext cx="85953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6099048" y="5234940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€11.800</a:t>
              </a:r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256032" y="5431536"/>
              <a:ext cx="1463040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283464" y="5468112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Eduardo Guernica</a:t>
              </a:r>
            </a:p>
          </p:txBody>
        </p:sp>
        <p:sp>
          <p:nvSpPr>
            <p:cNvPr id="336" name="Rectangle 335"/>
            <p:cNvSpPr/>
            <p:nvPr/>
          </p:nvSpPr>
          <p:spPr>
            <a:xfrm>
              <a:off x="1719072" y="5431536"/>
              <a:ext cx="1024128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7" name="TextBox 336"/>
            <p:cNvSpPr txBox="1"/>
            <p:nvPr/>
          </p:nvSpPr>
          <p:spPr>
            <a:xfrm>
              <a:off x="1746504" y="5468112"/>
              <a:ext cx="97840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1A1A2E"/>
                  </a:solidFill>
                  <a:latin typeface="Calibri"/>
                </a:rPr>
                <a:t>Málaga</a:t>
              </a:r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2743200" y="5431536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2770632" y="5468112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3</a:t>
              </a:r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3273552" y="5431536"/>
              <a:ext cx="53035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1" name="TextBox 340"/>
            <p:cNvSpPr txBox="1"/>
            <p:nvPr/>
          </p:nvSpPr>
          <p:spPr>
            <a:xfrm>
              <a:off x="3300984" y="5468112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2</a:t>
              </a: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3803904" y="5431536"/>
              <a:ext cx="877824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3" name="TextBox 342"/>
            <p:cNvSpPr txBox="1"/>
            <p:nvPr/>
          </p:nvSpPr>
          <p:spPr>
            <a:xfrm>
              <a:off x="3831336" y="5468112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€24K</a:t>
              </a:r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4681728" y="5431536"/>
              <a:ext cx="58521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5" name="TextBox 344"/>
            <p:cNvSpPr txBox="1"/>
            <p:nvPr/>
          </p:nvSpPr>
          <p:spPr>
            <a:xfrm>
              <a:off x="4709160" y="5468112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1</a:t>
              </a: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5266944" y="5431536"/>
              <a:ext cx="804672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5294376" y="5468112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€985</a:t>
              </a:r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6071616" y="5431536"/>
              <a:ext cx="859536" cy="2331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6099048" y="5468112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1A1A2E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382" name="Rectangle 381"/>
            <p:cNvSpPr/>
            <p:nvPr/>
          </p:nvSpPr>
          <p:spPr>
            <a:xfrm>
              <a:off x="256032" y="5664708"/>
              <a:ext cx="1463040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283464" y="5701284"/>
              <a:ext cx="1417320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FF0000"/>
                  </a:solidFill>
                  <a:latin typeface="Calibri"/>
                </a:rPr>
                <a:t>Giacomo Rota</a:t>
              </a:r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1719072" y="5664708"/>
              <a:ext cx="1024128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1746504" y="5701284"/>
              <a:ext cx="978408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FF0000"/>
                  </a:solidFill>
                  <a:latin typeface="Calibri"/>
                </a:rPr>
                <a:t>Valencia</a:t>
              </a:r>
            </a:p>
          </p:txBody>
        </p:sp>
        <p:sp>
          <p:nvSpPr>
            <p:cNvPr id="386" name="Rectangle 385"/>
            <p:cNvSpPr/>
            <p:nvPr/>
          </p:nvSpPr>
          <p:spPr>
            <a:xfrm>
              <a:off x="2743200" y="5664708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7" name="TextBox 386"/>
            <p:cNvSpPr txBox="1"/>
            <p:nvPr/>
          </p:nvSpPr>
          <p:spPr>
            <a:xfrm>
              <a:off x="2770632" y="5701284"/>
              <a:ext cx="484631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2</a:t>
              </a:r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3273552" y="5664708"/>
              <a:ext cx="53035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9" name="TextBox 388"/>
            <p:cNvSpPr txBox="1"/>
            <p:nvPr/>
          </p:nvSpPr>
          <p:spPr>
            <a:xfrm>
              <a:off x="3300984" y="5701284"/>
              <a:ext cx="484631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1</a:t>
              </a:r>
            </a:p>
          </p:txBody>
        </p:sp>
        <p:sp>
          <p:nvSpPr>
            <p:cNvPr id="390" name="Rectangle 389"/>
            <p:cNvSpPr/>
            <p:nvPr/>
          </p:nvSpPr>
          <p:spPr>
            <a:xfrm>
              <a:off x="3803904" y="5664708"/>
              <a:ext cx="877824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1" name="TextBox 390"/>
            <p:cNvSpPr txBox="1"/>
            <p:nvPr/>
          </p:nvSpPr>
          <p:spPr>
            <a:xfrm>
              <a:off x="3831336" y="5701284"/>
              <a:ext cx="832103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€48K</a:t>
              </a:r>
            </a:p>
          </p:txBody>
        </p:sp>
        <p:sp>
          <p:nvSpPr>
            <p:cNvPr id="392" name="Rectangle 391"/>
            <p:cNvSpPr/>
            <p:nvPr/>
          </p:nvSpPr>
          <p:spPr>
            <a:xfrm>
              <a:off x="4681728" y="5664708"/>
              <a:ext cx="58521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4709160" y="5701284"/>
              <a:ext cx="539496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5266944" y="5664708"/>
              <a:ext cx="804672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5294376" y="5701284"/>
              <a:ext cx="758953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—</a:t>
              </a:r>
            </a:p>
          </p:txBody>
        </p:sp>
        <p:sp>
          <p:nvSpPr>
            <p:cNvPr id="396" name="Rectangle 395"/>
            <p:cNvSpPr/>
            <p:nvPr/>
          </p:nvSpPr>
          <p:spPr>
            <a:xfrm>
              <a:off x="6071616" y="5664708"/>
              <a:ext cx="859536" cy="233172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6099049" y="5701284"/>
              <a:ext cx="813815" cy="270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0000"/>
                  </a:solidFill>
                  <a:latin typeface="Calibri"/>
                </a:rPr>
                <a:t>€28.800</a:t>
              </a:r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256032" y="5897880"/>
              <a:ext cx="1463040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9" name="TextBox 398"/>
            <p:cNvSpPr txBox="1"/>
            <p:nvPr/>
          </p:nvSpPr>
          <p:spPr>
            <a:xfrm>
              <a:off x="295339" y="5925312"/>
              <a:ext cx="141732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 dirty="0">
                  <a:solidFill>
                    <a:srgbClr val="FFFFFF"/>
                  </a:solidFill>
                  <a:latin typeface="Calibri"/>
                </a:rPr>
                <a:t>TOTAL </a:t>
              </a:r>
            </a:p>
          </p:txBody>
        </p:sp>
        <p:sp>
          <p:nvSpPr>
            <p:cNvPr id="400" name="Rectangle 399"/>
            <p:cNvSpPr/>
            <p:nvPr/>
          </p:nvSpPr>
          <p:spPr>
            <a:xfrm>
              <a:off x="1719072" y="5897880"/>
              <a:ext cx="1024128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2743200" y="5897880"/>
              <a:ext cx="530352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2770632" y="5925312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114</a:t>
              </a:r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3273552" y="5897880"/>
              <a:ext cx="530352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3300984" y="5925312"/>
              <a:ext cx="4846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47</a:t>
              </a:r>
            </a:p>
          </p:txBody>
        </p:sp>
        <p:sp>
          <p:nvSpPr>
            <p:cNvPr id="406" name="Rectangle 405"/>
            <p:cNvSpPr/>
            <p:nvPr/>
          </p:nvSpPr>
          <p:spPr>
            <a:xfrm>
              <a:off x="3803904" y="5897880"/>
              <a:ext cx="877824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3831336" y="5925312"/>
              <a:ext cx="8321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€1,53M</a:t>
              </a: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4681728" y="5897880"/>
              <a:ext cx="585216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4709160" y="5925312"/>
              <a:ext cx="5394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90</a:t>
              </a:r>
            </a:p>
          </p:txBody>
        </p:sp>
        <p:sp>
          <p:nvSpPr>
            <p:cNvPr id="410" name="Rectangle 409"/>
            <p:cNvSpPr/>
            <p:nvPr/>
          </p:nvSpPr>
          <p:spPr>
            <a:xfrm>
              <a:off x="5266944" y="5897880"/>
              <a:ext cx="804672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11" name="TextBox 410"/>
            <p:cNvSpPr txBox="1"/>
            <p:nvPr/>
          </p:nvSpPr>
          <p:spPr>
            <a:xfrm>
              <a:off x="5294376" y="5925312"/>
              <a:ext cx="75895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€357K</a:t>
              </a:r>
            </a:p>
          </p:txBody>
        </p:sp>
        <p:sp>
          <p:nvSpPr>
            <p:cNvPr id="412" name="Rectangle 411"/>
            <p:cNvSpPr/>
            <p:nvPr/>
          </p:nvSpPr>
          <p:spPr>
            <a:xfrm>
              <a:off x="6071616" y="5897880"/>
              <a:ext cx="859536" cy="233172"/>
            </a:xfrm>
            <a:prstGeom prst="rect">
              <a:avLst/>
            </a:prstGeom>
            <a:solidFill>
              <a:srgbClr val="1C2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6099048" y="5925312"/>
              <a:ext cx="8138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€399K</a:t>
              </a:r>
            </a:p>
          </p:txBody>
        </p:sp>
      </p:grpSp>
      <p:sp>
        <p:nvSpPr>
          <p:cNvPr id="415" name="CuadroTexto 414">
            <a:extLst>
              <a:ext uri="{FF2B5EF4-FFF2-40B4-BE49-F238E27FC236}">
                <a16:creationId xmlns:a16="http://schemas.microsoft.com/office/drawing/2014/main" id="{1F3D001C-05D1-5FD1-7F2D-7D21987953F6}"/>
              </a:ext>
            </a:extLst>
          </p:cNvPr>
          <p:cNvSpPr txBox="1"/>
          <p:nvPr/>
        </p:nvSpPr>
        <p:spPr>
          <a:xfrm>
            <a:off x="7196447" y="6258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19" name="TextBox 8">
            <a:extLst>
              <a:ext uri="{FF2B5EF4-FFF2-40B4-BE49-F238E27FC236}">
                <a16:creationId xmlns:a16="http://schemas.microsoft.com/office/drawing/2014/main" id="{E3723F03-61A8-9459-6CAC-E63DBB88AFBE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420" name="Imagen 419" descr="Texto&#10;&#10;Descripción generada automáticamente">
            <a:extLst>
              <a:ext uri="{FF2B5EF4-FFF2-40B4-BE49-F238E27FC236}">
                <a16:creationId xmlns:a16="http://schemas.microsoft.com/office/drawing/2014/main" id="{8422520D-0D5C-D299-6331-28CBB2B0F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RANKING DE RENDIMIENTO Q1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38" y="725064"/>
            <a:ext cx="8173657" cy="32004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1947" y="3930843"/>
            <a:ext cx="164592" cy="12801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6295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1A1A2E"/>
                </a:solidFill>
                <a:latin typeface="Calibri"/>
              </a:rPr>
              <a:t>Alicante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3555" y="3930843"/>
            <a:ext cx="164592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17903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  <a:latin typeface="Calibri"/>
              </a:rPr>
              <a:t>Barcelona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5162" y="3930843"/>
            <a:ext cx="164592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9511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  <a:latin typeface="Calibri"/>
              </a:rPr>
              <a:t>Castellón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6771" y="3930843"/>
            <a:ext cx="164592" cy="12801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1119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  <a:latin typeface="Calibri"/>
              </a:rPr>
              <a:t>Jaén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8379" y="3930843"/>
            <a:ext cx="164592" cy="1280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12727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  <a:latin typeface="Calibri"/>
              </a:rPr>
              <a:t>Madrid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9987" y="3930843"/>
            <a:ext cx="164592" cy="128016"/>
          </a:xfrm>
          <a:prstGeom prst="rect">
            <a:avLst/>
          </a:prstGeom>
          <a:solidFill>
            <a:srgbClr val="1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4335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  <a:latin typeface="Calibri"/>
              </a:rPr>
              <a:t>Málaga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594" y="3930843"/>
            <a:ext cx="164592" cy="128016"/>
          </a:xfrm>
          <a:prstGeom prst="rect">
            <a:avLst/>
          </a:prstGeom>
          <a:solidFill>
            <a:srgbClr val="B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5942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  <a:latin typeface="Calibri"/>
              </a:rPr>
              <a:t>Marbella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3202" y="3930843"/>
            <a:ext cx="164592" cy="12801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07550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1A1A2E"/>
                </a:solidFill>
                <a:latin typeface="Calibri"/>
              </a:rPr>
              <a:t>San Sebastián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7696" y="3930843"/>
            <a:ext cx="16459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2043" y="3930843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1A1A2E"/>
                </a:solidFill>
                <a:latin typeface="Calibri"/>
              </a:rPr>
              <a:t>Valencia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4215384"/>
            <a:ext cx="8631936" cy="873252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6032" y="4215384"/>
            <a:ext cx="100584" cy="8732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4242816"/>
            <a:ext cx="8449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C9A84C"/>
                </a:solidFill>
                <a:latin typeface="Calibri"/>
              </a:rPr>
              <a:t>🏅 DESTACADOS Q1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443984"/>
            <a:ext cx="5943600" cy="5715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50" dirty="0">
                <a:solidFill>
                  <a:srgbClr val="FFFFFF"/>
                </a:solidFill>
                <a:latin typeface="Calibri"/>
              </a:rPr>
              <a:t>Elena Barrera (Castellón)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lidera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captaciones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(17). </a:t>
            </a:r>
            <a:endParaRPr lang="es-ES" sz="1050" dirty="0">
              <a:solidFill>
                <a:srgbClr val="FFFFFF"/>
              </a:solidFill>
              <a:latin typeface="Calibri"/>
            </a:endParaRPr>
          </a:p>
          <a:p>
            <a:r>
              <a:rPr sz="1050" dirty="0">
                <a:solidFill>
                  <a:srgbClr val="FFFFFF"/>
                </a:solidFill>
                <a:latin typeface="Calibri"/>
              </a:rPr>
              <a:t>J.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Pedroche</a:t>
            </a:r>
            <a:r>
              <a:rPr sz="1050" dirty="0">
                <a:solidFill>
                  <a:srgbClr val="FFFFFF"/>
                </a:solidFill>
                <a:latin typeface="Calibri"/>
              </a:rPr>
              <a:t>/E. Pérez (Madrid)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tienen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050" dirty="0">
                <a:solidFill>
                  <a:srgbClr val="FFFFFF"/>
                </a:solidFill>
                <a:latin typeface="Calibri"/>
              </a:rPr>
              <a:t>los mayores honorarios LAE</a:t>
            </a:r>
          </a:p>
          <a:p>
            <a:r>
              <a:rPr sz="1050" dirty="0">
                <a:solidFill>
                  <a:srgbClr val="FFFFFF"/>
                </a:solidFill>
                <a:latin typeface="Calibri"/>
              </a:rPr>
              <a:t>Miriam Frutos (Alicante) </a:t>
            </a:r>
            <a:r>
              <a:rPr lang="es-ES" sz="1050" dirty="0">
                <a:solidFill>
                  <a:srgbClr val="FFFFFF"/>
                </a:solidFill>
                <a:latin typeface="Calibri"/>
              </a:rPr>
              <a:t>es </a:t>
            </a:r>
            <a:r>
              <a:rPr sz="1050" dirty="0">
                <a:solidFill>
                  <a:srgbClr val="FFFFFF"/>
                </a:solidFill>
                <a:latin typeface="Calibri"/>
              </a:rPr>
              <a:t>la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más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consistente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captaciones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050" dirty="0">
                <a:solidFill>
                  <a:srgbClr val="FFFFFF"/>
                </a:solidFill>
                <a:latin typeface="Calibri"/>
              </a:rPr>
              <a:t>y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conversión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a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cierre</a:t>
            </a:r>
            <a:r>
              <a:rPr lang="es-ES" sz="1050" dirty="0">
                <a:solidFill>
                  <a:srgbClr val="FFFFFF"/>
                </a:solidFill>
                <a:latin typeface="Calibri"/>
              </a:rPr>
              <a:t>.</a:t>
            </a:r>
            <a:endParaRPr sz="105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39AD8509-315C-95D5-A273-73093495E092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38" name="Imagen 37" descr="Texto&#10;&#10;Descripción generada automáticamente">
            <a:extLst>
              <a:ext uri="{FF2B5EF4-FFF2-40B4-BE49-F238E27FC236}">
                <a16:creationId xmlns:a16="http://schemas.microsoft.com/office/drawing/2014/main" id="{48F103E3-203D-B961-CB3D-D47D68D9A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PENDIENTE DE COBRO · Q1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91440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</a:t>
            </a:r>
            <a:r>
              <a:rPr lang="es-ES" sz="700" b="0" i="0" dirty="0">
                <a:solidFill>
                  <a:srgbClr val="8896B3"/>
                </a:solidFill>
                <a:latin typeface="Calibri"/>
              </a:rPr>
              <a:t> · </a:t>
            </a:r>
            <a:r>
              <a:rPr sz="700" b="0" i="0" dirty="0">
                <a:solidFill>
                  <a:srgbClr val="8896B3"/>
                </a:solidFill>
                <a:latin typeface="Calibri"/>
              </a:rPr>
              <a:t>Informe Q1 2026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" y="749808"/>
            <a:ext cx="54864" cy="896112"/>
          </a:xfrm>
          <a:prstGeom prst="rect">
            <a:avLst/>
          </a:prstGeom>
          <a:solidFill>
            <a:srgbClr val="B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TOTAL PENDIENTE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€399K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A cobrar o materializar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6604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46604" y="749808"/>
            <a:ext cx="54864" cy="89611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6332" y="822959"/>
            <a:ext cx="1920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896B3"/>
                </a:solidFill>
                <a:latin typeface="Calibri"/>
              </a:rPr>
              <a:t>MAYOR </a:t>
            </a:r>
            <a:r>
              <a:rPr lang="es-ES" sz="800" b="0" i="0" dirty="0">
                <a:solidFill>
                  <a:srgbClr val="8896B3"/>
                </a:solidFill>
                <a:latin typeface="Calibri"/>
              </a:rPr>
              <a:t>IMPORTE</a:t>
            </a:r>
            <a:endParaRPr sz="800" b="0" i="0" dirty="0">
              <a:solidFill>
                <a:srgbClr val="8896B3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6332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San Seb.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6332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€166.578 pendientes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749808"/>
            <a:ext cx="54864" cy="896112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73168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SEGUNDA POSICIÓN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Valencia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€68.750 pendientes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0276" y="749808"/>
            <a:ext cx="2066543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80276" y="749808"/>
            <a:ext cx="54864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90004" y="822959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SOBRE HON. LAE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0004" y="1005840"/>
            <a:ext cx="19202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112%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0004" y="1426464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6B3"/>
                </a:solidFill>
                <a:latin typeface="Calibri"/>
              </a:rPr>
              <a:t>Supera los honorarios LAE Q1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" y="1755648"/>
            <a:ext cx="4505706" cy="300380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919472" y="1755648"/>
            <a:ext cx="14630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4956048" y="1792224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Oficina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1755648"/>
            <a:ext cx="128016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6419088" y="1792224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Pdte. Cobro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2671" y="1755648"/>
            <a:ext cx="118872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7699247" y="1792224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Calibri"/>
              </a:rPr>
              <a:t>% </a:t>
            </a:r>
            <a:r>
              <a:rPr sz="1050" b="1" i="0" dirty="0" err="1">
                <a:solidFill>
                  <a:srgbClr val="FFFFFF"/>
                </a:solidFill>
                <a:latin typeface="Calibri"/>
              </a:rPr>
              <a:t>sobre</a:t>
            </a:r>
            <a:r>
              <a:rPr sz="10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050" b="1" i="0" dirty="0" err="1">
                <a:solidFill>
                  <a:srgbClr val="FFFFFF"/>
                </a:solidFill>
                <a:latin typeface="Calibri"/>
              </a:rPr>
              <a:t>Hon</a:t>
            </a:r>
            <a:r>
              <a:rPr lang="es-ES" sz="1050" b="1" i="0" dirty="0">
                <a:solidFill>
                  <a:srgbClr val="FFFFFF"/>
                </a:solidFill>
                <a:latin typeface="Calibri"/>
              </a:rPr>
              <a:t>.</a:t>
            </a:r>
            <a:r>
              <a:rPr sz="1050" b="1" i="0" dirty="0">
                <a:solidFill>
                  <a:srgbClr val="FFFFFF"/>
                </a:solidFill>
                <a:latin typeface="Calibri"/>
              </a:rPr>
              <a:t>LAE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19472" y="2029967"/>
            <a:ext cx="14630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4956048" y="2075687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San Sebastián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2029967"/>
            <a:ext cx="12801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/>
          <p:cNvSpPr txBox="1"/>
          <p:nvPr/>
        </p:nvSpPr>
        <p:spPr>
          <a:xfrm>
            <a:off x="6419088" y="2075687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45309"/>
                </a:solidFill>
                <a:latin typeface="Calibri"/>
              </a:rPr>
              <a:t>€166.578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62671" y="2029967"/>
            <a:ext cx="11887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7699247" y="2075687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536%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19472" y="2304287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4956048" y="2350007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Valencia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82512" y="2304287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6419088" y="2350007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45309"/>
                </a:solidFill>
                <a:latin typeface="Calibri"/>
              </a:rPr>
              <a:t>€68.750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62671" y="2304287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TextBox 51"/>
          <p:cNvSpPr txBox="1"/>
          <p:nvPr/>
        </p:nvSpPr>
        <p:spPr>
          <a:xfrm>
            <a:off x="7699247" y="2350007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586%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19472" y="2578608"/>
            <a:ext cx="14630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/>
          <p:cNvSpPr txBox="1"/>
          <p:nvPr/>
        </p:nvSpPr>
        <p:spPr>
          <a:xfrm>
            <a:off x="4956048" y="2624327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Madrid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82512" y="2578608"/>
            <a:ext cx="12801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55"/>
          <p:cNvSpPr txBox="1"/>
          <p:nvPr/>
        </p:nvSpPr>
        <p:spPr>
          <a:xfrm>
            <a:off x="6419088" y="2624327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€47.721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62671" y="2578608"/>
            <a:ext cx="11887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/>
          <p:cNvSpPr txBox="1"/>
          <p:nvPr/>
        </p:nvSpPr>
        <p:spPr>
          <a:xfrm>
            <a:off x="7699247" y="2624327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44%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19472" y="2852927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4956048" y="2898647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Alicante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82512" y="2852927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2" name="TextBox 61"/>
          <p:cNvSpPr txBox="1"/>
          <p:nvPr/>
        </p:nvSpPr>
        <p:spPr>
          <a:xfrm>
            <a:off x="6419088" y="2898647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€30.015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62671" y="2852927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63"/>
          <p:cNvSpPr txBox="1"/>
          <p:nvPr/>
        </p:nvSpPr>
        <p:spPr>
          <a:xfrm>
            <a:off x="7699247" y="2898647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41%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19472" y="3127248"/>
            <a:ext cx="14630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TextBox 65"/>
          <p:cNvSpPr txBox="1"/>
          <p:nvPr/>
        </p:nvSpPr>
        <p:spPr>
          <a:xfrm>
            <a:off x="4956048" y="3172968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Jaén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82512" y="3127248"/>
            <a:ext cx="12801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TextBox 67"/>
          <p:cNvSpPr txBox="1"/>
          <p:nvPr/>
        </p:nvSpPr>
        <p:spPr>
          <a:xfrm>
            <a:off x="6419088" y="3172968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€25.400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62671" y="3127248"/>
            <a:ext cx="11887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0" name="TextBox 69"/>
          <p:cNvSpPr txBox="1"/>
          <p:nvPr/>
        </p:nvSpPr>
        <p:spPr>
          <a:xfrm>
            <a:off x="7699247" y="3172968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384%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19472" y="340156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/>
          <p:cNvSpPr txBox="1"/>
          <p:nvPr/>
        </p:nvSpPr>
        <p:spPr>
          <a:xfrm>
            <a:off x="4956048" y="3447287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Castellón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82512" y="3401568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TextBox 73"/>
          <p:cNvSpPr txBox="1"/>
          <p:nvPr/>
        </p:nvSpPr>
        <p:spPr>
          <a:xfrm>
            <a:off x="6419088" y="3447287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€21.050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62671" y="340156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TextBox 75"/>
          <p:cNvSpPr txBox="1"/>
          <p:nvPr/>
        </p:nvSpPr>
        <p:spPr>
          <a:xfrm>
            <a:off x="7699247" y="3447287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99%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19472" y="3675887"/>
            <a:ext cx="14630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/>
          <p:cNvSpPr txBox="1"/>
          <p:nvPr/>
        </p:nvSpPr>
        <p:spPr>
          <a:xfrm>
            <a:off x="4956048" y="3721607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Marbella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82512" y="3675887"/>
            <a:ext cx="12801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TextBox 79"/>
          <p:cNvSpPr txBox="1"/>
          <p:nvPr/>
        </p:nvSpPr>
        <p:spPr>
          <a:xfrm>
            <a:off x="6419088" y="3721607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€14.610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62671" y="3675887"/>
            <a:ext cx="11887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2" name="TextBox 81"/>
          <p:cNvSpPr txBox="1"/>
          <p:nvPr/>
        </p:nvSpPr>
        <p:spPr>
          <a:xfrm>
            <a:off x="7699247" y="3721607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19%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95020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4" name="TextBox 83"/>
          <p:cNvSpPr txBox="1"/>
          <p:nvPr/>
        </p:nvSpPr>
        <p:spPr>
          <a:xfrm>
            <a:off x="4956048" y="3995928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Málaga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82512" y="3950208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6" name="TextBox 85"/>
          <p:cNvSpPr txBox="1"/>
          <p:nvPr/>
        </p:nvSpPr>
        <p:spPr>
          <a:xfrm>
            <a:off x="6419088" y="3995928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€13.450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62671" y="395020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TextBox 87"/>
          <p:cNvSpPr txBox="1"/>
          <p:nvPr/>
        </p:nvSpPr>
        <p:spPr>
          <a:xfrm>
            <a:off x="7699247" y="3995928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78%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19472" y="4224527"/>
            <a:ext cx="146304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0" name="TextBox 89"/>
          <p:cNvSpPr txBox="1"/>
          <p:nvPr/>
        </p:nvSpPr>
        <p:spPr>
          <a:xfrm>
            <a:off x="4956048" y="4270247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Sevilla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82512" y="4224527"/>
            <a:ext cx="12801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2" name="TextBox 91"/>
          <p:cNvSpPr txBox="1"/>
          <p:nvPr/>
        </p:nvSpPr>
        <p:spPr>
          <a:xfrm>
            <a:off x="6419088" y="4270247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€11.800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62671" y="4224527"/>
            <a:ext cx="118872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4" name="TextBox 93"/>
          <p:cNvSpPr txBox="1"/>
          <p:nvPr/>
        </p:nvSpPr>
        <p:spPr>
          <a:xfrm>
            <a:off x="7699247" y="4270247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359%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19472" y="4517136"/>
            <a:ext cx="146304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" name="TextBox 107"/>
          <p:cNvSpPr txBox="1"/>
          <p:nvPr/>
        </p:nvSpPr>
        <p:spPr>
          <a:xfrm>
            <a:off x="4956048" y="4553712"/>
            <a:ext cx="14081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82512" y="4517136"/>
            <a:ext cx="128016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0" name="TextBox 109"/>
          <p:cNvSpPr txBox="1"/>
          <p:nvPr/>
        </p:nvSpPr>
        <p:spPr>
          <a:xfrm>
            <a:off x="6419088" y="4553712"/>
            <a:ext cx="12252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€399.374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62671" y="4517136"/>
            <a:ext cx="1188720" cy="2743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" name="TextBox 111"/>
          <p:cNvSpPr txBox="1"/>
          <p:nvPr/>
        </p:nvSpPr>
        <p:spPr>
          <a:xfrm>
            <a:off x="7699247" y="4553712"/>
            <a:ext cx="1133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112%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37744" y="4773168"/>
            <a:ext cx="4389120" cy="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37744" y="4773168"/>
            <a:ext cx="54864" cy="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65760" y="5102352"/>
            <a:ext cx="4206240" cy="0"/>
          </a:xfrm>
          <a:prstGeom prst="rect">
            <a:avLst/>
          </a:prstGeom>
          <a:noFill/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17" name="TextBox 12">
            <a:extLst>
              <a:ext uri="{FF2B5EF4-FFF2-40B4-BE49-F238E27FC236}">
                <a16:creationId xmlns:a16="http://schemas.microsoft.com/office/drawing/2014/main" id="{626C2705-5887-1283-DAD7-123C126F1CFE}"/>
              </a:ext>
            </a:extLst>
          </p:cNvPr>
          <p:cNvSpPr txBox="1"/>
          <p:nvPr/>
        </p:nvSpPr>
        <p:spPr>
          <a:xfrm>
            <a:off x="7498079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 dirty="0" err="1">
                <a:solidFill>
                  <a:srgbClr val="C9A84C"/>
                </a:solidFill>
                <a:latin typeface="Calibri"/>
              </a:rPr>
              <a:t>www.laehomes.com</a:t>
            </a:r>
            <a:endParaRPr sz="700" b="0" i="0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19" name="TextBox 8">
            <a:extLst>
              <a:ext uri="{FF2B5EF4-FFF2-40B4-BE49-F238E27FC236}">
                <a16:creationId xmlns:a16="http://schemas.microsoft.com/office/drawing/2014/main" id="{EB0B6883-BFF2-C377-A00C-109AA95224E4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20" name="Imagen 119" descr="Texto&#10;&#10;Descripción generada automáticamente">
            <a:extLst>
              <a:ext uri="{FF2B5EF4-FFF2-40B4-BE49-F238E27FC236}">
                <a16:creationId xmlns:a16="http://schemas.microsoft.com/office/drawing/2014/main" id="{8168FCF3-1A7E-FCE4-CC97-7F6125373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7659-B0D5-52CA-729C-58FE9FA2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4D5AE7-3CCE-AAC7-BF0E-17A09527602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59F84-06D5-3642-F6F0-A808333EFA2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36C660-D11A-F408-773C-809FCE2B3715}"/>
              </a:ext>
            </a:extLst>
          </p:cNvPr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34227-AC5E-0392-3728-BEEFB1976766}"/>
              </a:ext>
            </a:extLst>
          </p:cNvPr>
          <p:cNvSpPr txBox="1"/>
          <p:nvPr/>
        </p:nvSpPr>
        <p:spPr>
          <a:xfrm>
            <a:off x="256032" y="246888"/>
            <a:ext cx="713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600" b="1" dirty="0">
                <a:solidFill>
                  <a:srgbClr val="FFFFFF"/>
                </a:solidFill>
                <a:latin typeface="Calibri"/>
              </a:rPr>
              <a:t>REESTRUCTURACIÓN OPERATIVA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· Q1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673ACA-8380-A763-9BB9-731A01610A84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B9B00-FAEA-9914-8E64-5D4705539400}"/>
              </a:ext>
            </a:extLst>
          </p:cNvPr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</a:t>
            </a:r>
            <a:r>
              <a:rPr lang="es-ES" sz="700" b="0" i="0" dirty="0">
                <a:solidFill>
                  <a:srgbClr val="8896B3"/>
                </a:solidFill>
                <a:latin typeface="Calibri"/>
              </a:rPr>
              <a:t> ·</a:t>
            </a:r>
            <a:r>
              <a:rPr sz="700" b="0" i="0" dirty="0">
                <a:solidFill>
                  <a:srgbClr val="8896B3"/>
                </a:solidFill>
                <a:latin typeface="Calibri"/>
              </a:rPr>
              <a:t> Informe Q1 2026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9DDE7F0-B0C7-7D1F-FDDE-FB2448D138BA}"/>
              </a:ext>
            </a:extLst>
          </p:cNvPr>
          <p:cNvSpPr txBox="1"/>
          <p:nvPr/>
        </p:nvSpPr>
        <p:spPr>
          <a:xfrm>
            <a:off x="365760" y="5102352"/>
            <a:ext cx="4206240" cy="0"/>
          </a:xfrm>
          <a:prstGeom prst="rect">
            <a:avLst/>
          </a:prstGeom>
          <a:noFill/>
        </p:spPr>
        <p:txBody>
          <a:bodyPr wrap="none">
            <a:normAutofit fontScale="25000" lnSpcReduction="20000"/>
          </a:bodyPr>
          <a:lstStyle/>
          <a:p>
            <a:endParaRPr/>
          </a:p>
        </p:txBody>
      </p:sp>
      <p:sp>
        <p:nvSpPr>
          <p:cNvPr id="117" name="TextBox 12">
            <a:extLst>
              <a:ext uri="{FF2B5EF4-FFF2-40B4-BE49-F238E27FC236}">
                <a16:creationId xmlns:a16="http://schemas.microsoft.com/office/drawing/2014/main" id="{EE206313-D427-A87F-ECE0-8E0926AB9F48}"/>
              </a:ext>
            </a:extLst>
          </p:cNvPr>
          <p:cNvSpPr txBox="1"/>
          <p:nvPr/>
        </p:nvSpPr>
        <p:spPr>
          <a:xfrm>
            <a:off x="7498079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 dirty="0" err="1">
                <a:solidFill>
                  <a:srgbClr val="C9A84C"/>
                </a:solidFill>
                <a:latin typeface="Calibri"/>
              </a:rPr>
              <a:t>www.laehomes.com</a:t>
            </a:r>
            <a:endParaRPr sz="700" b="0" i="0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19" name="TextBox 8">
            <a:extLst>
              <a:ext uri="{FF2B5EF4-FFF2-40B4-BE49-F238E27FC236}">
                <a16:creationId xmlns:a16="http://schemas.microsoft.com/office/drawing/2014/main" id="{BAFC047F-9C85-3163-2011-94F03D3B18FC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120" name="Imagen 119" descr="Texto&#10;&#10;Descripción generada automáticamente">
            <a:extLst>
              <a:ext uri="{FF2B5EF4-FFF2-40B4-BE49-F238E27FC236}">
                <a16:creationId xmlns:a16="http://schemas.microsoft.com/office/drawing/2014/main" id="{B3070CE0-F96F-A19F-BC1D-A7818AD26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  <p:sp>
        <p:nvSpPr>
          <p:cNvPr id="96" name="Rectangle 28">
            <a:extLst>
              <a:ext uri="{FF2B5EF4-FFF2-40B4-BE49-F238E27FC236}">
                <a16:creationId xmlns:a16="http://schemas.microsoft.com/office/drawing/2014/main" id="{4A903249-5675-D9EB-7511-B38EDF42D80A}"/>
              </a:ext>
            </a:extLst>
          </p:cNvPr>
          <p:cNvSpPr/>
          <p:nvPr/>
        </p:nvSpPr>
        <p:spPr>
          <a:xfrm>
            <a:off x="6490101" y="1060704"/>
            <a:ext cx="1474323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29">
            <a:extLst>
              <a:ext uri="{FF2B5EF4-FFF2-40B4-BE49-F238E27FC236}">
                <a16:creationId xmlns:a16="http://schemas.microsoft.com/office/drawing/2014/main" id="{AA35D7F4-CF96-DEE8-7D53-640A25201A31}"/>
              </a:ext>
            </a:extLst>
          </p:cNvPr>
          <p:cNvSpPr/>
          <p:nvPr/>
        </p:nvSpPr>
        <p:spPr>
          <a:xfrm>
            <a:off x="6490101" y="1060704"/>
            <a:ext cx="61824" cy="307777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31">
            <a:extLst>
              <a:ext uri="{FF2B5EF4-FFF2-40B4-BE49-F238E27FC236}">
                <a16:creationId xmlns:a16="http://schemas.microsoft.com/office/drawing/2014/main" id="{4EDAF2C3-CFED-9BDB-18B9-FC3EC0BBCA62}"/>
              </a:ext>
            </a:extLst>
          </p:cNvPr>
          <p:cNvSpPr txBox="1"/>
          <p:nvPr/>
        </p:nvSpPr>
        <p:spPr>
          <a:xfrm>
            <a:off x="6599829" y="1088136"/>
            <a:ext cx="19202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1" dirty="0">
                <a:solidFill>
                  <a:srgbClr val="1A1A2E"/>
                </a:solidFill>
                <a:latin typeface="Calibri"/>
              </a:rPr>
              <a:t>Consultores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01" name="Rectangle 28">
            <a:extLst>
              <a:ext uri="{FF2B5EF4-FFF2-40B4-BE49-F238E27FC236}">
                <a16:creationId xmlns:a16="http://schemas.microsoft.com/office/drawing/2014/main" id="{ED0A0D07-AB91-81D0-5FB9-F7D12D14749B}"/>
              </a:ext>
            </a:extLst>
          </p:cNvPr>
          <p:cNvSpPr/>
          <p:nvPr/>
        </p:nvSpPr>
        <p:spPr>
          <a:xfrm>
            <a:off x="2494173" y="1060704"/>
            <a:ext cx="1474323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29">
            <a:extLst>
              <a:ext uri="{FF2B5EF4-FFF2-40B4-BE49-F238E27FC236}">
                <a16:creationId xmlns:a16="http://schemas.microsoft.com/office/drawing/2014/main" id="{F7A79E98-4163-FE8C-24EC-1A44A717ED20}"/>
              </a:ext>
            </a:extLst>
          </p:cNvPr>
          <p:cNvSpPr/>
          <p:nvPr/>
        </p:nvSpPr>
        <p:spPr>
          <a:xfrm>
            <a:off x="2494173" y="1060704"/>
            <a:ext cx="61824" cy="307777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31">
            <a:extLst>
              <a:ext uri="{FF2B5EF4-FFF2-40B4-BE49-F238E27FC236}">
                <a16:creationId xmlns:a16="http://schemas.microsoft.com/office/drawing/2014/main" id="{337F02B7-713A-DA5A-8E09-367A4DCA3E39}"/>
              </a:ext>
            </a:extLst>
          </p:cNvPr>
          <p:cNvSpPr txBox="1"/>
          <p:nvPr/>
        </p:nvSpPr>
        <p:spPr>
          <a:xfrm>
            <a:off x="2603901" y="1088136"/>
            <a:ext cx="1920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400" b="1" i="0" dirty="0">
                <a:solidFill>
                  <a:srgbClr val="1A1A2E"/>
                </a:solidFill>
                <a:latin typeface="Calibri"/>
              </a:rPr>
              <a:t>Instalaciones</a:t>
            </a:r>
            <a:endParaRPr sz="1400" b="1" i="0" dirty="0">
              <a:solidFill>
                <a:srgbClr val="1A1A2E"/>
              </a:solidFill>
              <a:latin typeface="Calibri"/>
            </a:endParaRPr>
          </a:p>
        </p:txBody>
      </p:sp>
      <p:graphicFrame>
        <p:nvGraphicFramePr>
          <p:cNvPr id="115" name="Tabla 114">
            <a:extLst>
              <a:ext uri="{FF2B5EF4-FFF2-40B4-BE49-F238E27FC236}">
                <a16:creationId xmlns:a16="http://schemas.microsoft.com/office/drawing/2014/main" id="{3F4E4131-257A-E6FC-CC0B-67798F29D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343293"/>
              </p:ext>
            </p:extLst>
          </p:nvPr>
        </p:nvGraphicFramePr>
        <p:xfrm>
          <a:off x="365760" y="1565826"/>
          <a:ext cx="8229599" cy="1879260"/>
        </p:xfrm>
        <a:graphic>
          <a:graphicData uri="http://schemas.openxmlformats.org/drawingml/2006/table">
            <a:tbl>
              <a:tblPr/>
              <a:tblGrid>
                <a:gridCol w="939407">
                  <a:extLst>
                    <a:ext uri="{9D8B030D-6E8A-4147-A177-3AD203B41FA5}">
                      <a16:colId xmlns:a16="http://schemas.microsoft.com/office/drawing/2014/main" val="1350148156"/>
                    </a:ext>
                  </a:extLst>
                </a:gridCol>
                <a:gridCol w="798496">
                  <a:extLst>
                    <a:ext uri="{9D8B030D-6E8A-4147-A177-3AD203B41FA5}">
                      <a16:colId xmlns:a16="http://schemas.microsoft.com/office/drawing/2014/main" val="4265430707"/>
                    </a:ext>
                  </a:extLst>
                </a:gridCol>
                <a:gridCol w="829810">
                  <a:extLst>
                    <a:ext uri="{9D8B030D-6E8A-4147-A177-3AD203B41FA5}">
                      <a16:colId xmlns:a16="http://schemas.microsoft.com/office/drawing/2014/main" val="3211084575"/>
                    </a:ext>
                  </a:extLst>
                </a:gridCol>
                <a:gridCol w="735869">
                  <a:extLst>
                    <a:ext uri="{9D8B030D-6E8A-4147-A177-3AD203B41FA5}">
                      <a16:colId xmlns:a16="http://schemas.microsoft.com/office/drawing/2014/main" val="2651968478"/>
                    </a:ext>
                  </a:extLst>
                </a:gridCol>
                <a:gridCol w="868952">
                  <a:extLst>
                    <a:ext uri="{9D8B030D-6E8A-4147-A177-3AD203B41FA5}">
                      <a16:colId xmlns:a16="http://schemas.microsoft.com/office/drawing/2014/main" val="73511715"/>
                    </a:ext>
                  </a:extLst>
                </a:gridCol>
                <a:gridCol w="933536">
                  <a:extLst>
                    <a:ext uri="{9D8B030D-6E8A-4147-A177-3AD203B41FA5}">
                      <a16:colId xmlns:a16="http://schemas.microsoft.com/office/drawing/2014/main" val="1800908494"/>
                    </a:ext>
                  </a:extLst>
                </a:gridCol>
                <a:gridCol w="407076">
                  <a:extLst>
                    <a:ext uri="{9D8B030D-6E8A-4147-A177-3AD203B41FA5}">
                      <a16:colId xmlns:a16="http://schemas.microsoft.com/office/drawing/2014/main" val="1242971648"/>
                    </a:ext>
                  </a:extLst>
                </a:gridCol>
                <a:gridCol w="704555">
                  <a:extLst>
                    <a:ext uri="{9D8B030D-6E8A-4147-A177-3AD203B41FA5}">
                      <a16:colId xmlns:a16="http://schemas.microsoft.com/office/drawing/2014/main" val="1595853958"/>
                    </a:ext>
                  </a:extLst>
                </a:gridCol>
                <a:gridCol w="563645">
                  <a:extLst>
                    <a:ext uri="{9D8B030D-6E8A-4147-A177-3AD203B41FA5}">
                      <a16:colId xmlns:a16="http://schemas.microsoft.com/office/drawing/2014/main" val="1712070996"/>
                    </a:ext>
                  </a:extLst>
                </a:gridCol>
                <a:gridCol w="407076">
                  <a:extLst>
                    <a:ext uri="{9D8B030D-6E8A-4147-A177-3AD203B41FA5}">
                      <a16:colId xmlns:a16="http://schemas.microsoft.com/office/drawing/2014/main" val="1499808624"/>
                    </a:ext>
                  </a:extLst>
                </a:gridCol>
                <a:gridCol w="524503">
                  <a:extLst>
                    <a:ext uri="{9D8B030D-6E8A-4147-A177-3AD203B41FA5}">
                      <a16:colId xmlns:a16="http://schemas.microsoft.com/office/drawing/2014/main" val="3163396120"/>
                    </a:ext>
                  </a:extLst>
                </a:gridCol>
                <a:gridCol w="516674">
                  <a:extLst>
                    <a:ext uri="{9D8B030D-6E8A-4147-A177-3AD203B41FA5}">
                      <a16:colId xmlns:a16="http://schemas.microsoft.com/office/drawing/2014/main" val="1183483546"/>
                    </a:ext>
                  </a:extLst>
                </a:gridCol>
              </a:tblGrid>
              <a:tr h="3758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Oficina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Alquiler mensual 2025 (€)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Alquiler mensual 2026 (€)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Mes de cambio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Variación 2026(€)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Variación anual(€)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Consultor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Coste Empresa Mes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Mes de salida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Variación 2026(€)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Variación anual(€)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468382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ALICANTE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4.038 €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4.139 €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1.012 €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1.214 €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Beatriz Sellés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1.465 €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-16.115 €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-17.580 €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256755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BARCELONA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5.320 €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-32.579 €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-43.439 €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436504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CASTELLÓN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74324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JAÉN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402 €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424243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810733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MÁLAGA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Víctor Barderas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2.180 €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-26.160 €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-26.160 €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244381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MARBELLA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3.373 €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3.373 €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643770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 SEBASTIÁN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5.090 €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5.247 €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1.884 €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1.884 €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228465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SANTANDER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-4.665 €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-7.997 €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Jaime Suárez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1.994 €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-19.940 €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-23.928 €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201899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SEVILLA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1.745 €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591 €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591 €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38311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VALENCIA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-55.200 €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-82.800 €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600" b="0" i="1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Giacomo Rota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2.452 €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-24.520 €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-29.424 €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242825"/>
                  </a:ext>
                </a:extLst>
              </a:tr>
              <a:tr h="125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33.469 €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22.601 €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-88.837 €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-130.426 €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8.091 €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-86.735 €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ES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-97.092 €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249762"/>
                  </a:ext>
                </a:extLst>
              </a:tr>
            </a:tbl>
          </a:graphicData>
        </a:graphic>
      </p:graphicFrame>
      <p:sp>
        <p:nvSpPr>
          <p:cNvPr id="118" name="Rectangle 93">
            <a:extLst>
              <a:ext uri="{FF2B5EF4-FFF2-40B4-BE49-F238E27FC236}">
                <a16:creationId xmlns:a16="http://schemas.microsoft.com/office/drawing/2014/main" id="{EF84BB95-2569-9A42-556F-50AEA361272D}"/>
              </a:ext>
            </a:extLst>
          </p:cNvPr>
          <p:cNvSpPr/>
          <p:nvPr/>
        </p:nvSpPr>
        <p:spPr>
          <a:xfrm>
            <a:off x="237744" y="4005072"/>
            <a:ext cx="8650223" cy="768096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94">
            <a:extLst>
              <a:ext uri="{FF2B5EF4-FFF2-40B4-BE49-F238E27FC236}">
                <a16:creationId xmlns:a16="http://schemas.microsoft.com/office/drawing/2014/main" id="{41F96313-C924-DCD6-7188-6C306766B167}"/>
              </a:ext>
            </a:extLst>
          </p:cNvPr>
          <p:cNvSpPr/>
          <p:nvPr/>
        </p:nvSpPr>
        <p:spPr>
          <a:xfrm>
            <a:off x="241598" y="4005072"/>
            <a:ext cx="54864" cy="7680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95">
            <a:extLst>
              <a:ext uri="{FF2B5EF4-FFF2-40B4-BE49-F238E27FC236}">
                <a16:creationId xmlns:a16="http://schemas.microsoft.com/office/drawing/2014/main" id="{7D4AEBA5-90BC-72ED-1591-16BDD7E0E8DE}"/>
              </a:ext>
            </a:extLst>
          </p:cNvPr>
          <p:cNvSpPr txBox="1"/>
          <p:nvPr/>
        </p:nvSpPr>
        <p:spPr>
          <a:xfrm>
            <a:off x="369614" y="4026746"/>
            <a:ext cx="39502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C9A84C"/>
                </a:solidFill>
                <a:latin typeface="Calibri"/>
              </a:rPr>
              <a:t>💡 CA</a:t>
            </a:r>
            <a:r>
              <a:rPr lang="es-ES" sz="900" b="1" i="0" dirty="0">
                <a:solidFill>
                  <a:srgbClr val="C9A84C"/>
                </a:solidFill>
                <a:latin typeface="Calibri"/>
              </a:rPr>
              <a:t>MBIOS</a:t>
            </a:r>
            <a:endParaRPr sz="900" b="1" i="0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23" name="TextBox 96">
            <a:extLst>
              <a:ext uri="{FF2B5EF4-FFF2-40B4-BE49-F238E27FC236}">
                <a16:creationId xmlns:a16="http://schemas.microsoft.com/office/drawing/2014/main" id="{951DE3AE-8A70-214A-E178-C96FBB9C5100}"/>
              </a:ext>
            </a:extLst>
          </p:cNvPr>
          <p:cNvSpPr txBox="1"/>
          <p:nvPr/>
        </p:nvSpPr>
        <p:spPr>
          <a:xfrm>
            <a:off x="369614" y="4216399"/>
            <a:ext cx="8349908" cy="556769"/>
          </a:xfrm>
          <a:prstGeom prst="rect">
            <a:avLst/>
          </a:prstGeom>
          <a:noFill/>
        </p:spPr>
        <p:txBody>
          <a:bodyPr wrap="none">
            <a:normAutofit lnSpcReduction="10000"/>
          </a:bodyPr>
          <a:lstStyle/>
          <a:p>
            <a:r>
              <a:rPr lang="es-ES" sz="1050" dirty="0">
                <a:solidFill>
                  <a:srgbClr val="FFFFFF"/>
                </a:solidFill>
                <a:latin typeface="Calibri"/>
              </a:rPr>
              <a:t>Hemos realizado cambios estructurales importantes sin que se vea perjudicada nuestra relación con AAFF</a:t>
            </a:r>
          </a:p>
          <a:p>
            <a:r>
              <a:rPr lang="es-ES" sz="1050" dirty="0">
                <a:solidFill>
                  <a:srgbClr val="FFFFFF"/>
                </a:solidFill>
                <a:latin typeface="Calibri"/>
              </a:rPr>
              <a:t>En instalaciones: cierre de Santander (mayo), cambios de ubicaciones realizados en Valencia  y Barcelona</a:t>
            </a:r>
          </a:p>
          <a:p>
            <a:r>
              <a:rPr lang="es-ES" sz="1050" dirty="0">
                <a:solidFill>
                  <a:srgbClr val="FFFFFF"/>
                </a:solidFill>
                <a:latin typeface="Calibri"/>
              </a:rPr>
              <a:t>En Consultores: reducción de equipo en 1 consultor (Málaga, Alicante y Valencia) y cierre de Santander</a:t>
            </a:r>
            <a:endParaRPr sz="105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7239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CONCLUSIONES Y RECOMENDACIONES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· Informe Q1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14983"/>
            <a:ext cx="4251960" cy="1563429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1014983"/>
            <a:ext cx="54864" cy="1563429"/>
          </a:xfrm>
          <a:prstGeom prst="rect">
            <a:avLst/>
          </a:prstGeom>
          <a:solidFill>
            <a:srgbClr val="CA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" y="1078992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A84C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1078992"/>
            <a:ext cx="35753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C9A84C"/>
                </a:solidFill>
                <a:latin typeface="Calibri"/>
              </a:rPr>
              <a:t>RED COMERCIALMENTE SÓLIDA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1517904"/>
            <a:ext cx="4032504" cy="1024128"/>
          </a:xfrm>
          <a:prstGeom prst="rect">
            <a:avLst/>
          </a:prstGeom>
          <a:noFill/>
        </p:spPr>
        <p:txBody>
          <a:bodyPr wrap="none">
            <a:normAutofit lnSpcReduction="10000"/>
          </a:bodyPr>
          <a:lstStyle/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dirty="0">
                <a:solidFill>
                  <a:srgbClr val="FFFFFF"/>
                </a:solidFill>
                <a:latin typeface="Calibri"/>
              </a:rPr>
              <a:t>114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captaciones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y 90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cierres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Q1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demuestran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actividad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consolidada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.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dirty="0">
                <a:solidFill>
                  <a:srgbClr val="FFFFFF"/>
                </a:solidFill>
                <a:latin typeface="Calibri"/>
              </a:rPr>
              <a:t>Con €4,59M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cartera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y €399K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pendientes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cobro</a:t>
            </a:r>
            <a:r>
              <a:rPr sz="110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hay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una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r>
              <a:rPr sz="1100" dirty="0">
                <a:solidFill>
                  <a:srgbClr val="FFFFFF"/>
                </a:solidFill>
                <a:latin typeface="Calibri"/>
              </a:rPr>
              <a:t>base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sólida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.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-Madrid, </a:t>
            </a:r>
            <a:r>
              <a:rPr sz="1100" dirty="0">
                <a:solidFill>
                  <a:srgbClr val="FFFFFF"/>
                </a:solidFill>
                <a:latin typeface="Calibri"/>
              </a:rPr>
              <a:t>Marbella y 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Alicante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son los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pilares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financieros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del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trimestre</a:t>
            </a:r>
            <a:r>
              <a:rPr sz="1100" dirty="0">
                <a:solidFill>
                  <a:srgbClr val="FFFFFF"/>
                </a:solidFill>
                <a:latin typeface="Calibri"/>
              </a:rPr>
              <a:t>.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-Hemos generado por encima del objetivo, por el contrario no hemos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llegado al objetivo de honorarios LAE.</a:t>
            </a:r>
            <a:endParaRPr sz="1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17720" y="1014983"/>
            <a:ext cx="4251960" cy="1563429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17720" y="1014983"/>
            <a:ext cx="54864" cy="1563429"/>
          </a:xfrm>
          <a:prstGeom prst="rect">
            <a:avLst/>
          </a:prstGeom>
          <a:solidFill>
            <a:srgbClr val="CA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45736" y="1078992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A84C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1078992"/>
            <a:ext cx="35753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C9A84C"/>
                </a:solidFill>
                <a:latin typeface="Calibri"/>
              </a:rPr>
              <a:t>CANAL AAFF: DIFERENCIADOR ESTRATÉGICO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5736" y="1517903"/>
            <a:ext cx="4032504" cy="1024129"/>
          </a:xfrm>
          <a:prstGeom prst="rect">
            <a:avLst/>
          </a:prstGeom>
          <a:noFill/>
        </p:spPr>
        <p:txBody>
          <a:bodyPr wrap="none">
            <a:normAutofit lnSpcReduction="10000"/>
          </a:bodyPr>
          <a:lstStyle/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dirty="0">
                <a:solidFill>
                  <a:srgbClr val="FFFFFF"/>
                </a:solidFill>
                <a:latin typeface="Calibri"/>
              </a:rPr>
              <a:t>28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captaciones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vía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AAFF (24,6%) con €544K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honorarios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p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otenciales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validan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el m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odelo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, aunque no todas las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oficinas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utilizan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r>
              <a:rPr sz="110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canal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activamente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, estamos trabajando en mejorar y potencia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r</a:t>
            </a:r>
            <a:endParaRPr lang="es-ES" sz="1100" dirty="0">
              <a:solidFill>
                <a:srgbClr val="FFFFFF"/>
              </a:solidFill>
              <a:latin typeface="Calibri"/>
            </a:endParaRPr>
          </a:p>
          <a:p>
            <a:r>
              <a:rPr sz="110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modelo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cada una de ellas.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-Creciendo en capilaridad, la inversión realizada en oficinas de AAFF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a pie </a:t>
            </a:r>
            <a:r>
              <a:rPr lang="es-ES" sz="1100" dirty="0" err="1">
                <a:solidFill>
                  <a:srgbClr val="FFFFFF"/>
                </a:solidFill>
                <a:latin typeface="Calibri"/>
              </a:rPr>
              <a:t>decalle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 empieza a darnos mayor visibilidad de marca.</a:t>
            </a:r>
            <a:endParaRPr sz="1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2779775"/>
            <a:ext cx="4251960" cy="1563429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2779775"/>
            <a:ext cx="54864" cy="1563429"/>
          </a:xfrm>
          <a:prstGeom prst="rect">
            <a:avLst/>
          </a:prstGeom>
          <a:solidFill>
            <a:srgbClr val="CA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" y="2843784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CAA84C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2843784"/>
            <a:ext cx="35753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1" i="0" dirty="0">
                <a:solidFill>
                  <a:srgbClr val="C9A84C"/>
                </a:solidFill>
                <a:latin typeface="Calibri"/>
              </a:rPr>
              <a:t>INTERVENCIONES CLAVE</a:t>
            </a:r>
            <a:r>
              <a:rPr sz="1000" b="1" i="0" dirty="0">
                <a:solidFill>
                  <a:srgbClr val="C9A84C"/>
                </a:solidFill>
                <a:latin typeface="Calibri"/>
              </a:rPr>
              <a:t>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3154679"/>
            <a:ext cx="4032504" cy="1016541"/>
          </a:xfrm>
          <a:prstGeom prst="rect">
            <a:avLst/>
          </a:prstGeom>
          <a:noFill/>
        </p:spPr>
        <p:txBody>
          <a:bodyPr wrap="none">
            <a:normAutofit lnSpcReduction="10000"/>
          </a:bodyPr>
          <a:lstStyle/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-Cierre de la oficina de Santander y salida de Jaime Suárez.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-Cambio de oficina en Valencia y Barcelona.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-En Valencia, salida de Giacomo y tomando la dirección.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-Cerrando actividad con Mediterráneo y salida de Beatriz </a:t>
            </a:r>
            <a:r>
              <a:rPr lang="es-ES" sz="1100" dirty="0" err="1">
                <a:solidFill>
                  <a:srgbClr val="FFFFFF"/>
                </a:solidFill>
                <a:latin typeface="Calibri"/>
              </a:rPr>
              <a:t>Sellés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-Apertura de </a:t>
            </a:r>
            <a:r>
              <a:rPr lang="es-ES" sz="1100" dirty="0" err="1">
                <a:solidFill>
                  <a:srgbClr val="FFFFFF"/>
                </a:solidFill>
                <a:latin typeface="Calibri"/>
              </a:rPr>
              <a:t>Sotogrande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 (abrimos zona Algeciras-Estepona)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incorporamos a Vanessa.</a:t>
            </a:r>
            <a:endParaRPr sz="1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17720" y="2779775"/>
            <a:ext cx="4251960" cy="1563429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2779775"/>
            <a:ext cx="54864" cy="156342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45736" y="2843784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CAA84C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936" y="2843784"/>
            <a:ext cx="35753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C9A84C"/>
                </a:solidFill>
                <a:latin typeface="Calibri"/>
              </a:rPr>
              <a:t>OPORTUNIDADES: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5736" y="3108960"/>
            <a:ext cx="4032504" cy="10622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dirty="0">
                <a:solidFill>
                  <a:srgbClr val="FFFFFF"/>
                </a:solidFill>
                <a:latin typeface="Calibri"/>
              </a:rPr>
              <a:t>Barcelona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tiene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€1,99M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cartera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con solo 3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cierres</a:t>
            </a:r>
            <a:r>
              <a:rPr lang="es-ES" sz="1100" dirty="0">
                <a:solidFill>
                  <a:srgbClr val="FFFFFF"/>
                </a:solidFill>
                <a:latin typeface="Calibri"/>
              </a:rPr>
              <a:t>, trabajando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en el cierre de dos suelos importantes.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-Además arrancamos Q2 con cerca de 400K pendientes de cobro.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-En marcha un nuevo plan operativo por oficina basado en las buenas</a:t>
            </a:r>
          </a:p>
          <a:p>
            <a:r>
              <a:rPr lang="es-ES" sz="1100" dirty="0">
                <a:solidFill>
                  <a:srgbClr val="FFFFFF"/>
                </a:solidFill>
                <a:latin typeface="Calibri"/>
              </a:rPr>
              <a:t>captaciones de viviendas en exclusiva.</a:t>
            </a:r>
          </a:p>
          <a:p>
            <a:endParaRPr sz="1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53B56824-DB26-0F5B-C638-D0192E2E95B4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42" name="Imagen 41" descr="Texto&#10;&#10;Descripción generada automáticamente">
            <a:extLst>
              <a:ext uri="{FF2B5EF4-FFF2-40B4-BE49-F238E27FC236}">
                <a16:creationId xmlns:a16="http://schemas.microsoft.com/office/drawing/2014/main" id="{544A83D2-D19F-3E51-24BA-D4996E55F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614C-6066-CF7D-7B9A-B711F723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81B980-5E44-1D57-84D8-016218C9AB41}"/>
              </a:ext>
            </a:extLst>
          </p:cNvPr>
          <p:cNvSpPr/>
          <p:nvPr/>
        </p:nvSpPr>
        <p:spPr>
          <a:xfrm>
            <a:off x="0" y="246888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77D6DC-B3E4-CB2F-03EC-068E51D7794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BD2023-3A67-CEA6-8717-FB034BE05610}"/>
              </a:ext>
            </a:extLst>
          </p:cNvPr>
          <p:cNvSpPr/>
          <p:nvPr/>
        </p:nvSpPr>
        <p:spPr>
          <a:xfrm>
            <a:off x="0" y="73152"/>
            <a:ext cx="9144000" cy="5486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4743A-B632-0E90-854B-5DF99EB0EBF3}"/>
              </a:ext>
            </a:extLst>
          </p:cNvPr>
          <p:cNvSpPr txBox="1"/>
          <p:nvPr/>
        </p:nvSpPr>
        <p:spPr>
          <a:xfrm>
            <a:off x="256032" y="2468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CONCLUSIONES Y RECOMENDACIONES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BB312C-639F-7259-5408-03FC63939E10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83D2A2-435A-D2C2-F1A8-92DF4CF76460}"/>
              </a:ext>
            </a:extLst>
          </p:cNvPr>
          <p:cNvSpPr txBox="1"/>
          <p:nvPr/>
        </p:nvSpPr>
        <p:spPr>
          <a:xfrm>
            <a:off x="256032" y="4882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8896B3"/>
                </a:solidFill>
                <a:latin typeface="Calibri"/>
              </a:rPr>
              <a:t>LAE HOMES Premium Agency · Informe Q1 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DA61E-7B11-0602-87DD-7BC1352BA486}"/>
              </a:ext>
            </a:extLst>
          </p:cNvPr>
          <p:cNvSpPr txBox="1"/>
          <p:nvPr/>
        </p:nvSpPr>
        <p:spPr>
          <a:xfrm>
            <a:off x="7498079" y="4882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9A84C"/>
                </a:solidFill>
                <a:latin typeface="Calibri"/>
              </a:rPr>
              <a:t>www.laehomes.com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D75D9E-9602-A9E2-5646-1F654562FCBB}"/>
              </a:ext>
            </a:extLst>
          </p:cNvPr>
          <p:cNvSpPr/>
          <p:nvPr/>
        </p:nvSpPr>
        <p:spPr>
          <a:xfrm>
            <a:off x="274320" y="1865376"/>
            <a:ext cx="859536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0A0D1-DE12-742F-50ED-AF3C7D4201A4}"/>
              </a:ext>
            </a:extLst>
          </p:cNvPr>
          <p:cNvSpPr txBox="1"/>
          <p:nvPr/>
        </p:nvSpPr>
        <p:spPr>
          <a:xfrm>
            <a:off x="274320" y="1627632"/>
            <a:ext cx="85953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C2B4A"/>
                </a:solidFill>
                <a:latin typeface="Calibri"/>
              </a:rPr>
              <a:t>PROPUESTA PLAN DE ACCIÓN Q2 2026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C13F35-928C-6249-C75C-642B11F5F7A4}"/>
              </a:ext>
            </a:extLst>
          </p:cNvPr>
          <p:cNvSpPr txBox="1"/>
          <p:nvPr/>
        </p:nvSpPr>
        <p:spPr>
          <a:xfrm>
            <a:off x="329184" y="2386584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①  </a:t>
            </a:r>
            <a:r>
              <a:rPr lang="es-ES" sz="1100" b="0" i="0" dirty="0">
                <a:solidFill>
                  <a:srgbClr val="1A1A2E"/>
                </a:solidFill>
                <a:latin typeface="Calibri"/>
              </a:rPr>
              <a:t>Seguir activando 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canal AAF</a:t>
            </a:r>
            <a:r>
              <a:rPr lang="es-ES" sz="1100" b="0" i="0" dirty="0">
                <a:solidFill>
                  <a:srgbClr val="1A1A2E"/>
                </a:solidFill>
                <a:latin typeface="Calibri"/>
              </a:rPr>
              <a:t>F al 50%, potenciar las oficinas que están funcionando y activar el resto.</a:t>
            </a:r>
            <a:endParaRPr sz="11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5FA03E-889F-7DC5-F49E-FDCC161E2EEA}"/>
              </a:ext>
            </a:extLst>
          </p:cNvPr>
          <p:cNvSpPr txBox="1"/>
          <p:nvPr/>
        </p:nvSpPr>
        <p:spPr>
          <a:xfrm>
            <a:off x="329184" y="270343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②  </a:t>
            </a:r>
            <a:r>
              <a:rPr lang="es-ES" sz="1100" b="0" i="0" dirty="0">
                <a:solidFill>
                  <a:srgbClr val="1A1A2E"/>
                </a:solidFill>
                <a:latin typeface="Calibri"/>
              </a:rPr>
              <a:t>Propuesta para cobrar en todas las oficinas el 50% de honorarios a la firma de arras y así mejorar nuestra tesorería.</a:t>
            </a:r>
            <a:endParaRPr sz="11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D20BCF-6D58-F511-D2E6-EB870E903BA9}"/>
              </a:ext>
            </a:extLst>
          </p:cNvPr>
          <p:cNvSpPr txBox="1"/>
          <p:nvPr/>
        </p:nvSpPr>
        <p:spPr>
          <a:xfrm>
            <a:off x="329184" y="301319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③ 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Gestión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activa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de €399K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pendientes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prioridad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San Sebastián (€167K) y Valencia (€69K)</a:t>
            </a:r>
            <a:r>
              <a:rPr lang="es-ES" sz="1100" b="0" i="0" dirty="0">
                <a:solidFill>
                  <a:srgbClr val="1A1A2E"/>
                </a:solidFill>
                <a:latin typeface="Calibri"/>
              </a:rPr>
              <a:t>.</a:t>
            </a:r>
            <a:endParaRPr sz="11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2953A5-B973-D6E9-B638-7943E4727E83}"/>
              </a:ext>
            </a:extLst>
          </p:cNvPr>
          <p:cNvSpPr txBox="1"/>
          <p:nvPr/>
        </p:nvSpPr>
        <p:spPr>
          <a:xfrm>
            <a:off x="329184" y="332295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④  </a:t>
            </a:r>
            <a:r>
              <a:rPr lang="es-ES" sz="1100" dirty="0">
                <a:solidFill>
                  <a:srgbClr val="1A1A2E"/>
                </a:solidFill>
                <a:latin typeface="Calibri"/>
              </a:rPr>
              <a:t>Seguir reajustando el equipo comercial, prescindir o cambiar componentes donde necesitemos.</a:t>
            </a:r>
            <a:endParaRPr sz="11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54F2F7D7-E3BB-17D8-E7E3-C6171C05ED8D}"/>
              </a:ext>
            </a:extLst>
          </p:cNvPr>
          <p:cNvSpPr txBox="1"/>
          <p:nvPr/>
        </p:nvSpPr>
        <p:spPr>
          <a:xfrm>
            <a:off x="7694675" y="29780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C9A84C"/>
                </a:solidFill>
                <a:latin typeface="Calibri"/>
              </a:rPr>
              <a:t>Q1 · 2026</a:t>
            </a:r>
          </a:p>
        </p:txBody>
      </p:sp>
      <p:pic>
        <p:nvPicPr>
          <p:cNvPr id="42" name="Imagen 41" descr="Texto&#10;&#10;Descripción generada automáticamente">
            <a:extLst>
              <a:ext uri="{FF2B5EF4-FFF2-40B4-BE49-F238E27FC236}">
                <a16:creationId xmlns:a16="http://schemas.microsoft.com/office/drawing/2014/main" id="{A4E742BD-0405-BC2B-0B43-E2F20F20B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56" y="125413"/>
            <a:ext cx="1280160" cy="46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27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C79BD93-DE8D-9F40-9167-5EEDF6A70853}">
  <we:reference id="wa200005566" version="3.0.0.4" store="es-ES" storeType="OMEX"/>
  <we:alternateReferences>
    <we:reference id="WA200005566" version="3.0.0.4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CBE3718-EF4C-0B48-AE1F-04F459EB8308}">
  <we:reference id="wa200010001" version="1.0.0.0" store="es-ES" storeType="OMEX"/>
  <we:alternateReferences>
    <we:reference id="WA200010001" version="1.0.0.0" store="" storeType="OMEX"/>
  </we:alternateReferences>
  <we:properties>
    <we:property name="claude.fileId" value="&quot;aeacee24-dc50-4d4a-aa2c-62ef9a4aacf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12195</TotalTime>
  <Words>2864</Words>
  <Application>Microsoft Office PowerPoint</Application>
  <PresentationFormat>Presentación en pantalla (16:9)</PresentationFormat>
  <Paragraphs>1124</Paragraphs>
  <Slides>20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Aptos</vt:lpstr>
      <vt:lpstr>Aptos Narrow</vt:lpstr>
      <vt:lpstr>Arial</vt:lpstr>
      <vt:lpstr>Calibri</vt:lpstr>
      <vt:lpstr>Georgia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Rodrigo Güelfo Antona</cp:lastModifiedBy>
  <cp:revision>9</cp:revision>
  <dcterms:created xsi:type="dcterms:W3CDTF">2013-01-27T09:14:16Z</dcterms:created>
  <dcterms:modified xsi:type="dcterms:W3CDTF">2026-05-12T10:36:02Z</dcterms:modified>
  <cp:category/>
</cp:coreProperties>
</file>